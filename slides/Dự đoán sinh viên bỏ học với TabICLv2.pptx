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Hôm nay nhóm trình bày bài tập tuần 5. Câu chuyện đi từ một trò chơi quen thuộc: dò mìn. Nhà trường muốn biết sớm em nào có nguy cơ bỏ học, giống như người chơi muốn biết ô nào có mìn trước khi nhấn. Nhóm sẽ đi từ câu hỏi đó, và ở mỗi bước chỉ ra vì sao mảnh toán đó phải xuất hiện, chứ không đưa công thức ra trước. Mô hình chính là TabICLv2; để hiểu nó, nhóm dùng thêm Hồi quy Logistic làm mô hình đối chứng. (Nhớ điền tên nhóm ở dòng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đi qua tám bước, và mỗi bước trả lời đúng một câu hỏi. Ba bước đầu là chuyện của dữ liệu và biểu diễn: ai là mìn, biến sinh viên thành số, đo mức phạt khi đoán sai. Bước bốn là cách máy tự sửa mình. Bước năm và sáu là kiểm tra xem mô hình có dùng được không. Bước bảy là TabICLv2, mô hình mà đề tài nghiên cứu. Bước tám là kết luận và những hạn chế. Nếu thầy muốn hỏi sâu, nhóm sẵn sàng dừng ở bất kỳ bước nào. Mẹo: bốn câu hỏi của đề về mô hình hóa, toán nào quyết định, tham số học thế nào và giải thích kết quả sẽ được trả lời xuyên suốt tám bước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1. Vì sao cần: muốn có bài toán thì phải nói rõ thế nào là thành công, thế nào là thất bại. Trong dò mìn: nhấn ô an toàn là đạt, trúng mìn là thua. Sang sinh viên: tốt nghiệp là ô an toàn (y bằng 0), bỏ học là mìn (y bằng 1). Có 794 em còn đang học: chưa ai biết kết cục, giống ô chưa lật, nên nhóm loại ra để mô hình khỏi học từ nhãn chưa có kết luận. Đầu ra của mô hình là một xác suất, để nhà trường tự chọn mức báo động. Thầy có thể hỏi: vì sao loại nhóm đang học? Trả lời: vì họ chưa có kết cục.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thật, nguồn rõ: UCI, của nhóm tác giả Realinho ở Bồ Đào Nha, 4.424 sinh viên, 36 cột, không thiếu giá trị. Bỏ nhóm đang học còn 3.630 em, trong đó 39,1% đã bỏ học. Điểm cần nhấn: dữ liệu hơi lệch nhưng chưa nặng. Nếu mô hình lười, cứ đoán 'ai cũng an toàn' thì vẫn đúng khoảng 61%, mà không bắt được quả mìn nào. Vì vậy ta không chỉ nhìn tỉ lệ đúng chung (Accuracy), mà sẽ nhìn khả năng bắt được các em bỏ học (Recall). Thầy có thể hỏi: mất cân bằng 39/61 có sao không? Trả lời: chưa nặng, nhưng phải chọn độ đo cho phù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dặn: chỉ cần số liệu cần thiết cho thuật toán. Nhóm giữ tám chỉ số, chia ba nhóm: tiền bạc (đóng học phí, nợ, học bổng), học lực (số môn qua và điểm hai học kỳ), hoàn cảnh (tuổi lúc nhập học). Các cột còn lại như nghề nghiệp bố mẹ, GDP, lạm phát để ngoài, không phải vì chắc chắn vô ích mà vì câu hỏi gốc không cần chúng mới trả lời được. Đề cho phép nêu lý do không dùng một biến, và đó là lý do của nhóm. Thầy có thể hỏi: sao không dùng hết 35 cột? Trả lời: nhóm có thử ở cấu hình C để so sánh, nhưng cấu hình chính chọn tám cột cho dễ hiểu và dễ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dữ liệu tự nói. Em chưa đóng đủ học phí: 94% bỏ học, so với 31% ở nhóm đã đóng đủ. Đang nợ: 76% so với 34%. Có học bổng: chỉ 14% bỏ học, so với 48% nếu không có. Nghĩa là tiền bạc là tín hiệu rõ nhất. Nhưng phải cẩn thận lời nói: đây là tương quan, không phải nhân quả. Nợ học phí đi cùng bỏ học, chứ nhóm không khẳng định nợ gây ra bỏ học. Cũng lưu ý: điểm học kỳ 2 bằng 0 thường là em đã nghỉ (91% trong nhóm đó đã bỏ học), nên dữ liệu học kỳ 2 phần nào chứa sẵn đáp án. Điều này sẽ quay lại ở bước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Vì sao cần: máy không hiểu câu 'em An hay nghỉ học', nó chỉ hiểu số. Nên mỗi sinh viên là một vector gồm 8 số, cả lớp xếp thành ma trận 3.630 hàng nhân 8 cột. Chỉ số không nặng nhẹ như nhau nên ta nhân mỗi chỉ số với một trọng số rồi cộng lại thành 'mức nguy hiểm' z: đó là tích vô hướng. Trọng số lớn nghĩa là chỉ số đó nặng ký, dấu cho biết đẩy nguy cơ lên hay xuống. Trước đó phải chuẩn hóa từng cột để tuổi (17 đến 70) không lấn át cột chỉ có 0 và 1. Thầy có thể hỏi: vì sao chuẩn hóa? Trả lời: cùng thang đo, và quan trọng hơn là giúp Gradient Descent chạy ổn (sẽ có số liệu ở bước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3. Vì sao cần: z có thể là âm 5 hay 37, nhưng giáo viên muốn nghe 'em này 80% khả năng bỏ học'. Sigmoid nén z thành xác suất từ 0 đến 1. Rồi cần một thước đo mô hình sai đến đâu: cross-entropy. Cứ nghĩ tới dò mìn: nếu khẳng định 'ô này an toàn 99%' mà thật ra có mìn thì phải bị phạt rất nặng. Bảng cho thấy: đoán 0,99 mà sai bị phạt 4,6; đoán đúng chỉ bị phạt 0,01, chênh hơn 400 lần. Lý do sâu hơn: cực tiểu hóa cross-entropy chính là làm cho dữ liệu thật có khả năng xảy ra cao nhất (ước lượng hợp lý cực đại). Thầy có thể hỏi: sao không dùng bình phương sai số? Trả lời: cross-entropy sinh ra từ xác suất, phạt nặng sự tự tin sai, và cho gradient rất gọn.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4. Vì sao cần: có mức phạt rồi, phải biết chỉnh trọng số theo hướng nào cho mức phạt giảm. Hình dung đứng trên sườn đồi trong sương mù, chỉ cảm nhận được độ dốc dưới chân. Đạo hàm cho biết tăng nhẹ một trọng số thì mức phạt tăng hay giảm. Gradient gom mọi hướng lại thành một la bàn chỉ chiều dốc lên; ta đi ngược lại một đoạn η rồi lặp. Nhờ quy tắc dây chuyền, gradient rất gọn: trung bình của (sai số dự đoán) nhân (giá trị chỉ số). η nhỏ quá thì đi mãi, lớn quá thì nhảy qua đáy. Hàm này lồi nên chỉ có một đáy. Nhóm đã cài tự viết và so với thư viện sklearn: khớp đến khoảng 0,0005.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thí nghiệm tối ưu theo yêu cầu của đề: đổi một yếu tố của quá trình tối ưu. Nhóm thử bốn tốc độ học, có và không chuẩn hóa. Có chuẩn hóa: η bằng 1 chỉ cần 145 vòng tới gần đáy. Không chuẩn hóa: η bằng 0,1 dao động, η bằng 1 phân kỳ. Giải thích bằng toán: số điều kiện 67 so với 30.622, nên tốc độ học an toàn tối đa khoảng 2,17 so với 0,009. Tức là lý thuyết và thực nghiệm khớp nhau. Nói thẳng: thí nghiệm này làm trên Hồi quy Logistic, vì TabICLv2 không huấn luyện lại trên dữ liệu của mình. Thầy có thể hỏi: quá lớn thì sao? Trả lời: nhảy qua đáy rồi càng nhảy càng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7, phần mở đầu. Có hai cách học khác nhau. Cách thường (Hồi quy Logistic): đưa dữ liệu của mình vào, máy chỉnh trọng số nhiều vòng. Cách của TabICLv2: nó đã học xong từ trước, một lần duy nhất, trên rất nhiều bảng dữ liệu giả lập. Khi dùng, ta đưa danh sách các em đã biết kết cục làm 'ngữ cảnh' và em cần đoán; nó trả lời ngay trong một lượt tính, không đổi trọng số. Giống một thầy giáo đã dạy hàng chục nghìn lớp, chỉ cần nhìn hồ sơ vài em cũ là đoán được em mới. Cốt lõi là attention: một, so sánh em mới với từng em cũ để ra điểm giống nhau; hai, softmax đổi điểm thành trọng số cộng lại bằng 1; ba, bỏ phiếu có trọng số. Ví dụ số: điểm 2, 1, 0, 0 cho trọng số 0,61 – 0,22 – 0,08 – 0,08; hai em đầu bỏ học thì xác suất là 0,83. Trong mô hình thật, mỗi em có ba vector Q, K, V sinh từ ma trận học được; điểm giống nhau là tích vô hướng Q·K.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TabICLv2 (Qu, Holzmüller, Varoquaux, Le Morvan, ICML 2026) có ba tầng nối nhau, theo bài gốc. Tầng 1: nhìn từng cột, mỗi chỉ số thành một vector. Tầng 2: nhìn từng hàng, gộp các chỉ số của một em thành một vector đại diện. Tầng 3: nhìn cả bảng, em cần đoán chú ý vào các em đã biết kết cục rồi bỏ phiếu có trọng số. Việc học diễn ra một lần trên dữ liệu giả lập, mục tiêu là cross-entropy, với bộ tối ưu Muon (một phương pháp cập nhật gradient khác AdamW, chỉ dùng lúc huấn luyện trước). Nói thẳng: nhóm chưa chạy được TabICLv2, vì trọng số tải từ HuggingFace bị chặn ở môi trường làm bài. Phần mô tả này tóm tắt từ bài gốc và cần đối chiếu. Thầy có thể hỏi: sao không chỉnh Muon trong thí nghiệm? Trả lời: vì TabICLv2 không huấn luyện lại trên dữ liệu sinh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tính tay, dữ liệu thật của nhóm. Em cần đoán qua 1 môn ở cả hai học kỳ, so với bốn em đã biết kết cục. Hai em giống nhất là em (0;0) và em (2;1), cả hai đều bỏ học, nên nhận gần hết trọng số: 0,42 và 0,44. Cộng lại P(bỏ học) khoảng 0,87 (tính chưa làm tròn là 0,866). Kết cục thật là bỏ học, nên đoán đúng. Nhấn mạnh hai điều: đây là bản đơn giản hóa để thấy cơ chế, không có trọng số học được, không phải TabICLv2; và không dùng nó để suy ra chất lượng của TabICLv2. Thầy có thể hỏi: Q, K, V là gì? Trả lời: truy vấn, khóa, giá trị, sinh từ mỗi em bằng ba ma trận học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5 và 6. Đầu tiên, nhóm chia dữ liệu 80/20 có phân tầng, seed 42, để có tập kiểm tra 726 em chưa từng thấy. Điểm trên hai tập gần nhau nên không thấy dấu hiệu học vẹt. Sai số của Accuracy khoảng cộng trừ 2,2 điểm, nên hai cấu hình chênh dưới 2 điểm thì chưa kết luận được. Bảng: chỉ dùng thông tin lúc nhập học (A) thì Recall chỉ 58%, gần một nửa số em bỏ học bị bỏ sót. Thêm học kỳ 1 (B1) lên 80,6%. Thêm học kỳ 2 (B) 85,6%, đủ 35 cột (C) 92,3%. Cẩn thận: điểm 0 ở học kỳ 2 phần nào đã là dấu hiệu em nghỉ, nên cảnh báo sớm thật sự dựa vào B1. Thầy có thể hỏi: vì sao Recall quan trọng hơn Accuracy? Trả lời: bỏ sót một em thì mất một sinh viên, đắt hơn báo nhầm.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Ngưỡng báo động không bắt buộc là 0,5. Ở 0,5: bỏ sót 41 em, báo nhầm 32 em. Hạ xuống 0,3: bắt được 91,5% em bỏ học, bỏ sót chỉ 24 em, nhưng báo nhầm tăng lên 71 em. Báo nhầm chỉ tốn một buổi gặp mặt; bỏ sót là mất một sinh viên. Vậy nên chọn ngưỡng là quyết định của nhà trường, không phải của thuật toán. AUC không đổi (0,940) khi đổi ngưỡng vì thứ hạng xác suất không đổi. Đây là lý do cross-entropy quan trọng: mô hình cho xác suất đáng tin thì mới chọn ngưỡng có ý nghĩa. Thầy có thể hỏi: AUC khác Accuracy chỗ nào? Trả lời: AUC đánh giá cách xếp hạng nguy cơ, không phụ thuộc ngưỡng.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8. Trả lời bốn câu hỏi của đề. Một, mô hình hóa: phân loại nhị phân, mỗi sinh viên là vector 8 chiều, đầu ra là xác suất bỏ học. Hai, toán quyết định cách hoạt động: đại số tuyến tính để biểu diễn, giải tích để đo sai và chỉ hướng sửa, tối ưu để tìm tham số, xác suất thống kê để biết có tin được trên dữ liệu mới. Ba, tham số được học bằng cực tiểu hóa cross-entropy với Gradient Descent (mô hình đối chứng), còn TabICLv2 học trước một lần bằng Muon. Bốn, kết quả giải thích bằng số điều kiện và ngưỡng. Nói thẳng hạn chế: TabICLv2 chưa chạy được; điểm học kỳ 2 chứa sẵn đáp án; hai cột môn qua tương quan 0,92; một lần chia dữ liệu. Kết thúc bằng dò mìn: đoán đúng hay sai chưa đáng giá bằng việc biết cái giá của từng kiểu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7" y="1145400"/>
            <a:ext cx="10566446" cy="438150"/>
          </a:xfrm>
          <a:prstGeom prst="rect">
            <a:avLst/>
          </a:prstGeom>
          <a:noFill/>
          <a:ln/>
        </p:spPr>
        <p:txBody>
          <a:bodyPr wrap="square" lIns="0" tIns="0" rIns="0" bIns="0" rtlCol="0" anchor="t"/>
          <a:lstStyle>
            <a:lvl1pPr algn="l" indent="0" marL="0">
              <a:lnSpc>
                <a:spcPct val="115000"/>
              </a:lnSpc>
              <a:buNone/>
              <a:defRPr lang="en-US" sz="3000" dirty="0">
                <a:solidFill>
                  <a:srgbClr val="17243A"/>
                </a:solidFill>
                <a:latin typeface="Lora" pitchFamily="34" charset="0"/>
                <a:ea typeface="Lora" pitchFamily="34" charset="-122"/>
                <a:cs typeface="Lor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77" y="1888350"/>
            <a:ext cx="10566423" cy="4156850"/>
          </a:xfrm>
          <a:prstGeom prst="rect">
            <a:avLst/>
          </a:prstGeom>
          <a:noFill/>
          <a:ln/>
        </p:spPr>
        <p:txBody>
          <a:bodyPr wrap="square" lIns="0" tIns="0" rIns="0" bIns="0" rtlCol="0" anchor="t"/>
          <a:lstStyle>
            <a:lvl1pPr algn="l" indent="0" marL="0">
              <a:lnSpc>
                <a:spcPct val="140000"/>
              </a:lnSpc>
              <a:buNone/>
              <a:defRPr lang="en-US" sz="1600" dirty="0">
                <a:solidFill>
                  <a:srgbClr val="17243A"/>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7" y="1145400"/>
            <a:ext cx="10566446" cy="438150"/>
          </a:xfrm>
          <a:prstGeom prst="rect">
            <a:avLst/>
          </a:prstGeom>
          <a:noFill/>
          <a:ln/>
        </p:spPr>
        <p:txBody>
          <a:bodyPr wrap="square" lIns="0" tIns="0" rIns="0" bIns="0" rtlCol="0" anchor="t"/>
          <a:lstStyle>
            <a:lvl1pPr algn="l" indent="0" marL="0">
              <a:lnSpc>
                <a:spcPct val="115000"/>
              </a:lnSpc>
              <a:buNone/>
              <a:defRPr lang="en-US" sz="3000" dirty="0">
                <a:solidFill>
                  <a:srgbClr val="17243A"/>
                </a:solidFill>
                <a:latin typeface="Lora" pitchFamily="34" charset="0"/>
                <a:ea typeface="Lora" pitchFamily="34" charset="-122"/>
                <a:cs typeface="Lor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77" y="1888350"/>
            <a:ext cx="10566423" cy="4156850"/>
          </a:xfrm>
          <a:prstGeom prst="rect">
            <a:avLst/>
          </a:prstGeom>
          <a:noFill/>
          <a:ln/>
        </p:spPr>
        <p:txBody>
          <a:bodyPr wrap="square" lIns="0" tIns="0" rIns="0" bIns="0" rtlCol="0" anchor="t"/>
          <a:lstStyle>
            <a:lvl1pPr algn="l" indent="0" marL="0">
              <a:lnSpc>
                <a:spcPct val="140000"/>
              </a:lnSpc>
              <a:buNone/>
              <a:defRPr lang="en-US" sz="1600" dirty="0">
                <a:solidFill>
                  <a:srgbClr val="17243A"/>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43A"/>
        </a:solidFill>
      </p:bgPr>
    </p:bg>
    <p:spTree>
      <p:nvGrpSpPr>
        <p:cNvPr id="1" name=""/>
        <p:cNvGrpSpPr/>
        <p:nvPr/>
      </p:nvGrpSpPr>
      <p:grpSpPr>
        <a:xfrm>
          <a:off x="0" y="0"/>
          <a:ext cx="0" cy="0"/>
          <a:chOff x="0" y="0"/>
          <a:chExt cx="0" cy="0"/>
        </a:xfrm>
      </p:grpSpPr>
      <p:sp>
        <p:nvSpPr>
          <p:cNvPr id="2" name="Text 0"/>
          <p:cNvSpPr/>
          <p:nvPr/>
        </p:nvSpPr>
        <p:spPr>
          <a:xfrm>
            <a:off x="812777" y="1793373"/>
            <a:ext cx="10883439" cy="292100"/>
          </a:xfrm>
          <a:prstGeom prst="rect">
            <a:avLst/>
          </a:prstGeom>
          <a:noFill/>
          <a:ln/>
        </p:spPr>
        <p:txBody>
          <a:bodyPr wrap="square" lIns="0" tIns="0" rIns="0" bIns="0" rtlCol="0" anchor="t">
            <a:normAutofit/>
          </a:bodyPr>
          <a:lstStyle/>
          <a:p>
            <a:pPr algn="l" indent="0" marL="0">
              <a:lnSpc>
                <a:spcPts val="2100"/>
              </a:lnSpc>
              <a:buNone/>
            </a:pPr>
            <a:r>
              <a:rPr lang="en-US" sz="1500" b="1" spc="200" kern="0" dirty="0">
                <a:solidFill>
                  <a:srgbClr val="F2C078"/>
                </a:solidFill>
                <a:latin typeface="Be Vietnam Pro" pitchFamily="34" charset="0"/>
                <a:ea typeface="Be Vietnam Pro" pitchFamily="34" charset="-122"/>
                <a:cs typeface="Be Vietnam Pro" pitchFamily="34" charset="-120"/>
              </a:rPr>
              <a:t>CƠ SỞ TOÁN HỌC CHO TRÍ TUỆ NHÂN TẠO</a:t>
            </a:r>
            <a:endParaRPr lang="en-US" sz="1500" dirty="0"/>
          </a:p>
        </p:txBody>
      </p:sp>
      <p:sp>
        <p:nvSpPr>
          <p:cNvPr id="3" name="Text 1"/>
          <p:cNvSpPr/>
          <p:nvPr>
            <p:ph type="title"/>
          </p:nvPr>
        </p:nvSpPr>
        <p:spPr>
          <a:xfrm>
            <a:off x="812777" y="2314027"/>
            <a:ext cx="10883439" cy="1478134"/>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6F3EC"/>
                </a:solidFill>
                <a:latin typeface="Lora" pitchFamily="18" charset="0"/>
                <a:ea typeface="Lora" pitchFamily="18" charset="-122"/>
                <a:cs typeface="Lora" pitchFamily="18" charset="-120"/>
              </a:rPr>
              <a:t>Đoán trước ô nào có mìn: dự đoán nguy cơ sinh viên bỏ học</a:t>
            </a:r>
            <a:endParaRPr lang="en-US" sz="5200" dirty="0"/>
          </a:p>
        </p:txBody>
      </p:sp>
      <p:sp>
        <p:nvSpPr>
          <p:cNvPr id="4" name="Text 2"/>
          <p:cNvSpPr/>
          <p:nvPr/>
        </p:nvSpPr>
        <p:spPr>
          <a:xfrm>
            <a:off x="812777" y="4020715"/>
            <a:ext cx="10883439" cy="36316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C9D2DE"/>
                </a:solidFill>
                <a:latin typeface="Be Vietnam Pro" pitchFamily="34" charset="0"/>
                <a:ea typeface="Be Vietnam Pro" pitchFamily="34" charset="-122"/>
                <a:cs typeface="Be Vietnam Pro" pitchFamily="34" charset="-120"/>
              </a:rPr>
              <a:t>Toán học đứng sau mô hình TabICLv2, tính từ bài toán gốc</a:t>
            </a:r>
            <a:endParaRPr lang="en-US" sz="1900" dirty="0"/>
          </a:p>
        </p:txBody>
      </p:sp>
      <p:pic>
        <p:nvPicPr>
          <p:cNvPr id="5" name="Image 0" descr="rect">    </p:cNvPr>
          <p:cNvPicPr>
            <a:picLocks noChangeAspect="1"/>
          </p:cNvPicPr>
          <p:nvPr/>
        </p:nvPicPr>
        <p:blipFill>
          <a:blip r:embed="rId1"/>
          <a:srcRect l="-23" r="-23" t="0" b="0"/>
          <a:stretch/>
        </p:blipFill>
        <p:spPr>
          <a:xfrm>
            <a:off x="812777" y="4711517"/>
            <a:ext cx="609600" cy="50777"/>
          </a:xfrm>
          <a:prstGeom prst="rect">
            <a:avLst/>
          </a:prstGeom>
        </p:spPr>
      </p:pic>
      <p:sp>
        <p:nvSpPr>
          <p:cNvPr id="6" name="Text 3"/>
          <p:cNvSpPr/>
          <p:nvPr/>
        </p:nvSpPr>
        <p:spPr>
          <a:xfrm>
            <a:off x="1523931" y="4612430"/>
            <a:ext cx="6299903"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E"/>
                </a:solidFill>
                <a:latin typeface="Be Vietnam Pro" pitchFamily="34" charset="0"/>
                <a:ea typeface="Be Vietnam Pro" pitchFamily="34" charset="-122"/>
                <a:cs typeface="Be Vietnam Pro" pitchFamily="34" charset="-120"/>
              </a:rPr>
              <a:t>Lĩnh vực giáo dục · Bài tập tuần 5 · Nhóm [ghi tên thành viên]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8"/>
            <a:ext cx="10883439" cy="218778"/>
          </a:xfrm>
          <a:prstGeom prst="rect">
            <a:avLst/>
          </a:prstGeom>
          <a:noFill/>
          <a:ln/>
        </p:spPr>
        <p:txBody>
          <a:bodyPr wrap="square" lIns="0" tIns="0" rIns="0" bIns="0" rtlCol="0" anchor="t">
            <a:normAutofit/>
          </a:bodyPr>
          <a:lstStyle/>
          <a:p>
            <a:pPr algn="l" indent="0" marL="0">
              <a:lnSpc>
                <a:spcPts val="1524"/>
              </a:lnSpc>
              <a:buNone/>
            </a:pPr>
            <a:r>
              <a:rPr lang="en-US" sz="1089" b="1" spc="150" kern="0" dirty="0">
                <a:solidFill>
                  <a:srgbClr val="2F7A5E"/>
                </a:solidFill>
                <a:latin typeface="Be Vietnam Pro" pitchFamily="34" charset="0"/>
                <a:ea typeface="Be Vietnam Pro" pitchFamily="34" charset="-122"/>
                <a:cs typeface="Be Vietnam Pro" pitchFamily="34" charset="-120"/>
              </a:rPr>
              <a:t>LỘ TRÌNH</a:t>
            </a:r>
            <a:endParaRPr lang="en-US" sz="1089" dirty="0"/>
          </a:p>
        </p:txBody>
      </p:sp>
      <p:sp>
        <p:nvSpPr>
          <p:cNvPr id="3" name="Text 1"/>
          <p:cNvSpPr/>
          <p:nvPr>
            <p:ph type="title"/>
          </p:nvPr>
        </p:nvSpPr>
        <p:spPr>
          <a:xfrm>
            <a:off x="812777" y="1107710"/>
            <a:ext cx="10883439" cy="392078"/>
          </a:xfrm>
          <a:prstGeom prst="rect">
            <a:avLst/>
          </a:prstGeom>
          <a:noFill/>
          <a:ln/>
        </p:spPr>
        <p:txBody>
          <a:bodyPr wrap="square" lIns="0" tIns="0" rIns="0" bIns="0" rtlCol="0" anchor="t">
            <a:normAutofit/>
          </a:bodyPr>
          <a:lstStyle/>
          <a:p>
            <a:pPr algn="l" indent="0" marL="0">
              <a:lnSpc>
                <a:spcPts val="2922"/>
              </a:lnSpc>
              <a:buNone/>
            </a:pPr>
            <a:r>
              <a:rPr lang="en-US" sz="2541" b="1" i="0" dirty="0">
                <a:solidFill>
                  <a:srgbClr val="17243A"/>
                </a:solidFill>
                <a:latin typeface="Lora" pitchFamily="18" charset="0"/>
                <a:ea typeface="Lora" pitchFamily="18" charset="-122"/>
                <a:cs typeface="Lora" pitchFamily="18" charset="-120"/>
              </a:rPr>
              <a:t>Tám bước, mỗi bước trả lời một câu hỏi</a:t>
            </a:r>
            <a:endParaRPr lang="en-US" sz="2541" dirty="0"/>
          </a:p>
        </p:txBody>
      </p:sp>
      <p:sp>
        <p:nvSpPr>
          <p:cNvPr id="4" name="Text 2"/>
          <p:cNvSpPr/>
          <p:nvPr/>
        </p:nvSpPr>
        <p:spPr>
          <a:xfrm>
            <a:off x="812777" y="1677565"/>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F7A5E"/>
                </a:solidFill>
                <a:latin typeface="Be Vietnam Pro" pitchFamily="34" charset="0"/>
                <a:ea typeface="Be Vietnam Pro" pitchFamily="34" charset="-122"/>
                <a:cs typeface="Be Vietnam Pro" pitchFamily="34" charset="-120"/>
              </a:rPr>
              <a:t>Bước 1</a:t>
            </a:r>
            <a:endParaRPr lang="en-US" sz="1700" dirty="0"/>
          </a:p>
        </p:txBody>
      </p:sp>
      <p:sp>
        <p:nvSpPr>
          <p:cNvPr id="5" name="Text 3"/>
          <p:cNvSpPr/>
          <p:nvPr/>
        </p:nvSpPr>
        <p:spPr>
          <a:xfrm>
            <a:off x="1790631" y="1690722"/>
            <a:ext cx="2736070"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Bài toán và dữ liệu</a:t>
            </a:r>
            <a:endParaRPr lang="en-US" sz="1600" dirty="0"/>
          </a:p>
        </p:txBody>
      </p:sp>
      <p:sp>
        <p:nvSpPr>
          <p:cNvPr id="6" name="Text 4"/>
          <p:cNvSpPr/>
          <p:nvPr/>
        </p:nvSpPr>
        <p:spPr>
          <a:xfrm>
            <a:off x="1790631" y="1975170"/>
            <a:ext cx="3187654"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Ai là mìn? Cần những số liệu nào?</a:t>
            </a:r>
            <a:endParaRPr lang="en-US" sz="1300" dirty="0"/>
          </a:p>
        </p:txBody>
      </p:sp>
      <p:sp>
        <p:nvSpPr>
          <p:cNvPr id="7" name="Text 5"/>
          <p:cNvSpPr/>
          <p:nvPr/>
        </p:nvSpPr>
        <p:spPr>
          <a:xfrm>
            <a:off x="812777" y="2209252"/>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F7A5E"/>
                </a:solidFill>
                <a:latin typeface="Be Vietnam Pro" pitchFamily="34" charset="0"/>
                <a:ea typeface="Be Vietnam Pro" pitchFamily="34" charset="-122"/>
                <a:cs typeface="Be Vietnam Pro" pitchFamily="34" charset="-120"/>
              </a:rPr>
              <a:t>Bước 2</a:t>
            </a:r>
            <a:endParaRPr lang="en-US" sz="1700" dirty="0"/>
          </a:p>
        </p:txBody>
      </p:sp>
      <p:sp>
        <p:nvSpPr>
          <p:cNvPr id="8" name="Text 6"/>
          <p:cNvSpPr/>
          <p:nvPr/>
        </p:nvSpPr>
        <p:spPr>
          <a:xfrm>
            <a:off x="1790631" y="2222409"/>
            <a:ext cx="3469406"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Biến sinh viên thành số</a:t>
            </a:r>
            <a:endParaRPr lang="en-US" sz="1600" dirty="0"/>
          </a:p>
        </p:txBody>
      </p:sp>
      <p:sp>
        <p:nvSpPr>
          <p:cNvPr id="9" name="Text 7"/>
          <p:cNvSpPr/>
          <p:nvPr/>
        </p:nvSpPr>
        <p:spPr>
          <a:xfrm>
            <a:off x="1790631" y="2506856"/>
            <a:ext cx="4042026"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Vector, ma trận, tích vô hướng, chuẩn hóa</a:t>
            </a:r>
            <a:endParaRPr lang="en-US" sz="1300" dirty="0"/>
          </a:p>
        </p:txBody>
      </p:sp>
      <p:sp>
        <p:nvSpPr>
          <p:cNvPr id="10" name="Text 8"/>
          <p:cNvSpPr/>
          <p:nvPr/>
        </p:nvSpPr>
        <p:spPr>
          <a:xfrm>
            <a:off x="812777" y="2740870"/>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F7A5E"/>
                </a:solidFill>
                <a:latin typeface="Be Vietnam Pro" pitchFamily="34" charset="0"/>
                <a:ea typeface="Be Vietnam Pro" pitchFamily="34" charset="-122"/>
                <a:cs typeface="Be Vietnam Pro" pitchFamily="34" charset="-120"/>
              </a:rPr>
              <a:t>Bước 3</a:t>
            </a:r>
            <a:endParaRPr lang="en-US" sz="1700" dirty="0"/>
          </a:p>
        </p:txBody>
      </p:sp>
      <p:sp>
        <p:nvSpPr>
          <p:cNvPr id="11" name="Text 9"/>
          <p:cNvSpPr/>
          <p:nvPr/>
        </p:nvSpPr>
        <p:spPr>
          <a:xfrm>
            <a:off x="1790631" y="2754027"/>
            <a:ext cx="4220246"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Xác suất và hàm mất mát</a:t>
            </a:r>
            <a:endParaRPr lang="en-US" sz="1600" dirty="0"/>
          </a:p>
        </p:txBody>
      </p:sp>
      <p:sp>
        <p:nvSpPr>
          <p:cNvPr id="12" name="Text 10"/>
          <p:cNvSpPr/>
          <p:nvPr/>
        </p:nvSpPr>
        <p:spPr>
          <a:xfrm>
            <a:off x="1790631" y="3038475"/>
            <a:ext cx="4916792"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Sigmoid, cross-entropy: phạt nặng khi tự tin mà sai</a:t>
            </a:r>
            <a:endParaRPr lang="en-US" sz="1300" dirty="0"/>
          </a:p>
        </p:txBody>
      </p:sp>
      <p:sp>
        <p:nvSpPr>
          <p:cNvPr id="13" name="Text 11"/>
          <p:cNvSpPr/>
          <p:nvPr/>
        </p:nvSpPr>
        <p:spPr>
          <a:xfrm>
            <a:off x="812777" y="3272557"/>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F7A5E"/>
                </a:solidFill>
                <a:latin typeface="Be Vietnam Pro" pitchFamily="34" charset="0"/>
                <a:ea typeface="Be Vietnam Pro" pitchFamily="34" charset="-122"/>
                <a:cs typeface="Be Vietnam Pro" pitchFamily="34" charset="-120"/>
              </a:rPr>
              <a:t>Bước 4</a:t>
            </a:r>
            <a:endParaRPr lang="en-US" sz="1700" dirty="0"/>
          </a:p>
        </p:txBody>
      </p:sp>
      <p:sp>
        <p:nvSpPr>
          <p:cNvPr id="14" name="Text 12"/>
          <p:cNvSpPr/>
          <p:nvPr/>
        </p:nvSpPr>
        <p:spPr>
          <a:xfrm>
            <a:off x="1790631" y="3285714"/>
            <a:ext cx="4206694"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Gradient Descent</a:t>
            </a:r>
            <a:endParaRPr lang="en-US" sz="1600" dirty="0"/>
          </a:p>
        </p:txBody>
      </p:sp>
      <p:sp>
        <p:nvSpPr>
          <p:cNvPr id="15" name="Text 13"/>
          <p:cNvSpPr/>
          <p:nvPr/>
        </p:nvSpPr>
        <p:spPr>
          <a:xfrm>
            <a:off x="1790631" y="3570162"/>
            <a:ext cx="4901003"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Chỉnh trọng số theo hướng nào, bước dài bao nhiêu</a:t>
            </a:r>
            <a:endParaRPr lang="en-US" sz="1300" dirty="0"/>
          </a:p>
        </p:txBody>
      </p:sp>
      <p:sp>
        <p:nvSpPr>
          <p:cNvPr id="16" name="Text 14"/>
          <p:cNvSpPr/>
          <p:nvPr/>
        </p:nvSpPr>
        <p:spPr>
          <a:xfrm>
            <a:off x="812777" y="3804176"/>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52F"/>
                </a:solidFill>
                <a:latin typeface="Be Vietnam Pro" pitchFamily="34" charset="0"/>
                <a:ea typeface="Be Vietnam Pro" pitchFamily="34" charset="-122"/>
                <a:cs typeface="Be Vietnam Pro" pitchFamily="34" charset="-120"/>
              </a:rPr>
              <a:t>Bước 5</a:t>
            </a:r>
            <a:endParaRPr lang="en-US" sz="1700" dirty="0"/>
          </a:p>
        </p:txBody>
      </p:sp>
      <p:sp>
        <p:nvSpPr>
          <p:cNvPr id="17" name="Text 15"/>
          <p:cNvSpPr/>
          <p:nvPr/>
        </p:nvSpPr>
        <p:spPr>
          <a:xfrm>
            <a:off x="1790631" y="3817332"/>
            <a:ext cx="3461289"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Chia dữ liệu</a:t>
            </a:r>
            <a:endParaRPr lang="en-US" sz="1600" dirty="0"/>
          </a:p>
        </p:txBody>
      </p:sp>
      <p:sp>
        <p:nvSpPr>
          <p:cNvPr id="18" name="Text 16"/>
          <p:cNvSpPr/>
          <p:nvPr/>
        </p:nvSpPr>
        <p:spPr>
          <a:xfrm>
            <a:off x="1790631" y="4101780"/>
            <a:ext cx="4032570"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Có đoán đúng cả với sinh viên mới không?</a:t>
            </a:r>
            <a:endParaRPr lang="en-US" sz="1300" dirty="0"/>
          </a:p>
        </p:txBody>
      </p:sp>
      <p:sp>
        <p:nvSpPr>
          <p:cNvPr id="19" name="Text 17"/>
          <p:cNvSpPr/>
          <p:nvPr/>
        </p:nvSpPr>
        <p:spPr>
          <a:xfrm>
            <a:off x="812777" y="4335862"/>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52F"/>
                </a:solidFill>
                <a:latin typeface="Be Vietnam Pro" pitchFamily="34" charset="0"/>
                <a:ea typeface="Be Vietnam Pro" pitchFamily="34" charset="-122"/>
                <a:cs typeface="Be Vietnam Pro" pitchFamily="34" charset="-120"/>
              </a:rPr>
              <a:t>Bước 6</a:t>
            </a:r>
            <a:endParaRPr lang="en-US" sz="1700" dirty="0"/>
          </a:p>
        </p:txBody>
      </p:sp>
      <p:sp>
        <p:nvSpPr>
          <p:cNvPr id="20" name="Text 18"/>
          <p:cNvSpPr/>
          <p:nvPr/>
        </p:nvSpPr>
        <p:spPr>
          <a:xfrm>
            <a:off x="1790631" y="4349019"/>
            <a:ext cx="3213056"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Đánh giá</a:t>
            </a:r>
            <a:endParaRPr lang="en-US" sz="1600" dirty="0"/>
          </a:p>
        </p:txBody>
      </p:sp>
      <p:sp>
        <p:nvSpPr>
          <p:cNvPr id="21" name="Text 19"/>
          <p:cNvSpPr/>
          <p:nvPr/>
        </p:nvSpPr>
        <p:spPr>
          <a:xfrm>
            <a:off x="1790631" y="4633467"/>
            <a:ext cx="3743366"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Recall, Precision, đổi ngưỡng báo động</a:t>
            </a:r>
            <a:endParaRPr lang="en-US" sz="1300" dirty="0"/>
          </a:p>
        </p:txBody>
      </p:sp>
      <p:sp>
        <p:nvSpPr>
          <p:cNvPr id="22" name="Text 20"/>
          <p:cNvSpPr/>
          <p:nvPr/>
        </p:nvSpPr>
        <p:spPr>
          <a:xfrm>
            <a:off x="812777" y="4867549"/>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52F"/>
                </a:solidFill>
                <a:latin typeface="Be Vietnam Pro" pitchFamily="34" charset="0"/>
                <a:ea typeface="Be Vietnam Pro" pitchFamily="34" charset="-122"/>
                <a:cs typeface="Be Vietnam Pro" pitchFamily="34" charset="-120"/>
              </a:rPr>
              <a:t>Bước 7</a:t>
            </a:r>
            <a:endParaRPr lang="en-US" sz="1700" dirty="0"/>
          </a:p>
        </p:txBody>
      </p:sp>
      <p:sp>
        <p:nvSpPr>
          <p:cNvPr id="23" name="Text 21"/>
          <p:cNvSpPr/>
          <p:nvPr/>
        </p:nvSpPr>
        <p:spPr>
          <a:xfrm>
            <a:off x="1790631" y="4880706"/>
            <a:ext cx="2670641"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TabICLv2</a:t>
            </a:r>
            <a:endParaRPr lang="en-US" sz="1600" dirty="0"/>
          </a:p>
        </p:txBody>
      </p:sp>
      <p:sp>
        <p:nvSpPr>
          <p:cNvPr id="24" name="Text 22"/>
          <p:cNvSpPr/>
          <p:nvPr/>
        </p:nvSpPr>
        <p:spPr>
          <a:xfrm>
            <a:off x="1790631" y="5165154"/>
            <a:ext cx="3111427"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Học trong ngữ cảnh và attention</a:t>
            </a:r>
            <a:endParaRPr lang="en-US" sz="1300" dirty="0"/>
          </a:p>
        </p:txBody>
      </p:sp>
      <p:sp>
        <p:nvSpPr>
          <p:cNvPr id="25" name="Text 23"/>
          <p:cNvSpPr/>
          <p:nvPr/>
        </p:nvSpPr>
        <p:spPr>
          <a:xfrm>
            <a:off x="812777" y="5399236"/>
            <a:ext cx="876254"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52F"/>
                </a:solidFill>
                <a:latin typeface="Be Vietnam Pro" pitchFamily="34" charset="0"/>
                <a:ea typeface="Be Vietnam Pro" pitchFamily="34" charset="-122"/>
                <a:cs typeface="Be Vietnam Pro" pitchFamily="34" charset="-120"/>
              </a:rPr>
              <a:t>Bước 8</a:t>
            </a:r>
            <a:endParaRPr lang="en-US" sz="1700" dirty="0"/>
          </a:p>
        </p:txBody>
      </p:sp>
      <p:sp>
        <p:nvSpPr>
          <p:cNvPr id="26" name="Text 24"/>
          <p:cNvSpPr/>
          <p:nvPr/>
        </p:nvSpPr>
        <p:spPr>
          <a:xfrm>
            <a:off x="1790631" y="5412393"/>
            <a:ext cx="3651858"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Kết luận</a:t>
            </a:r>
            <a:endParaRPr lang="en-US" sz="1600" dirty="0"/>
          </a:p>
        </p:txBody>
      </p:sp>
      <p:sp>
        <p:nvSpPr>
          <p:cNvPr id="27" name="Text 25"/>
          <p:cNvSpPr/>
          <p:nvPr/>
        </p:nvSpPr>
        <p:spPr>
          <a:xfrm>
            <a:off x="1790631" y="5696841"/>
            <a:ext cx="4254591"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Toán dùng ở đâu, hạn chế nào cần nói thẳng</a:t>
            </a:r>
            <a:endParaRPr lang="en-US" sz="1300" dirty="0"/>
          </a:p>
        </p:txBody>
      </p:sp>
      <p:sp>
        <p:nvSpPr>
          <p:cNvPr id="28" name="Text 26"/>
          <p:cNvSpPr/>
          <p:nvPr/>
        </p:nvSpPr>
        <p:spPr>
          <a:xfrm>
            <a:off x="812777" y="6238326"/>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29" name="Text 27"/>
          <p:cNvSpPr/>
          <p:nvPr/>
        </p:nvSpPr>
        <p:spPr>
          <a:xfrm>
            <a:off x="10970882" y="6238326"/>
            <a:ext cx="490010"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7"/>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F7A5E"/>
                </a:solidFill>
                <a:latin typeface="Be Vietnam Pro" pitchFamily="34" charset="0"/>
                <a:ea typeface="Be Vietnam Pro" pitchFamily="34" charset="-122"/>
                <a:cs typeface="Be Vietnam Pro" pitchFamily="34" charset="-120"/>
              </a:rPr>
              <a:t>BÀI TOÁN GỐC</a:t>
            </a:r>
            <a:endParaRPr lang="en-US" sz="1300" dirty="0"/>
          </a:p>
        </p:txBody>
      </p:sp>
      <p:sp>
        <p:nvSpPr>
          <p:cNvPr id="3" name="Text 1"/>
          <p:cNvSpPr/>
          <p:nvPr>
            <p:ph type="title"/>
          </p:nvPr>
        </p:nvSpPr>
        <p:spPr>
          <a:xfrm>
            <a:off x="812777" y="1145398"/>
            <a:ext cx="11379223"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43A"/>
                </a:solidFill>
                <a:latin typeface="Lora" pitchFamily="18" charset="0"/>
                <a:ea typeface="Lora" pitchFamily="18" charset="-122"/>
                <a:cs typeface="Lora" pitchFamily="18" charset="-120"/>
              </a:rPr>
              <a:t>Em nào sắp bỏ học, và có biết sớm để kịp giúp không?</a:t>
            </a:r>
            <a:endParaRPr lang="en-US" sz="3200" dirty="0"/>
          </a:p>
        </p:txBody>
      </p:sp>
      <p:sp>
        <p:nvSpPr>
          <p:cNvPr id="4" name="Shape 2"/>
          <p:cNvSpPr/>
          <p:nvPr/>
        </p:nvSpPr>
        <p:spPr>
          <a:xfrm>
            <a:off x="819127" y="2700144"/>
            <a:ext cx="3373951" cy="1752303"/>
          </a:xfrm>
          <a:prstGeom prst="roundRect">
            <a:avLst>
              <a:gd name="adj" fmla="val 5436"/>
            </a:avLst>
          </a:prstGeom>
          <a:solidFill>
            <a:srgbClr val="FFFFFF"/>
          </a:solidFill>
          <a:ln w="12700">
            <a:solidFill>
              <a:srgbClr val="2F7A5E"/>
            </a:solidFill>
            <a:prstDash val="solid"/>
          </a:ln>
        </p:spPr>
      </p:sp>
      <p:sp>
        <p:nvSpPr>
          <p:cNvPr id="5" name="Text 3"/>
          <p:cNvSpPr/>
          <p:nvPr/>
        </p:nvSpPr>
        <p:spPr>
          <a:xfrm>
            <a:off x="1075503" y="2956519"/>
            <a:ext cx="29470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7A5E"/>
                </a:solidFill>
                <a:latin typeface="Be Vietnam Pro" pitchFamily="34" charset="0"/>
                <a:ea typeface="Be Vietnam Pro" pitchFamily="34" charset="-122"/>
                <a:cs typeface="Be Vietnam Pro" pitchFamily="34" charset="-120"/>
              </a:rPr>
              <a:t>Ô an toàn</a:t>
            </a:r>
            <a:endParaRPr lang="en-US" sz="2000" dirty="0"/>
          </a:p>
        </p:txBody>
      </p:sp>
      <p:sp>
        <p:nvSpPr>
          <p:cNvPr id="6" name="Text 4"/>
          <p:cNvSpPr/>
          <p:nvPr/>
        </p:nvSpPr>
        <p:spPr>
          <a:xfrm>
            <a:off x="1075503" y="3337519"/>
            <a:ext cx="2947036"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Tốt nghiệp (y = 0)</a:t>
            </a:r>
            <a:endParaRPr lang="en-US" sz="1600" dirty="0"/>
          </a:p>
        </p:txBody>
      </p:sp>
      <p:sp>
        <p:nvSpPr>
          <p:cNvPr id="7" name="Text 5"/>
          <p:cNvSpPr/>
          <p:nvPr/>
        </p:nvSpPr>
        <p:spPr>
          <a:xfrm>
            <a:off x="1075503" y="3698167"/>
            <a:ext cx="2947036"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Nhấn vào là đạt mục tiêu.</a:t>
            </a:r>
            <a:endParaRPr lang="en-US" sz="1400" dirty="0"/>
          </a:p>
        </p:txBody>
      </p:sp>
      <p:sp>
        <p:nvSpPr>
          <p:cNvPr id="8" name="Shape 6"/>
          <p:cNvSpPr/>
          <p:nvPr/>
        </p:nvSpPr>
        <p:spPr>
          <a:xfrm>
            <a:off x="4408956" y="2700144"/>
            <a:ext cx="3374020" cy="1752303"/>
          </a:xfrm>
          <a:prstGeom prst="roundRect">
            <a:avLst>
              <a:gd name="adj" fmla="val 5436"/>
            </a:avLst>
          </a:prstGeom>
          <a:solidFill>
            <a:srgbClr val="FFFFFF"/>
          </a:solidFill>
          <a:ln w="12700">
            <a:solidFill>
              <a:srgbClr val="B8452F"/>
            </a:solidFill>
            <a:prstDash val="solid"/>
          </a:ln>
        </p:spPr>
      </p:sp>
      <p:sp>
        <p:nvSpPr>
          <p:cNvPr id="9" name="Text 7"/>
          <p:cNvSpPr/>
          <p:nvPr/>
        </p:nvSpPr>
        <p:spPr>
          <a:xfrm>
            <a:off x="4665331" y="2956519"/>
            <a:ext cx="29471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452F"/>
                </a:solidFill>
                <a:latin typeface="Be Vietnam Pro" pitchFamily="34" charset="0"/>
                <a:ea typeface="Be Vietnam Pro" pitchFamily="34" charset="-122"/>
                <a:cs typeface="Be Vietnam Pro" pitchFamily="34" charset="-120"/>
              </a:rPr>
              <a:t>Trúng mìn</a:t>
            </a:r>
            <a:endParaRPr lang="en-US" sz="2000" dirty="0"/>
          </a:p>
        </p:txBody>
      </p:sp>
      <p:sp>
        <p:nvSpPr>
          <p:cNvPr id="10" name="Text 8"/>
          <p:cNvSpPr/>
          <p:nvPr/>
        </p:nvSpPr>
        <p:spPr>
          <a:xfrm>
            <a:off x="4665331" y="3337519"/>
            <a:ext cx="2947107"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Bỏ học (y = 1)</a:t>
            </a:r>
            <a:endParaRPr lang="en-US" sz="1600" dirty="0"/>
          </a:p>
        </p:txBody>
      </p:sp>
      <p:sp>
        <p:nvSpPr>
          <p:cNvPr id="11" name="Text 9"/>
          <p:cNvSpPr/>
          <p:nvPr/>
        </p:nvSpPr>
        <p:spPr>
          <a:xfrm>
            <a:off x="4665331" y="3698167"/>
            <a:ext cx="2947107"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Biết khi đã nộp đơn thì đã nổ.</a:t>
            </a:r>
            <a:endParaRPr lang="en-US" sz="1400" dirty="0"/>
          </a:p>
        </p:txBody>
      </p:sp>
      <p:sp>
        <p:nvSpPr>
          <p:cNvPr id="12" name="Shape 10"/>
          <p:cNvSpPr/>
          <p:nvPr/>
        </p:nvSpPr>
        <p:spPr>
          <a:xfrm>
            <a:off x="7998853" y="2700144"/>
            <a:ext cx="3374020" cy="1752303"/>
          </a:xfrm>
          <a:prstGeom prst="roundRect">
            <a:avLst>
              <a:gd name="adj" fmla="val 5436"/>
            </a:avLst>
          </a:prstGeom>
          <a:solidFill>
            <a:srgbClr val="FFFFFF"/>
          </a:solidFill>
          <a:ln w="12700">
            <a:solidFill>
              <a:srgbClr val="A8A8A0"/>
            </a:solidFill>
            <a:prstDash val="solid"/>
          </a:ln>
        </p:spPr>
      </p:sp>
      <p:sp>
        <p:nvSpPr>
          <p:cNvPr id="13" name="Text 11"/>
          <p:cNvSpPr/>
          <p:nvPr/>
        </p:nvSpPr>
        <p:spPr>
          <a:xfrm>
            <a:off x="8255229" y="2956519"/>
            <a:ext cx="29471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A6068"/>
                </a:solidFill>
                <a:latin typeface="Be Vietnam Pro" pitchFamily="34" charset="0"/>
                <a:ea typeface="Be Vietnam Pro" pitchFamily="34" charset="-122"/>
                <a:cs typeface="Be Vietnam Pro" pitchFamily="34" charset="-120"/>
              </a:rPr>
              <a:t>Ô chưa lật</a:t>
            </a:r>
            <a:endParaRPr lang="en-US" sz="2000" dirty="0"/>
          </a:p>
        </p:txBody>
      </p:sp>
      <p:sp>
        <p:nvSpPr>
          <p:cNvPr id="14" name="Text 12"/>
          <p:cNvSpPr/>
          <p:nvPr/>
        </p:nvSpPr>
        <p:spPr>
          <a:xfrm>
            <a:off x="8255229" y="3337519"/>
            <a:ext cx="2947107" cy="30984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43A"/>
                </a:solidFill>
                <a:latin typeface="Be Vietnam Pro" pitchFamily="34" charset="0"/>
                <a:ea typeface="Be Vietnam Pro" pitchFamily="34" charset="-122"/>
                <a:cs typeface="Be Vietnam Pro" pitchFamily="34" charset="-120"/>
              </a:rPr>
              <a:t>Đang học (794 sinh viên)</a:t>
            </a:r>
            <a:endParaRPr lang="en-US" sz="1600" dirty="0"/>
          </a:p>
        </p:txBody>
      </p:sp>
      <p:sp>
        <p:nvSpPr>
          <p:cNvPr id="15" name="Text 13"/>
          <p:cNvSpPr/>
          <p:nvPr/>
        </p:nvSpPr>
        <p:spPr>
          <a:xfrm>
            <a:off x="8255229" y="3698167"/>
            <a:ext cx="2947107" cy="5233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Chưa có kết cục nên loại khỏi bài toán.</a:t>
            </a:r>
            <a:endParaRPr lang="en-US" sz="1400" dirty="0"/>
          </a:p>
        </p:txBody>
      </p:sp>
      <p:sp>
        <p:nvSpPr>
          <p:cNvPr id="16" name="Text 14"/>
          <p:cNvSpPr/>
          <p:nvPr/>
        </p:nvSpPr>
        <p:spPr>
          <a:xfrm>
            <a:off x="812777" y="5539781"/>
            <a:ext cx="10883439" cy="327665"/>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7243A"/>
                </a:solidFill>
                <a:latin typeface="Be Vietnam Pro" pitchFamily="34" charset="0"/>
                <a:ea typeface="Be Vietnam Pro" pitchFamily="34" charset="-122"/>
                <a:cs typeface="Be Vietnam Pro" pitchFamily="34" charset="-120"/>
              </a:rPr>
              <a:t>Việc của mô hình: nhìn các con số quanh một ô và đoán ô đó có mìn không, </a:t>
            </a:r>
            <a:r>
              <a:rPr lang="en-US" sz="1700" b="1" dirty="0">
                <a:solidFill>
                  <a:srgbClr val="17243A"/>
                </a:solidFill>
                <a:latin typeface="Be Vietnam Pro" pitchFamily="34" charset="0"/>
                <a:ea typeface="Be Vietnam Pro" pitchFamily="34" charset="-122"/>
                <a:cs typeface="Be Vietnam Pro" pitchFamily="34" charset="-120"/>
              </a:rPr>
              <a:t>trước khi</a:t>
            </a:r>
            <a:r>
              <a:rPr lang="en-US" sz="1700" dirty="0">
                <a:solidFill>
                  <a:srgbClr val="17243A"/>
                </a:solidFill>
                <a:latin typeface="Be Vietnam Pro" pitchFamily="34" charset="0"/>
                <a:ea typeface="Be Vietnam Pro" pitchFamily="34" charset="-122"/>
                <a:cs typeface="Be Vietnam Pro" pitchFamily="34" charset="-120"/>
              </a:rPr>
              <a:t> nhấn.</a:t>
            </a:r>
            <a:endParaRPr lang="en-US" sz="1700" dirty="0"/>
          </a:p>
        </p:txBody>
      </p:sp>
      <p:sp>
        <p:nvSpPr>
          <p:cNvPr id="17" name="Text 15"/>
          <p:cNvSpPr/>
          <p:nvPr/>
        </p:nvSpPr>
        <p:spPr>
          <a:xfrm>
            <a:off x="812777" y="6238326"/>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8" name="Text 16"/>
          <p:cNvSpPr/>
          <p:nvPr/>
        </p:nvSpPr>
        <p:spPr>
          <a:xfrm>
            <a:off x="10969511" y="6238326"/>
            <a:ext cx="491654"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243A"/>
        </a:solidFill>
      </p:bgPr>
    </p:bg>
    <p:spTree>
      <p:nvGrpSpPr>
        <p:cNvPr id="1" name=""/>
        <p:cNvGrpSpPr/>
        <p:nvPr/>
      </p:nvGrpSpPr>
      <p:grpSpPr>
        <a:xfrm>
          <a:off x="0" y="0"/>
          <a:ext cx="0" cy="0"/>
          <a:chOff x="0" y="0"/>
          <a:chExt cx="0" cy="0"/>
        </a:xfrm>
      </p:grpSpPr>
      <p:sp>
        <p:nvSpPr>
          <p:cNvPr id="2" name="Text 0"/>
          <p:cNvSpPr/>
          <p:nvPr/>
        </p:nvSpPr>
        <p:spPr>
          <a:xfrm>
            <a:off x="812777" y="812777"/>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C078"/>
                </a:solidFill>
                <a:latin typeface="Be Vietnam Pro" pitchFamily="34" charset="0"/>
                <a:ea typeface="Be Vietnam Pro" pitchFamily="34" charset="-122"/>
                <a:cs typeface="Be Vietnam Pro" pitchFamily="34" charset="-120"/>
              </a:rPr>
              <a:t>DỮ LIỆU</a:t>
            </a:r>
            <a:endParaRPr lang="en-US" sz="1300" dirty="0"/>
          </a:p>
        </p:txBody>
      </p:sp>
      <p:sp>
        <p:nvSpPr>
          <p:cNvPr id="3" name="Text 1"/>
          <p:cNvSpPr/>
          <p:nvPr>
            <p:ph type="title"/>
          </p:nvPr>
        </p:nvSpPr>
        <p:spPr>
          <a:xfrm>
            <a:off x="812777" y="1145398"/>
            <a:ext cx="10883439"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3EC"/>
                </a:solidFill>
                <a:latin typeface="Lora" pitchFamily="18" charset="0"/>
                <a:ea typeface="Lora" pitchFamily="18" charset="-122"/>
                <a:cs typeface="Lora" pitchFamily="18" charset="-120"/>
              </a:rPr>
              <a:t>Sinh viên thật, nguồn rõ ràng</a:t>
            </a:r>
            <a:endParaRPr lang="en-US" sz="3200" dirty="0"/>
          </a:p>
        </p:txBody>
      </p:sp>
      <p:sp>
        <p:nvSpPr>
          <p:cNvPr id="4" name="Shape 2"/>
          <p:cNvSpPr/>
          <p:nvPr/>
        </p:nvSpPr>
        <p:spPr>
          <a:xfrm>
            <a:off x="812777" y="2648452"/>
            <a:ext cx="3386651" cy="0"/>
          </a:xfrm>
          <a:prstGeom prst="line">
            <a:avLst/>
          </a:prstGeom>
          <a:noFill/>
          <a:ln w="25400">
            <a:solidFill>
              <a:srgbClr val="F2C078"/>
            </a:solidFill>
            <a:prstDash val="solid"/>
          </a:ln>
        </p:spPr>
      </p:sp>
      <p:sp>
        <p:nvSpPr>
          <p:cNvPr id="5" name="Text 3"/>
          <p:cNvSpPr/>
          <p:nvPr/>
        </p:nvSpPr>
        <p:spPr>
          <a:xfrm>
            <a:off x="812777" y="2810081"/>
            <a:ext cx="3488251"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F3EC"/>
                </a:solidFill>
                <a:latin typeface="Lora" pitchFamily="18" charset="0"/>
                <a:ea typeface="Lora" pitchFamily="18" charset="-122"/>
                <a:cs typeface="Lora" pitchFamily="18" charset="-120"/>
              </a:rPr>
              <a:t>4.424</a:t>
            </a:r>
            <a:endParaRPr lang="en-US" sz="6000" dirty="0"/>
          </a:p>
        </p:txBody>
      </p:sp>
      <p:sp>
        <p:nvSpPr>
          <p:cNvPr id="6" name="Text 4"/>
          <p:cNvSpPr/>
          <p:nvPr/>
        </p:nvSpPr>
        <p:spPr>
          <a:xfrm>
            <a:off x="812777" y="3660958"/>
            <a:ext cx="3488251" cy="59429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DE"/>
                </a:solidFill>
                <a:latin typeface="Be Vietnam Pro" pitchFamily="34" charset="0"/>
                <a:ea typeface="Be Vietnam Pro" pitchFamily="34" charset="-122"/>
                <a:cs typeface="Be Vietnam Pro" pitchFamily="34" charset="-120"/>
              </a:rPr>
              <a:t>sinh viên, 36 cột, không thiếu giá trị</a:t>
            </a:r>
            <a:endParaRPr lang="en-US" sz="1600" dirty="0"/>
          </a:p>
        </p:txBody>
      </p:sp>
      <p:sp>
        <p:nvSpPr>
          <p:cNvPr id="7" name="Shape 5"/>
          <p:cNvSpPr/>
          <p:nvPr/>
        </p:nvSpPr>
        <p:spPr>
          <a:xfrm>
            <a:off x="4402606" y="2648452"/>
            <a:ext cx="3386720" cy="0"/>
          </a:xfrm>
          <a:prstGeom prst="line">
            <a:avLst/>
          </a:prstGeom>
          <a:noFill/>
          <a:ln w="25400">
            <a:solidFill>
              <a:srgbClr val="F2C078"/>
            </a:solidFill>
            <a:prstDash val="solid"/>
          </a:ln>
        </p:spPr>
      </p:sp>
      <p:sp>
        <p:nvSpPr>
          <p:cNvPr id="8" name="Text 6"/>
          <p:cNvSpPr/>
          <p:nvPr/>
        </p:nvSpPr>
        <p:spPr>
          <a:xfrm>
            <a:off x="4402606" y="2810081"/>
            <a:ext cx="348832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F3EC"/>
                </a:solidFill>
                <a:latin typeface="Lora" pitchFamily="18" charset="0"/>
                <a:ea typeface="Lora" pitchFamily="18" charset="-122"/>
                <a:cs typeface="Lora" pitchFamily="18" charset="-120"/>
              </a:rPr>
              <a:t>3.630</a:t>
            </a:r>
            <a:endParaRPr lang="en-US" sz="6000" dirty="0"/>
          </a:p>
        </p:txBody>
      </p:sp>
      <p:sp>
        <p:nvSpPr>
          <p:cNvPr id="9" name="Text 7"/>
          <p:cNvSpPr/>
          <p:nvPr/>
        </p:nvSpPr>
        <p:spPr>
          <a:xfrm>
            <a:off x="4402606" y="3660958"/>
            <a:ext cx="3488322"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DE"/>
                </a:solidFill>
                <a:latin typeface="Be Vietnam Pro" pitchFamily="34" charset="0"/>
                <a:ea typeface="Be Vietnam Pro" pitchFamily="34" charset="-122"/>
                <a:cs typeface="Be Vietnam Pro" pitchFamily="34" charset="-120"/>
              </a:rPr>
              <a:t>sau khi bỏ nhóm đang học</a:t>
            </a:r>
            <a:endParaRPr lang="en-US" sz="1600" dirty="0"/>
          </a:p>
        </p:txBody>
      </p:sp>
      <p:sp>
        <p:nvSpPr>
          <p:cNvPr id="10" name="Shape 8"/>
          <p:cNvSpPr/>
          <p:nvPr/>
        </p:nvSpPr>
        <p:spPr>
          <a:xfrm>
            <a:off x="7992503" y="2648452"/>
            <a:ext cx="3386720" cy="0"/>
          </a:xfrm>
          <a:prstGeom prst="line">
            <a:avLst/>
          </a:prstGeom>
          <a:noFill/>
          <a:ln w="25400">
            <a:solidFill>
              <a:srgbClr val="E58A73"/>
            </a:solidFill>
            <a:prstDash val="solid"/>
          </a:ln>
        </p:spPr>
      </p:sp>
      <p:sp>
        <p:nvSpPr>
          <p:cNvPr id="11" name="Text 9"/>
          <p:cNvSpPr/>
          <p:nvPr/>
        </p:nvSpPr>
        <p:spPr>
          <a:xfrm>
            <a:off x="7992503" y="2810081"/>
            <a:ext cx="348832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E58A73"/>
                </a:solidFill>
                <a:latin typeface="Lora" pitchFamily="18" charset="0"/>
                <a:ea typeface="Lora" pitchFamily="18" charset="-122"/>
                <a:cs typeface="Lora" pitchFamily="18" charset="-120"/>
              </a:rPr>
              <a:t>39,1%</a:t>
            </a:r>
            <a:endParaRPr lang="en-US" sz="6000" dirty="0"/>
          </a:p>
        </p:txBody>
      </p:sp>
      <p:sp>
        <p:nvSpPr>
          <p:cNvPr id="12" name="Text 10"/>
          <p:cNvSpPr/>
          <p:nvPr/>
        </p:nvSpPr>
        <p:spPr>
          <a:xfrm>
            <a:off x="7992503" y="3660958"/>
            <a:ext cx="3488322"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DE"/>
                </a:solidFill>
                <a:latin typeface="Be Vietnam Pro" pitchFamily="34" charset="0"/>
                <a:ea typeface="Be Vietnam Pro" pitchFamily="34" charset="-122"/>
                <a:cs typeface="Be Vietnam Pro" pitchFamily="34" charset="-120"/>
              </a:rPr>
              <a:t>là “mìn”, tức đã bỏ học</a:t>
            </a:r>
            <a:endParaRPr lang="en-US" sz="1600" dirty="0"/>
          </a:p>
        </p:txBody>
      </p:sp>
      <p:sp>
        <p:nvSpPr>
          <p:cNvPr id="13" name="Text 11"/>
          <p:cNvSpPr/>
          <p:nvPr/>
        </p:nvSpPr>
        <p:spPr>
          <a:xfrm>
            <a:off x="812777" y="5252867"/>
            <a:ext cx="10883439" cy="61457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9D2DE"/>
                </a:solidFill>
                <a:latin typeface="Be Vietnam Pro" pitchFamily="34" charset="0"/>
                <a:ea typeface="Be Vietnam Pro" pitchFamily="34" charset="-122"/>
                <a:cs typeface="Be Vietnam Pro" pitchFamily="34" charset="-120"/>
              </a:rPr>
              <a:t>Hơi lệch nhưng chưa nặng. Nếu luôn đoán “an toàn” thì vẫn đúng khoảng 61%, mà không bắt được quả mìn nào. Vì vậy ta không chỉ nhìn Accuracy.</a:t>
            </a:r>
            <a:endParaRPr lang="en-US" sz="1600" dirty="0"/>
          </a:p>
        </p:txBody>
      </p:sp>
      <p:sp>
        <p:nvSpPr>
          <p:cNvPr id="14" name="Text 12"/>
          <p:cNvSpPr/>
          <p:nvPr/>
        </p:nvSpPr>
        <p:spPr>
          <a:xfrm>
            <a:off x="812777" y="6238326"/>
            <a:ext cx="9810750"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Nguồn: UCI, Realinho và cộng sự; Viện Bách khoa Portalegre (Bồ Đào Nha), 2008 đến 2019</a:t>
            </a:r>
            <a:endParaRPr lang="en-US" sz="1200" dirty="0"/>
          </a:p>
        </p:txBody>
      </p:sp>
      <p:sp>
        <p:nvSpPr>
          <p:cNvPr id="15" name="Text 13"/>
          <p:cNvSpPr/>
          <p:nvPr/>
        </p:nvSpPr>
        <p:spPr>
          <a:xfrm>
            <a:off x="10961905" y="6238326"/>
            <a:ext cx="500782"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8"/>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F7A5E"/>
                </a:solidFill>
                <a:latin typeface="Be Vietnam Pro" pitchFamily="34" charset="0"/>
                <a:ea typeface="Be Vietnam Pro" pitchFamily="34" charset="-122"/>
                <a:cs typeface="Be Vietnam Pro" pitchFamily="34" charset="-120"/>
              </a:rPr>
              <a:t>CHỈ GIỮ SỐ LIỆU CẦN</a:t>
            </a:r>
            <a:endParaRPr lang="en-US" sz="1300" dirty="0"/>
          </a:p>
        </p:txBody>
      </p:sp>
      <p:sp>
        <p:nvSpPr>
          <p:cNvPr id="3" name="Text 1"/>
          <p:cNvSpPr/>
          <p:nvPr>
            <p:ph type="title"/>
          </p:nvPr>
        </p:nvSpPr>
        <p:spPr>
          <a:xfrm>
            <a:off x="812777" y="1145400"/>
            <a:ext cx="10883439" cy="492742"/>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7243A"/>
                </a:solidFill>
                <a:latin typeface="Lora" pitchFamily="18" charset="0"/>
                <a:ea typeface="Lora" pitchFamily="18" charset="-122"/>
                <a:cs typeface="Lora" pitchFamily="18" charset="-120"/>
              </a:rPr>
              <a:t>Tám chỉ số quanh ô là đủ để đoán</a:t>
            </a:r>
            <a:endParaRPr lang="en-US" sz="3200" dirty="0"/>
          </a:p>
        </p:txBody>
      </p:sp>
      <p:sp>
        <p:nvSpPr>
          <p:cNvPr id="4" name="Shape 2"/>
          <p:cNvSpPr/>
          <p:nvPr/>
        </p:nvSpPr>
        <p:spPr>
          <a:xfrm>
            <a:off x="815952" y="2421359"/>
            <a:ext cx="3380301" cy="2059684"/>
          </a:xfrm>
          <a:prstGeom prst="roundRect">
            <a:avLst>
              <a:gd name="adj" fmla="val 4779"/>
            </a:avLst>
          </a:prstGeom>
          <a:solidFill>
            <a:srgbClr val="FFFFFF"/>
          </a:solidFill>
          <a:ln w="6350">
            <a:solidFill>
              <a:srgbClr val="DDD8CC"/>
            </a:solidFill>
            <a:prstDash val="solid"/>
          </a:ln>
        </p:spPr>
      </p:sp>
      <p:sp>
        <p:nvSpPr>
          <p:cNvPr id="5" name="Text 3"/>
          <p:cNvSpPr/>
          <p:nvPr/>
        </p:nvSpPr>
        <p:spPr>
          <a:xfrm>
            <a:off x="1071117" y="2676525"/>
            <a:ext cx="295607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7A5E"/>
                </a:solidFill>
                <a:latin typeface="Be Vietnam Pro" pitchFamily="34" charset="0"/>
                <a:ea typeface="Be Vietnam Pro" pitchFamily="34" charset="-122"/>
                <a:cs typeface="Be Vietnam Pro" pitchFamily="34" charset="-120"/>
              </a:rPr>
              <a:t>Tiền bạc</a:t>
            </a:r>
            <a:endParaRPr lang="en-US" sz="2000" dirty="0"/>
          </a:p>
        </p:txBody>
      </p:sp>
      <p:sp>
        <p:nvSpPr>
          <p:cNvPr id="6" name="Text 4"/>
          <p:cNvSpPr/>
          <p:nvPr/>
        </p:nvSpPr>
        <p:spPr>
          <a:xfrm>
            <a:off x="1142237" y="3082878"/>
            <a:ext cx="2877331"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Đóng học phí đủ hạn</a:t>
            </a:r>
            <a:endParaRPr lang="en-US" sz="1500" dirty="0"/>
          </a:p>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Đang nợ</a:t>
            </a:r>
            <a:endParaRPr lang="en-US" sz="1500" dirty="0"/>
          </a:p>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Có học bổng</a:t>
            </a:r>
            <a:endParaRPr lang="en-US" sz="1500" dirty="0"/>
          </a:p>
        </p:txBody>
      </p:sp>
      <p:sp>
        <p:nvSpPr>
          <p:cNvPr id="7" name="Shape 5"/>
          <p:cNvSpPr/>
          <p:nvPr/>
        </p:nvSpPr>
        <p:spPr>
          <a:xfrm>
            <a:off x="4405781" y="2421359"/>
            <a:ext cx="3380370" cy="2059684"/>
          </a:xfrm>
          <a:prstGeom prst="roundRect">
            <a:avLst>
              <a:gd name="adj" fmla="val 4779"/>
            </a:avLst>
          </a:prstGeom>
          <a:solidFill>
            <a:srgbClr val="FFFFFF"/>
          </a:solidFill>
          <a:ln w="6350">
            <a:solidFill>
              <a:srgbClr val="DDD8CC"/>
            </a:solidFill>
            <a:prstDash val="solid"/>
          </a:ln>
        </p:spPr>
      </p:sp>
      <p:sp>
        <p:nvSpPr>
          <p:cNvPr id="8" name="Text 6"/>
          <p:cNvSpPr/>
          <p:nvPr/>
        </p:nvSpPr>
        <p:spPr>
          <a:xfrm>
            <a:off x="4660946" y="2676525"/>
            <a:ext cx="29561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7A5E"/>
                </a:solidFill>
                <a:latin typeface="Be Vietnam Pro" pitchFamily="34" charset="0"/>
                <a:ea typeface="Be Vietnam Pro" pitchFamily="34" charset="-122"/>
                <a:cs typeface="Be Vietnam Pro" pitchFamily="34" charset="-120"/>
              </a:rPr>
              <a:t>Học lực</a:t>
            </a:r>
            <a:endParaRPr lang="en-US" sz="2000" dirty="0"/>
          </a:p>
        </p:txBody>
      </p:sp>
      <p:sp>
        <p:nvSpPr>
          <p:cNvPr id="9" name="Text 7"/>
          <p:cNvSpPr/>
          <p:nvPr/>
        </p:nvSpPr>
        <p:spPr>
          <a:xfrm>
            <a:off x="4732066" y="3082878"/>
            <a:ext cx="2877401"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Số môn qua học kỳ 1</a:t>
            </a:r>
            <a:endParaRPr lang="en-US" sz="1500" dirty="0"/>
          </a:p>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Điểm học kỳ 1</a:t>
            </a:r>
            <a:endParaRPr lang="en-US" sz="1500" dirty="0"/>
          </a:p>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Số môn qua học kỳ 2</a:t>
            </a:r>
            <a:endParaRPr lang="en-US" sz="1500" dirty="0"/>
          </a:p>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Điểm học kỳ 2</a:t>
            </a:r>
            <a:endParaRPr lang="en-US" sz="1500" dirty="0"/>
          </a:p>
        </p:txBody>
      </p:sp>
      <p:sp>
        <p:nvSpPr>
          <p:cNvPr id="10" name="Shape 8"/>
          <p:cNvSpPr/>
          <p:nvPr/>
        </p:nvSpPr>
        <p:spPr>
          <a:xfrm>
            <a:off x="7995678" y="2421359"/>
            <a:ext cx="3380370" cy="2059684"/>
          </a:xfrm>
          <a:prstGeom prst="roundRect">
            <a:avLst>
              <a:gd name="adj" fmla="val 4779"/>
            </a:avLst>
          </a:prstGeom>
          <a:solidFill>
            <a:srgbClr val="FFFFFF"/>
          </a:solidFill>
          <a:ln w="6350">
            <a:solidFill>
              <a:srgbClr val="DDD8CC"/>
            </a:solidFill>
            <a:prstDash val="solid"/>
          </a:ln>
        </p:spPr>
      </p:sp>
      <p:sp>
        <p:nvSpPr>
          <p:cNvPr id="11" name="Text 9"/>
          <p:cNvSpPr/>
          <p:nvPr/>
        </p:nvSpPr>
        <p:spPr>
          <a:xfrm>
            <a:off x="8250843" y="2676525"/>
            <a:ext cx="29561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7A5E"/>
                </a:solidFill>
                <a:latin typeface="Be Vietnam Pro" pitchFamily="34" charset="0"/>
                <a:ea typeface="Be Vietnam Pro" pitchFamily="34" charset="-122"/>
                <a:cs typeface="Be Vietnam Pro" pitchFamily="34" charset="-120"/>
              </a:rPr>
              <a:t>Hoàn cảnh</a:t>
            </a:r>
            <a:endParaRPr lang="en-US" sz="2000" dirty="0"/>
          </a:p>
        </p:txBody>
      </p:sp>
      <p:sp>
        <p:nvSpPr>
          <p:cNvPr id="12" name="Text 10"/>
          <p:cNvSpPr/>
          <p:nvPr/>
        </p:nvSpPr>
        <p:spPr>
          <a:xfrm>
            <a:off x="8321963" y="3082878"/>
            <a:ext cx="2877401" cy="311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7243A"/>
                </a:solidFill>
                <a:latin typeface="Be Vietnam Pro" pitchFamily="34" charset="0"/>
                <a:ea typeface="Be Vietnam Pro" pitchFamily="34" charset="-122"/>
                <a:cs typeface="Be Vietnam Pro" pitchFamily="34" charset="-120"/>
              </a:rPr>
              <a:t>Tuổi lúc nhập học</a:t>
            </a:r>
            <a:endParaRPr lang="en-US" sz="1500" dirty="0"/>
          </a:p>
        </p:txBody>
      </p:sp>
      <p:sp>
        <p:nvSpPr>
          <p:cNvPr id="13" name="Text 11"/>
          <p:cNvSpPr/>
          <p:nvPr/>
        </p:nvSpPr>
        <p:spPr>
          <a:xfrm>
            <a:off x="812777" y="5289597"/>
            <a:ext cx="1088343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Be Vietnam Pro" pitchFamily="34" charset="0"/>
                <a:ea typeface="Be Vietnam Pro" pitchFamily="34" charset="-122"/>
                <a:cs typeface="Be Vietnam Pro" pitchFamily="34" charset="-120"/>
              </a:rPr>
              <a:t>Các cột còn lại (nghề nghiệp bố mẹ, GDP, lạm phát...) để ngoài. Không phải vì chắc chắn vô ích, mà vì câu hỏi gốc không cần chúng mới trả lời được.</a:t>
            </a:r>
            <a:endParaRPr lang="en-US" sz="1500" dirty="0"/>
          </a:p>
        </p:txBody>
      </p:sp>
      <p:sp>
        <p:nvSpPr>
          <p:cNvPr id="14" name="Text 12"/>
          <p:cNvSpPr/>
          <p:nvPr/>
        </p:nvSpPr>
        <p:spPr>
          <a:xfrm>
            <a:off x="812777" y="6238326"/>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5" name="Text 13"/>
          <p:cNvSpPr/>
          <p:nvPr/>
        </p:nvSpPr>
        <p:spPr>
          <a:xfrm>
            <a:off x="10969511" y="6238326"/>
            <a:ext cx="491654"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8"/>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F7A5E"/>
                </a:solidFill>
                <a:latin typeface="Be Vietnam Pro" pitchFamily="34" charset="0"/>
                <a:ea typeface="Be Vietnam Pro" pitchFamily="34" charset="-122"/>
                <a:cs typeface="Be Vietnam Pro" pitchFamily="34" charset="-120"/>
              </a:rPr>
              <a:t>DỮ LIỆU NÓI GÌ</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7243A"/>
                </a:solidFill>
                <a:latin typeface="Lora" pitchFamily="18" charset="0"/>
                <a:ea typeface="Lora" pitchFamily="18" charset="-122"/>
                <a:cs typeface="Lora" pitchFamily="18" charset="-120"/>
              </a:rPr>
              <a:t>Tiền bạc là tín hiệu rõ nhất</a:t>
            </a:r>
            <a:endParaRPr lang="en-US" sz="3000" dirty="0"/>
          </a:p>
        </p:txBody>
      </p:sp>
      <p:sp>
        <p:nvSpPr>
          <p:cNvPr id="4" name="Shape 2"/>
          <p:cNvSpPr/>
          <p:nvPr/>
        </p:nvSpPr>
        <p:spPr>
          <a:xfrm>
            <a:off x="812777" y="2374947"/>
            <a:ext cx="5587954" cy="3467100"/>
          </a:xfrm>
          <a:prstGeom prst="roundRect">
            <a:avLst>
              <a:gd name="adj" fmla="val 2930"/>
            </a:avLst>
          </a:prstGeom>
          <a:solidFill>
            <a:srgbClr val="FFFFFF"/>
          </a:solidFill>
          <a:ln/>
        </p:spPr>
      </p:sp>
      <p:pic>
        <p:nvPicPr>
          <p:cNvPr id="5" name="Image 0" descr="Biểu đồ cột: tỉ lệ bỏ học theo nhóm. Chưa đóng đủ học phí 94 phần trăm, đã đóng đủ 31 phần trăm, đang nợ 76, không nợ 34, không học bổng 48, có học bổng 14.">    </p:cNvPr>
          <p:cNvPicPr>
            <a:picLocks noChangeAspect="1"/>
          </p:cNvPicPr>
          <p:nvPr/>
        </p:nvPicPr>
        <p:blipFill>
          <a:blip r:embed="rId1"/>
          <a:srcRect l="0" r="0" t="-114" b="-114"/>
          <a:stretch/>
        </p:blipFill>
        <p:spPr>
          <a:xfrm>
            <a:off x="819127" y="2381297"/>
            <a:ext cx="5575254" cy="3454400"/>
          </a:xfrm>
          <a:prstGeom prst="roundRect">
            <a:avLst>
              <a:gd name="adj" fmla="val 2757"/>
            </a:avLst>
          </a:prstGeom>
        </p:spPr>
      </p:pic>
      <p:sp>
        <p:nvSpPr>
          <p:cNvPr id="6" name="Shape 3"/>
          <p:cNvSpPr/>
          <p:nvPr/>
        </p:nvSpPr>
        <p:spPr>
          <a:xfrm>
            <a:off x="815952" y="2378122"/>
            <a:ext cx="5581604" cy="3460750"/>
          </a:xfrm>
          <a:prstGeom prst="roundRect">
            <a:avLst>
              <a:gd name="adj" fmla="val 2844"/>
            </a:avLst>
          </a:prstGeom>
          <a:noFill/>
          <a:ln w="6350">
            <a:solidFill>
              <a:srgbClr val="DDD8CC"/>
            </a:solidFill>
            <a:prstDash val="solid"/>
          </a:ln>
        </p:spPr>
      </p:sp>
      <p:sp>
        <p:nvSpPr>
          <p:cNvPr id="7" name="Text 4"/>
          <p:cNvSpPr/>
          <p:nvPr/>
        </p:nvSpPr>
        <p:spPr>
          <a:xfrm>
            <a:off x="6705532" y="3065884"/>
            <a:ext cx="4813902"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52F"/>
                </a:solidFill>
                <a:latin typeface="Be Vietnam Pro" pitchFamily="34" charset="0"/>
                <a:ea typeface="Be Vietnam Pro" pitchFamily="34" charset="-122"/>
                <a:cs typeface="Be Vietnam Pro" pitchFamily="34" charset="-120"/>
              </a:rPr>
              <a:t>94% so với 31%</a:t>
            </a:r>
            <a:endParaRPr lang="en-US" sz="1700" dirty="0"/>
          </a:p>
        </p:txBody>
      </p:sp>
      <p:sp>
        <p:nvSpPr>
          <p:cNvPr id="8" name="Text 5"/>
          <p:cNvSpPr/>
          <p:nvPr/>
        </p:nvSpPr>
        <p:spPr>
          <a:xfrm>
            <a:off x="6705532" y="3393504"/>
            <a:ext cx="4813902"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bỏ học: chưa đóng đủ học phí so với đã đóng đủ</a:t>
            </a:r>
            <a:endParaRPr lang="en-US" sz="1400" dirty="0"/>
          </a:p>
        </p:txBody>
      </p:sp>
      <p:sp>
        <p:nvSpPr>
          <p:cNvPr id="9" name="Text 6"/>
          <p:cNvSpPr/>
          <p:nvPr/>
        </p:nvSpPr>
        <p:spPr>
          <a:xfrm>
            <a:off x="6705532" y="3820210"/>
            <a:ext cx="4813902"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52F"/>
                </a:solidFill>
                <a:latin typeface="Be Vietnam Pro" pitchFamily="34" charset="0"/>
                <a:ea typeface="Be Vietnam Pro" pitchFamily="34" charset="-122"/>
                <a:cs typeface="Be Vietnam Pro" pitchFamily="34" charset="-120"/>
              </a:rPr>
              <a:t>76% so với 34%</a:t>
            </a:r>
            <a:endParaRPr lang="en-US" sz="1700" dirty="0"/>
          </a:p>
        </p:txBody>
      </p:sp>
      <p:sp>
        <p:nvSpPr>
          <p:cNvPr id="10" name="Text 7"/>
          <p:cNvSpPr/>
          <p:nvPr/>
        </p:nvSpPr>
        <p:spPr>
          <a:xfrm>
            <a:off x="6705532" y="4147831"/>
            <a:ext cx="4813902"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bỏ học: đang nợ so với không nợ</a:t>
            </a:r>
            <a:endParaRPr lang="en-US" sz="1400" dirty="0"/>
          </a:p>
        </p:txBody>
      </p:sp>
      <p:sp>
        <p:nvSpPr>
          <p:cNvPr id="11" name="Text 8"/>
          <p:cNvSpPr/>
          <p:nvPr/>
        </p:nvSpPr>
        <p:spPr>
          <a:xfrm>
            <a:off x="6705532" y="4574536"/>
            <a:ext cx="4813902"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F7A5E"/>
                </a:solidFill>
                <a:latin typeface="Be Vietnam Pro" pitchFamily="34" charset="0"/>
                <a:ea typeface="Be Vietnam Pro" pitchFamily="34" charset="-122"/>
                <a:cs typeface="Be Vietnam Pro" pitchFamily="34" charset="-120"/>
              </a:rPr>
              <a:t>14% so với 48%</a:t>
            </a:r>
            <a:endParaRPr lang="en-US" sz="1700" dirty="0"/>
          </a:p>
        </p:txBody>
      </p:sp>
      <p:sp>
        <p:nvSpPr>
          <p:cNvPr id="12" name="Text 9"/>
          <p:cNvSpPr/>
          <p:nvPr/>
        </p:nvSpPr>
        <p:spPr>
          <a:xfrm>
            <a:off x="6705532" y="4902153"/>
            <a:ext cx="4813902"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bỏ học: có học bổng so với không</a:t>
            </a:r>
            <a:endParaRPr lang="en-US" sz="1400" dirty="0"/>
          </a:p>
        </p:txBody>
      </p:sp>
      <p:sp>
        <p:nvSpPr>
          <p:cNvPr id="13" name="Text 10"/>
          <p:cNvSpPr/>
          <p:nvPr/>
        </p:nvSpPr>
        <p:spPr>
          <a:xfrm>
            <a:off x="812777" y="6238326"/>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4" name="Text 11"/>
          <p:cNvSpPr/>
          <p:nvPr/>
        </p:nvSpPr>
        <p:spPr>
          <a:xfrm>
            <a:off x="10966496" y="6238326"/>
            <a:ext cx="495273"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8"/>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F7A5E"/>
                </a:solidFill>
                <a:latin typeface="Be Vietnam Pro" pitchFamily="34" charset="0"/>
                <a:ea typeface="Be Vietnam Pro" pitchFamily="34" charset="-122"/>
                <a:cs typeface="Be Vietnam Pro" pitchFamily="34" charset="-120"/>
              </a:rPr>
              <a:t>TOÁN 1 · ĐẠI SỐ TUYẾN TÍNH</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7243A"/>
                </a:solidFill>
                <a:latin typeface="Lora" pitchFamily="18" charset="0"/>
                <a:ea typeface="Lora" pitchFamily="18" charset="-122"/>
                <a:cs typeface="Lora" pitchFamily="18" charset="-120"/>
              </a:rPr>
              <a:t>Biến mỗi sinh viên thành những con số</a:t>
            </a:r>
            <a:endParaRPr lang="en-US" sz="3000" dirty="0"/>
          </a:p>
        </p:txBody>
      </p:sp>
      <p:sp>
        <p:nvSpPr>
          <p:cNvPr id="4" name="Shape 2"/>
          <p:cNvSpPr/>
          <p:nvPr/>
        </p:nvSpPr>
        <p:spPr>
          <a:xfrm>
            <a:off x="815952" y="2432735"/>
            <a:ext cx="3380301" cy="1892140"/>
          </a:xfrm>
          <a:prstGeom prst="roundRect">
            <a:avLst>
              <a:gd name="adj" fmla="val 5202"/>
            </a:avLst>
          </a:prstGeom>
          <a:solidFill>
            <a:srgbClr val="FFFFFF"/>
          </a:solidFill>
          <a:ln w="6350">
            <a:solidFill>
              <a:srgbClr val="DDD8CC"/>
            </a:solidFill>
            <a:prstDash val="solid"/>
          </a:ln>
        </p:spPr>
      </p:sp>
      <p:sp>
        <p:nvSpPr>
          <p:cNvPr id="5" name="Text 3"/>
          <p:cNvSpPr/>
          <p:nvPr/>
        </p:nvSpPr>
        <p:spPr>
          <a:xfrm>
            <a:off x="1045763" y="2662544"/>
            <a:ext cx="3008301" cy="314919"/>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F7A5E"/>
                </a:solidFill>
                <a:latin typeface="Be Vietnam Pro" pitchFamily="34" charset="0"/>
                <a:ea typeface="Be Vietnam Pro" pitchFamily="34" charset="-122"/>
                <a:cs typeface="Be Vietnam Pro" pitchFamily="34" charset="-120"/>
              </a:rPr>
              <a:t>Vector</a:t>
            </a:r>
            <a:endParaRPr lang="en-US" sz="1900" dirty="0"/>
          </a:p>
        </p:txBody>
      </p:sp>
      <p:sp>
        <p:nvSpPr>
          <p:cNvPr id="6" name="Text 4"/>
          <p:cNvSpPr/>
          <p:nvPr/>
        </p:nvSpPr>
        <p:spPr>
          <a:xfrm>
            <a:off x="1045763" y="3028265"/>
            <a:ext cx="300830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Một sinh viên là dãy 8 số: học phí, nợ, học bổng, tuổi, môn qua và điểm hai học kỳ.</a:t>
            </a:r>
            <a:endParaRPr lang="en-US" sz="1500" dirty="0"/>
          </a:p>
        </p:txBody>
      </p:sp>
      <p:sp>
        <p:nvSpPr>
          <p:cNvPr id="7" name="Shape 5"/>
          <p:cNvSpPr/>
          <p:nvPr/>
        </p:nvSpPr>
        <p:spPr>
          <a:xfrm>
            <a:off x="4405781" y="2432735"/>
            <a:ext cx="3380370" cy="1892140"/>
          </a:xfrm>
          <a:prstGeom prst="roundRect">
            <a:avLst>
              <a:gd name="adj" fmla="val 5202"/>
            </a:avLst>
          </a:prstGeom>
          <a:solidFill>
            <a:srgbClr val="FFFFFF"/>
          </a:solidFill>
          <a:ln w="6350">
            <a:solidFill>
              <a:srgbClr val="DDD8CC"/>
            </a:solidFill>
            <a:prstDash val="solid"/>
          </a:ln>
        </p:spPr>
      </p:sp>
      <p:sp>
        <p:nvSpPr>
          <p:cNvPr id="8" name="Text 6"/>
          <p:cNvSpPr/>
          <p:nvPr/>
        </p:nvSpPr>
        <p:spPr>
          <a:xfrm>
            <a:off x="4635591" y="2662544"/>
            <a:ext cx="3008371" cy="314919"/>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F7A5E"/>
                </a:solidFill>
                <a:latin typeface="Be Vietnam Pro" pitchFamily="34" charset="0"/>
                <a:ea typeface="Be Vietnam Pro" pitchFamily="34" charset="-122"/>
                <a:cs typeface="Be Vietnam Pro" pitchFamily="34" charset="-120"/>
              </a:rPr>
              <a:t>Ma trận</a:t>
            </a:r>
            <a:endParaRPr lang="en-US" sz="1900" dirty="0"/>
          </a:p>
        </p:txBody>
      </p:sp>
      <p:sp>
        <p:nvSpPr>
          <p:cNvPr id="9" name="Text 7"/>
          <p:cNvSpPr/>
          <p:nvPr/>
        </p:nvSpPr>
        <p:spPr>
          <a:xfrm>
            <a:off x="4635591" y="3028265"/>
            <a:ext cx="300837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Cả lớp xếp lại thành bảng 3.630 hàng × 8 cột. Mỗi hàng là một em.</a:t>
            </a:r>
            <a:endParaRPr lang="en-US" sz="1500" dirty="0"/>
          </a:p>
        </p:txBody>
      </p:sp>
      <p:sp>
        <p:nvSpPr>
          <p:cNvPr id="10" name="Shape 8"/>
          <p:cNvSpPr/>
          <p:nvPr/>
        </p:nvSpPr>
        <p:spPr>
          <a:xfrm>
            <a:off x="7995678" y="2432735"/>
            <a:ext cx="3380370" cy="1892140"/>
          </a:xfrm>
          <a:prstGeom prst="roundRect">
            <a:avLst>
              <a:gd name="adj" fmla="val 5202"/>
            </a:avLst>
          </a:prstGeom>
          <a:solidFill>
            <a:srgbClr val="FFFFFF"/>
          </a:solidFill>
          <a:ln w="6350">
            <a:solidFill>
              <a:srgbClr val="DDD8CC"/>
            </a:solidFill>
            <a:prstDash val="solid"/>
          </a:ln>
        </p:spPr>
      </p:sp>
      <p:sp>
        <p:nvSpPr>
          <p:cNvPr id="11" name="Text 9"/>
          <p:cNvSpPr/>
          <p:nvPr/>
        </p:nvSpPr>
        <p:spPr>
          <a:xfrm>
            <a:off x="8225489" y="2662544"/>
            <a:ext cx="3008371" cy="314919"/>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F7A5E"/>
                </a:solidFill>
                <a:latin typeface="Be Vietnam Pro" pitchFamily="34" charset="0"/>
                <a:ea typeface="Be Vietnam Pro" pitchFamily="34" charset="-122"/>
                <a:cs typeface="Be Vietnam Pro" pitchFamily="34" charset="-120"/>
              </a:rPr>
              <a:t>Tích vô hướng</a:t>
            </a:r>
            <a:endParaRPr lang="en-US" sz="1900" dirty="0"/>
          </a:p>
        </p:txBody>
      </p:sp>
      <p:sp>
        <p:nvSpPr>
          <p:cNvPr id="12" name="Text 10"/>
          <p:cNvSpPr/>
          <p:nvPr/>
        </p:nvSpPr>
        <p:spPr>
          <a:xfrm>
            <a:off x="8225489" y="3028265"/>
            <a:ext cx="3008371"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Mỗi chỉ số nhân một trọng số rồi cộng lại thành “mức nguy hiểm”. Trọng số lớn nghĩa là chỉ số đó nặng ký.</a:t>
            </a:r>
            <a:endParaRPr lang="en-US" sz="1500" dirty="0"/>
          </a:p>
        </p:txBody>
      </p:sp>
      <p:sp>
        <p:nvSpPr>
          <p:cNvPr id="13" name="Text 11"/>
          <p:cNvSpPr/>
          <p:nvPr/>
        </p:nvSpPr>
        <p:spPr>
          <a:xfrm>
            <a:off x="812777" y="5174062"/>
            <a:ext cx="10883439" cy="380977"/>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17243A"/>
                </a:solidFill>
                <a:latin typeface="Lora" pitchFamily="18" charset="0"/>
                <a:ea typeface="Lora" pitchFamily="18" charset="-122"/>
                <a:cs typeface="Lora" pitchFamily="18" charset="-120"/>
              </a:rPr>
              <a:t>z = w₁x₁ + w₂x₂ + … + w₈x₈ + b</a:t>
            </a:r>
            <a:endParaRPr lang="en-US" sz="2000" dirty="0"/>
          </a:p>
        </p:txBody>
      </p:sp>
      <p:sp>
        <p:nvSpPr>
          <p:cNvPr id="14" name="Text 12"/>
          <p:cNvSpPr/>
          <p:nvPr/>
        </p:nvSpPr>
        <p:spPr>
          <a:xfrm>
            <a:off x="812777" y="5593094"/>
            <a:ext cx="10883439"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Trước đó phải chuẩn hóa từng cột, để tuổi (17 đến 70) không lấn át cột chỉ có 0 và 1.</a:t>
            </a:r>
            <a:endParaRPr lang="en-US" sz="1400" dirty="0"/>
          </a:p>
        </p:txBody>
      </p:sp>
      <p:sp>
        <p:nvSpPr>
          <p:cNvPr id="15" name="Text 13"/>
          <p:cNvSpPr/>
          <p:nvPr/>
        </p:nvSpPr>
        <p:spPr>
          <a:xfrm>
            <a:off x="812777" y="6238326"/>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6" name="Text 14"/>
          <p:cNvSpPr/>
          <p:nvPr/>
        </p:nvSpPr>
        <p:spPr>
          <a:xfrm>
            <a:off x="10979584" y="6238326"/>
            <a:ext cx="479567"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243A"/>
        </a:solidFill>
      </p:bgPr>
    </p:bg>
    <p:spTree>
      <p:nvGrpSpPr>
        <p:cNvPr id="1" name=""/>
        <p:cNvGrpSpPr/>
        <p:nvPr/>
      </p:nvGrpSpPr>
      <p:grpSpPr>
        <a:xfrm>
          <a:off x="0" y="0"/>
          <a:ext cx="0" cy="0"/>
          <a:chOff x="0" y="0"/>
          <a:chExt cx="0" cy="0"/>
        </a:xfrm>
      </p:grpSpPr>
      <p:sp>
        <p:nvSpPr>
          <p:cNvPr id="2" name="Text 0"/>
          <p:cNvSpPr/>
          <p:nvPr/>
        </p:nvSpPr>
        <p:spPr>
          <a:xfrm>
            <a:off x="812777" y="812778"/>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C078"/>
                </a:solidFill>
                <a:latin typeface="Be Vietnam Pro" pitchFamily="34" charset="0"/>
                <a:ea typeface="Be Vietnam Pro" pitchFamily="34" charset="-122"/>
                <a:cs typeface="Be Vietnam Pro" pitchFamily="34" charset="-120"/>
              </a:rPr>
              <a:t>TOÁN 2 · XÁC SUẤT VÀ HÀM MẤT MÁT</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3EC"/>
                </a:solidFill>
                <a:latin typeface="Lora" pitchFamily="18" charset="0"/>
                <a:ea typeface="Lora" pitchFamily="18" charset="-122"/>
                <a:cs typeface="Lora" pitchFamily="18" charset="-120"/>
              </a:rPr>
              <a:t>Phạt nặng khi tự tin mà đoán sai</a:t>
            </a:r>
            <a:endParaRPr lang="en-US" sz="3000" dirty="0"/>
          </a:p>
        </p:txBody>
      </p:sp>
      <p:sp>
        <p:nvSpPr>
          <p:cNvPr id="4" name="Text 2"/>
          <p:cNvSpPr/>
          <p:nvPr/>
        </p:nvSpPr>
        <p:spPr>
          <a:xfrm>
            <a:off x="812777" y="3537614"/>
            <a:ext cx="5258562" cy="9091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C9D2DE"/>
                </a:solidFill>
                <a:latin typeface="Be Vietnam Pro" pitchFamily="34" charset="0"/>
                <a:ea typeface="Be Vietnam Pro" pitchFamily="34" charset="-122"/>
                <a:cs typeface="Be Vietnam Pro" pitchFamily="34" charset="-120"/>
              </a:rPr>
              <a:t>Hàm sigmoid nén “mức nguy hiểm” thành xác suất p từ 0 đến 1, để giáo viên đọc được: “em này có 80% khả năng bỏ học”.</a:t>
            </a:r>
            <a:endParaRPr lang="en-US" sz="1600" dirty="0"/>
          </a:p>
        </p:txBody>
      </p:sp>
      <p:sp>
        <p:nvSpPr>
          <p:cNvPr id="5" name="Text 3"/>
          <p:cNvSpPr/>
          <p:nvPr/>
        </p:nvSpPr>
        <p:spPr>
          <a:xfrm>
            <a:off x="812777" y="4548361"/>
            <a:ext cx="5258562" cy="363161"/>
          </a:xfrm>
          <a:prstGeom prst="rect">
            <a:avLst/>
          </a:prstGeom>
          <a:noFill/>
          <a:ln/>
        </p:spPr>
        <p:txBody>
          <a:bodyPr wrap="square" lIns="0" tIns="0" rIns="0" bIns="0" rtlCol="0" anchor="t">
            <a:normAutofit/>
          </a:bodyPr>
          <a:lstStyle/>
          <a:p>
            <a:pPr algn="l" indent="0" marL="0">
              <a:lnSpc>
                <a:spcPts val="2660"/>
              </a:lnSpc>
              <a:buNone/>
            </a:pPr>
            <a:r>
              <a:rPr lang="en-US" sz="1900" i="1" dirty="0">
                <a:solidFill>
                  <a:srgbClr val="F6F3EC"/>
                </a:solidFill>
                <a:latin typeface="Lora" pitchFamily="18" charset="0"/>
                <a:ea typeface="Lora" pitchFamily="18" charset="-122"/>
                <a:cs typeface="Lora" pitchFamily="18" charset="-120"/>
              </a:rPr>
              <a:t>p = 1 / (1 + e</a:t>
            </a:r>
            <a:r>
              <a:rPr lang="en-US" sz="1900" i="1" dirty="0">
                <a:solidFill>
                  <a:srgbClr val="F2C078"/>
                </a:solidFill>
                <a:latin typeface="Lora" pitchFamily="18" charset="0"/>
                <a:ea typeface="Lora" pitchFamily="18" charset="-122"/>
                <a:cs typeface="Lora" pitchFamily="18" charset="-120"/>
              </a:rPr>
              <a:t>−z</a:t>
            </a:r>
            <a:r>
              <a:rPr lang="en-US" sz="1900" i="1" dirty="0">
                <a:solidFill>
                  <a:srgbClr val="F6F3EC"/>
                </a:solidFill>
                <a:latin typeface="Lora" pitchFamily="18" charset="0"/>
                <a:ea typeface="Lora" pitchFamily="18" charset="-122"/>
                <a:cs typeface="Lora" pitchFamily="18" charset="-120"/>
              </a:rPr>
              <a:t>)</a:t>
            </a:r>
            <a:endParaRPr lang="en-US" sz="1900" dirty="0"/>
          </a:p>
        </p:txBody>
      </p:sp>
      <p:sp>
        <p:nvSpPr>
          <p:cNvPr id="6" name="Text 4"/>
          <p:cNvSpPr/>
          <p:nvPr/>
        </p:nvSpPr>
        <p:spPr>
          <a:xfrm>
            <a:off x="812777" y="5013096"/>
            <a:ext cx="525856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9D2DE"/>
                </a:solidFill>
                <a:latin typeface="Be Vietnam Pro" pitchFamily="34" charset="0"/>
                <a:ea typeface="Be Vietnam Pro" pitchFamily="34" charset="-122"/>
                <a:cs typeface="Be Vietnam Pro" pitchFamily="34" charset="-120"/>
              </a:rPr>
              <a:t>Mức phạt là −ln p nếu thật sự bỏ học, và −ln(1 − p) nếu thật sự an toàn. Cực tiểu hóa nó cũng là làm dữ liệu thật có khả năng xảy ra cao nhất.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82525" y="3546385"/>
          <a:ext cx="5096697" cy="1635285"/>
        </p:xfrm>
        <a:graphic>
          <a:graphicData uri="http://schemas.openxmlformats.org/drawingml/2006/table">
            <a:tbl>
              <a:tblPr/>
              <a:tblGrid>
                <a:gridCol w="1834811"/>
                <a:gridCol w="1630943"/>
                <a:gridCol w="1630943"/>
              </a:tblGrid>
              <a:tr h="408821">
                <a:tc>
                  <a:txBody>
                    <a:bodyPr/>
                    <a:lstStyle/>
                    <a:p>
                      <a:pPr indent="0" marL="0">
                        <a:lnSpc>
                          <a:spcPts val="2100"/>
                        </a:lnSpc>
                        <a:buNone/>
                      </a:pPr>
                      <a:r>
                        <a:rPr lang="en-US" sz="1500" b="1" dirty="0">
                          <a:solidFill>
                            <a:srgbClr val="F6F3EC"/>
                          </a:solidFill>
                          <a:latin typeface="Be Vietnam Pro" pitchFamily="34" charset="0"/>
                          <a:ea typeface="Be Vietnam Pro" pitchFamily="34" charset="-122"/>
                          <a:cs typeface="Be Vietnam Pro" pitchFamily="34" charset="-120"/>
                        </a:rPr>
                        <a:t>Mô hình đoán p</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57606F"/>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57606F"/>
                      </a:solidFill>
                      <a:prstDash val="solid"/>
                      <a:round/>
                      <a:headEnd type="none" w="med" len="med"/>
                      <a:tailEnd type="none" w="med" len="med"/>
                    </a:lnB>
                    <a:solidFill>
                      <a:srgbClr val="293549"/>
                    </a:solidFill>
                  </a:tcPr>
                </a:tc>
                <a:tc>
                  <a:txBody>
                    <a:bodyPr/>
                    <a:lstStyle/>
                    <a:p>
                      <a:pPr algn="r" indent="0" marL="0">
                        <a:lnSpc>
                          <a:spcPts val="2100"/>
                        </a:lnSpc>
                        <a:buNone/>
                      </a:pPr>
                      <a:r>
                        <a:rPr lang="en-US" sz="1500" b="1" dirty="0">
                          <a:solidFill>
                            <a:srgbClr val="F6F3EC"/>
                          </a:solidFill>
                          <a:latin typeface="Be Vietnam Pro" pitchFamily="34" charset="0"/>
                          <a:ea typeface="Be Vietnam Pro" pitchFamily="34" charset="-122"/>
                          <a:cs typeface="Be Vietnam Pro" pitchFamily="34" charset="-120"/>
                        </a:rPr>
                        <a:t>Thật: bỏ học</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57606F"/>
                      </a:solidFill>
                      <a:prstDash val="solid"/>
                      <a:round/>
                      <a:headEnd type="none" w="med" len="med"/>
                      <a:tailEnd type="none" w="med" len="med"/>
                    </a:lnL>
                    <a:lnR w="12700" cap="flat" cmpd="sng" algn="ctr">
                      <a:solidFill>
                        <a:srgbClr val="57606F"/>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57606F"/>
                      </a:solidFill>
                      <a:prstDash val="solid"/>
                      <a:round/>
                      <a:headEnd type="none" w="med" len="med"/>
                      <a:tailEnd type="none" w="med" len="med"/>
                    </a:lnB>
                    <a:solidFill>
                      <a:srgbClr val="293549"/>
                    </a:solidFill>
                  </a:tcPr>
                </a:tc>
                <a:tc>
                  <a:txBody>
                    <a:bodyPr/>
                    <a:lstStyle/>
                    <a:p>
                      <a:pPr algn="r" indent="0" marL="0">
                        <a:lnSpc>
                          <a:spcPts val="2100"/>
                        </a:lnSpc>
                        <a:buNone/>
                      </a:pPr>
                      <a:r>
                        <a:rPr lang="en-US" sz="1500" b="1" dirty="0">
                          <a:solidFill>
                            <a:srgbClr val="F6F3EC"/>
                          </a:solidFill>
                          <a:latin typeface="Be Vietnam Pro" pitchFamily="34" charset="0"/>
                          <a:ea typeface="Be Vietnam Pro" pitchFamily="34" charset="-122"/>
                          <a:cs typeface="Be Vietnam Pro" pitchFamily="34" charset="-120"/>
                        </a:rPr>
                        <a:t>Thật: an toàn</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57606F"/>
                      </a:solidFill>
                      <a:prstDash val="solid"/>
                      <a:round/>
                      <a:headEnd type="none" w="med" len="med"/>
                      <a:tailEnd type="none" w="med" len="med"/>
                    </a:lnL>
                    <a:lnR w="12700" cap="flat" cmpd="sng" algn="ctr">
                      <a:solidFill>
                        <a:srgbClr val="57606F"/>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57606F"/>
                      </a:solidFill>
                      <a:prstDash val="solid"/>
                      <a:round/>
                      <a:headEnd type="none" w="med" len="med"/>
                      <a:tailEnd type="none" w="med" len="med"/>
                    </a:lnB>
                    <a:solidFill>
                      <a:srgbClr val="293549"/>
                    </a:solidFill>
                  </a:tcPr>
                </a:tc>
              </a:tr>
              <a:tr h="408821">
                <a:tc>
                  <a:txBody>
                    <a:bodyPr/>
                    <a:lstStyle/>
                    <a:p>
                      <a:pP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0,99</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57606F"/>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0,010</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57606F"/>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E58A73"/>
                          </a:solidFill>
                          <a:latin typeface="Be Vietnam Pro" pitchFamily="34" charset="0"/>
                          <a:ea typeface="Be Vietnam Pro" pitchFamily="34" charset="-122"/>
                          <a:cs typeface="Be Vietnam Pro" pitchFamily="34" charset="-120"/>
                        </a:rPr>
                        <a:t>4,605</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57606F"/>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r>
              <a:tr h="408821">
                <a:tc>
                  <a:txBody>
                    <a:bodyPr/>
                    <a:lstStyle/>
                    <a:p>
                      <a:pP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0,50</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0,693</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0,693</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r>
              <a:tr h="408821">
                <a:tc>
                  <a:txBody>
                    <a:bodyPr/>
                    <a:lstStyle/>
                    <a:p>
                      <a:pP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0,01</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E58A73"/>
                          </a:solidFill>
                          <a:latin typeface="Be Vietnam Pro" pitchFamily="34" charset="0"/>
                          <a:ea typeface="Be Vietnam Pro" pitchFamily="34" charset="-122"/>
                          <a:cs typeface="Be Vietnam Pro" pitchFamily="34" charset="-120"/>
                        </a:rPr>
                        <a:t>4,605</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0,010</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r>
            </a:tbl>
          </a:graphicData>
        </a:graphic>
      </p:graphicFrame>
      <p:sp>
        <p:nvSpPr>
          <p:cNvPr id="8" name="Text 5"/>
          <p:cNvSpPr/>
          <p:nvPr/>
        </p:nvSpPr>
        <p:spPr>
          <a:xfrm>
            <a:off x="6273754" y="5308643"/>
            <a:ext cx="525863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C078"/>
                </a:solidFill>
                <a:latin typeface="Be Vietnam Pro" pitchFamily="34" charset="0"/>
                <a:ea typeface="Be Vietnam Pro" pitchFamily="34" charset="-122"/>
                <a:cs typeface="Be Vietnam Pro" pitchFamily="34" charset="-120"/>
              </a:rPr>
              <a:t>Tự tin mà sai bị phạt gấp hơn 400 lần so với tự tin mà đúng.</a:t>
            </a:r>
            <a:endParaRPr lang="en-US" sz="1500" dirty="0"/>
          </a:p>
        </p:txBody>
      </p:sp>
      <p:sp>
        <p:nvSpPr>
          <p:cNvPr id="9" name="Text 6"/>
          <p:cNvSpPr/>
          <p:nvPr/>
        </p:nvSpPr>
        <p:spPr>
          <a:xfrm>
            <a:off x="812777" y="6238329"/>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0" name="Text 7"/>
          <p:cNvSpPr/>
          <p:nvPr/>
        </p:nvSpPr>
        <p:spPr>
          <a:xfrm>
            <a:off x="10973485" y="6238329"/>
            <a:ext cx="48688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5"/>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F7A5E"/>
                </a:solidFill>
                <a:latin typeface="Be Vietnam Pro" pitchFamily="34" charset="0"/>
                <a:ea typeface="Be Vietnam Pro" pitchFamily="34" charset="-122"/>
                <a:cs typeface="Be Vietnam Pro" pitchFamily="34" charset="-120"/>
              </a:rPr>
              <a:t>TOÁN 3 · ĐẠO HÀM VÀ GRADIENT</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7243A"/>
                </a:solidFill>
                <a:latin typeface="Lora" pitchFamily="18" charset="0"/>
                <a:ea typeface="Lora" pitchFamily="18" charset="-122"/>
                <a:cs typeface="Lora" pitchFamily="18" charset="-120"/>
              </a:rPr>
              <a:t>La bàn chỉ hướng sửa trọng số</a:t>
            </a:r>
            <a:endParaRPr lang="en-US" sz="3000" dirty="0"/>
          </a:p>
        </p:txBody>
      </p:sp>
      <p:sp>
        <p:nvSpPr>
          <p:cNvPr id="4" name="Shape 2"/>
          <p:cNvSpPr/>
          <p:nvPr/>
        </p:nvSpPr>
        <p:spPr>
          <a:xfrm>
            <a:off x="815952" y="2765493"/>
            <a:ext cx="3041650" cy="1257186"/>
          </a:xfrm>
          <a:prstGeom prst="roundRect">
            <a:avLst>
              <a:gd name="adj" fmla="val 7829"/>
            </a:avLst>
          </a:prstGeom>
          <a:solidFill>
            <a:srgbClr val="FFFFFF"/>
          </a:solidFill>
          <a:ln w="6350">
            <a:solidFill>
              <a:srgbClr val="DDD8CC"/>
            </a:solidFill>
            <a:prstDash val="solid"/>
          </a:ln>
        </p:spPr>
      </p:sp>
      <p:sp>
        <p:nvSpPr>
          <p:cNvPr id="5" name="Text 3"/>
          <p:cNvSpPr/>
          <p:nvPr/>
        </p:nvSpPr>
        <p:spPr>
          <a:xfrm>
            <a:off x="1020340" y="2969884"/>
            <a:ext cx="2711861" cy="29970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7A5E"/>
                </a:solidFill>
                <a:latin typeface="Be Vietnam Pro" pitchFamily="34" charset="0"/>
                <a:ea typeface="Be Vietnam Pro" pitchFamily="34" charset="-122"/>
                <a:cs typeface="Be Vietnam Pro" pitchFamily="34" charset="-120"/>
              </a:rPr>
              <a:t>Đạo hàm</a:t>
            </a:r>
            <a:endParaRPr lang="en-US" sz="1800" dirty="0"/>
          </a:p>
        </p:txBody>
      </p:sp>
      <p:sp>
        <p:nvSpPr>
          <p:cNvPr id="6" name="Text 4"/>
          <p:cNvSpPr/>
          <p:nvPr/>
        </p:nvSpPr>
        <p:spPr>
          <a:xfrm>
            <a:off x="1020340" y="3320386"/>
            <a:ext cx="2711861" cy="5233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43A"/>
                </a:solidFill>
                <a:latin typeface="Be Vietnam Pro" pitchFamily="34" charset="0"/>
                <a:ea typeface="Be Vietnam Pro" pitchFamily="34" charset="-122"/>
                <a:cs typeface="Be Vietnam Pro" pitchFamily="34" charset="-120"/>
              </a:rPr>
              <a:t>Tăng nhẹ một trọng số thì mức phạt tăng hay giảm?</a:t>
            </a:r>
            <a:endParaRPr lang="en-US" sz="1400" dirty="0"/>
          </a:p>
        </p:txBody>
      </p:sp>
      <p:pic>
        <p:nvPicPr>
          <p:cNvPr id="7" name="Image 0" descr="arrow-right">    </p:cNvPr>
          <p:cNvPicPr>
            <a:picLocks noChangeAspect="1"/>
          </p:cNvPicPr>
          <p:nvPr/>
        </p:nvPicPr>
        <p:blipFill>
          <a:blip r:embed="rId1"/>
          <a:srcRect l="-3" r="-3" t="0" b="0"/>
          <a:stretch/>
        </p:blipFill>
        <p:spPr>
          <a:xfrm>
            <a:off x="4013177" y="3267075"/>
            <a:ext cx="406354" cy="253954"/>
          </a:xfrm>
          <a:prstGeom prst="rect">
            <a:avLst/>
          </a:prstGeom>
        </p:spPr>
      </p:pic>
      <p:sp>
        <p:nvSpPr>
          <p:cNvPr id="8" name="Shape 5"/>
          <p:cNvSpPr/>
          <p:nvPr/>
        </p:nvSpPr>
        <p:spPr>
          <a:xfrm>
            <a:off x="4575106" y="2765493"/>
            <a:ext cx="3041719" cy="1257186"/>
          </a:xfrm>
          <a:prstGeom prst="roundRect">
            <a:avLst>
              <a:gd name="adj" fmla="val 7829"/>
            </a:avLst>
          </a:prstGeom>
          <a:solidFill>
            <a:srgbClr val="FFFFFF"/>
          </a:solidFill>
          <a:ln w="6350">
            <a:solidFill>
              <a:srgbClr val="DDD8CC"/>
            </a:solidFill>
            <a:prstDash val="solid"/>
          </a:ln>
        </p:spPr>
      </p:sp>
      <p:sp>
        <p:nvSpPr>
          <p:cNvPr id="9" name="Text 6"/>
          <p:cNvSpPr/>
          <p:nvPr/>
        </p:nvSpPr>
        <p:spPr>
          <a:xfrm>
            <a:off x="4779494" y="2969884"/>
            <a:ext cx="2711931" cy="29970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7A5E"/>
                </a:solidFill>
                <a:latin typeface="Be Vietnam Pro" pitchFamily="34" charset="0"/>
                <a:ea typeface="Be Vietnam Pro" pitchFamily="34" charset="-122"/>
                <a:cs typeface="Be Vietnam Pro" pitchFamily="34" charset="-120"/>
              </a:rPr>
              <a:t>Gradient</a:t>
            </a:r>
            <a:endParaRPr lang="en-US" sz="1800" dirty="0"/>
          </a:p>
        </p:txBody>
      </p:sp>
      <p:sp>
        <p:nvSpPr>
          <p:cNvPr id="10" name="Text 7"/>
          <p:cNvSpPr/>
          <p:nvPr/>
        </p:nvSpPr>
        <p:spPr>
          <a:xfrm>
            <a:off x="4779494" y="3320386"/>
            <a:ext cx="2711931" cy="5233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43A"/>
                </a:solidFill>
                <a:latin typeface="Be Vietnam Pro" pitchFamily="34" charset="0"/>
                <a:ea typeface="Be Vietnam Pro" pitchFamily="34" charset="-122"/>
                <a:cs typeface="Be Vietnam Pro" pitchFamily="34" charset="-120"/>
              </a:rPr>
              <a:t>Gom mọi hướng lại: la bàn chỉ chiều dốc lên.</a:t>
            </a:r>
            <a:endParaRPr lang="en-US" sz="1400" dirty="0"/>
          </a:p>
        </p:txBody>
      </p:sp>
      <p:pic>
        <p:nvPicPr>
          <p:cNvPr id="11" name="Image 1" descr="arrow-right">    </p:cNvPr>
          <p:cNvPicPr>
            <a:picLocks noChangeAspect="1"/>
          </p:cNvPicPr>
          <p:nvPr/>
        </p:nvPicPr>
        <p:blipFill>
          <a:blip r:embed="rId2"/>
          <a:srcRect l="-3" r="-3" t="0" b="0"/>
          <a:stretch/>
        </p:blipFill>
        <p:spPr>
          <a:xfrm>
            <a:off x="7772400" y="3267075"/>
            <a:ext cx="406354" cy="253954"/>
          </a:xfrm>
          <a:prstGeom prst="rect">
            <a:avLst/>
          </a:prstGeom>
        </p:spPr>
      </p:pic>
      <p:sp>
        <p:nvSpPr>
          <p:cNvPr id="12" name="Shape 8"/>
          <p:cNvSpPr/>
          <p:nvPr/>
        </p:nvSpPr>
        <p:spPr>
          <a:xfrm>
            <a:off x="8334329" y="2765493"/>
            <a:ext cx="3041719" cy="1257186"/>
          </a:xfrm>
          <a:prstGeom prst="roundRect">
            <a:avLst>
              <a:gd name="adj" fmla="val 7829"/>
            </a:avLst>
          </a:prstGeom>
          <a:solidFill>
            <a:srgbClr val="FFFFFF"/>
          </a:solidFill>
          <a:ln w="6350">
            <a:solidFill>
              <a:srgbClr val="DDD8CC"/>
            </a:solidFill>
            <a:prstDash val="solid"/>
          </a:ln>
        </p:spPr>
      </p:sp>
      <p:sp>
        <p:nvSpPr>
          <p:cNvPr id="13" name="Text 9"/>
          <p:cNvSpPr/>
          <p:nvPr/>
        </p:nvSpPr>
        <p:spPr>
          <a:xfrm>
            <a:off x="8538717" y="2969884"/>
            <a:ext cx="2711931" cy="29970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7A5E"/>
                </a:solidFill>
                <a:latin typeface="Be Vietnam Pro" pitchFamily="34" charset="0"/>
                <a:ea typeface="Be Vietnam Pro" pitchFamily="34" charset="-122"/>
                <a:cs typeface="Be Vietnam Pro" pitchFamily="34" charset="-120"/>
              </a:rPr>
              <a:t>Đi ngược lại</a:t>
            </a:r>
            <a:endParaRPr lang="en-US" sz="1800" dirty="0"/>
          </a:p>
        </p:txBody>
      </p:sp>
      <p:sp>
        <p:nvSpPr>
          <p:cNvPr id="14" name="Text 10"/>
          <p:cNvSpPr/>
          <p:nvPr/>
        </p:nvSpPr>
        <p:spPr>
          <a:xfrm>
            <a:off x="8538717" y="3320386"/>
            <a:ext cx="2711931" cy="5233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43A"/>
                </a:solidFill>
                <a:latin typeface="Be Vietnam Pro" pitchFamily="34" charset="0"/>
                <a:ea typeface="Be Vietnam Pro" pitchFamily="34" charset="-122"/>
                <a:cs typeface="Be Vietnam Pro" pitchFamily="34" charset="-120"/>
              </a:rPr>
              <a:t>Bước một đoạn nhỏ η ngược chiều la bàn, lặp lại.</a:t>
            </a:r>
            <a:endParaRPr lang="en-US" sz="1400" dirty="0"/>
          </a:p>
        </p:txBody>
      </p:sp>
      <p:sp>
        <p:nvSpPr>
          <p:cNvPr id="15" name="Text 11"/>
          <p:cNvSpPr/>
          <p:nvPr/>
        </p:nvSpPr>
        <p:spPr>
          <a:xfrm>
            <a:off x="812777" y="5204625"/>
            <a:ext cx="4237115" cy="380977"/>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17243A"/>
                </a:solidFill>
                <a:latin typeface="Lora" pitchFamily="18" charset="0"/>
                <a:ea typeface="Lora" pitchFamily="18" charset="-122"/>
                <a:cs typeface="Lora" pitchFamily="18" charset="-120"/>
              </a:rPr>
              <a:t>∇L = Xᵀ (p − y) / n</a:t>
            </a:r>
            <a:endParaRPr lang="en-US" sz="2000" dirty="0"/>
          </a:p>
        </p:txBody>
      </p:sp>
      <p:sp>
        <p:nvSpPr>
          <p:cNvPr id="16" name="Text 12"/>
          <p:cNvSpPr/>
          <p:nvPr/>
        </p:nvSpPr>
        <p:spPr>
          <a:xfrm>
            <a:off x="812777" y="5610982"/>
            <a:ext cx="4418504"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sai số dự đoán nhân giá trị đặc trưng, lấy trung bình</a:t>
            </a:r>
            <a:endParaRPr lang="en-US" sz="1300" dirty="0"/>
          </a:p>
        </p:txBody>
      </p:sp>
      <p:sp>
        <p:nvSpPr>
          <p:cNvPr id="17" name="Text 13"/>
          <p:cNvSpPr/>
          <p:nvPr/>
        </p:nvSpPr>
        <p:spPr>
          <a:xfrm>
            <a:off x="5231281" y="5256634"/>
            <a:ext cx="633238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8452F"/>
                </a:solidFill>
                <a:latin typeface="Be Vietnam Pro" pitchFamily="34" charset="0"/>
                <a:ea typeface="Be Vietnam Pro" pitchFamily="34" charset="-122"/>
                <a:cs typeface="Be Vietnam Pro" pitchFamily="34" charset="-120"/>
              </a:rPr>
              <a:t>η quá nhỏ: đi mãi không tới đáy. η quá lớn: nhảy qua đáy, càng nhảy càng cao.</a:t>
            </a:r>
            <a:endParaRPr lang="en-US" sz="1500" dirty="0"/>
          </a:p>
        </p:txBody>
      </p:sp>
      <p:sp>
        <p:nvSpPr>
          <p:cNvPr id="18" name="Text 14"/>
          <p:cNvSpPr/>
          <p:nvPr/>
        </p:nvSpPr>
        <p:spPr>
          <a:xfrm>
            <a:off x="812777" y="6238329"/>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9" name="Text 15"/>
          <p:cNvSpPr/>
          <p:nvPr/>
        </p:nvSpPr>
        <p:spPr>
          <a:xfrm>
            <a:off x="10966496" y="6238329"/>
            <a:ext cx="495273"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5"/>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F7A5E"/>
                </a:solidFill>
                <a:latin typeface="Be Vietnam Pro" pitchFamily="34" charset="0"/>
                <a:ea typeface="Be Vietnam Pro" pitchFamily="34" charset="-122"/>
                <a:cs typeface="Be Vietnam Pro" pitchFamily="34" charset="-120"/>
              </a:rPr>
              <a:t>THÍ NGHIỆM TỐI ƯU</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7243A"/>
                </a:solidFill>
                <a:latin typeface="Lora" pitchFamily="18" charset="0"/>
                <a:ea typeface="Lora" pitchFamily="18" charset="-122"/>
                <a:cs typeface="Lora" pitchFamily="18" charset="-120"/>
              </a:rPr>
              <a:t>Chuẩn hóa quyết định việc có tới được đáy không</a:t>
            </a:r>
            <a:endParaRPr lang="en-US" sz="3000" dirty="0"/>
          </a:p>
        </p:txBody>
      </p:sp>
      <p:sp>
        <p:nvSpPr>
          <p:cNvPr id="4" name="Shape 2"/>
          <p:cNvSpPr/>
          <p:nvPr/>
        </p:nvSpPr>
        <p:spPr>
          <a:xfrm>
            <a:off x="812777" y="2454300"/>
            <a:ext cx="6349954" cy="2286000"/>
          </a:xfrm>
          <a:prstGeom prst="roundRect">
            <a:avLst>
              <a:gd name="adj" fmla="val 4444"/>
            </a:avLst>
          </a:prstGeom>
          <a:solidFill>
            <a:srgbClr val="FFFFFF"/>
          </a:solidFill>
          <a:ln/>
        </p:spPr>
      </p:sp>
      <p:pic>
        <p:nvPicPr>
          <p:cNvPr id="5" name="Image 0" descr="Đường mất mát theo số vòng lặp với bốn tốc độ học. Bên trái có chuẩn hóa: mọi đường giảm đều, tốc độ học 1,0 xuống đáy nhanh nhất. Bên phải không chuẩn hóa: tốc độ học 0,1 dao động mạnh và 1,0 vọt lên cao.">    </p:cNvPr>
          <p:cNvPicPr>
            <a:picLocks noChangeAspect="1"/>
          </p:cNvPicPr>
          <p:nvPr/>
        </p:nvPicPr>
        <p:blipFill>
          <a:blip r:embed="rId1"/>
          <a:srcRect l="-178" r="-178" t="0" b="0"/>
          <a:stretch/>
        </p:blipFill>
        <p:spPr>
          <a:xfrm>
            <a:off x="819127" y="2460650"/>
            <a:ext cx="6337254" cy="2273300"/>
          </a:xfrm>
          <a:prstGeom prst="roundRect">
            <a:avLst>
              <a:gd name="adj" fmla="val 4190"/>
            </a:avLst>
          </a:prstGeom>
        </p:spPr>
      </p:pic>
      <p:sp>
        <p:nvSpPr>
          <p:cNvPr id="6" name="Shape 3"/>
          <p:cNvSpPr/>
          <p:nvPr/>
        </p:nvSpPr>
        <p:spPr>
          <a:xfrm>
            <a:off x="815952" y="2457475"/>
            <a:ext cx="6343604" cy="2279650"/>
          </a:xfrm>
          <a:prstGeom prst="roundRect">
            <a:avLst>
              <a:gd name="adj" fmla="val 4318"/>
            </a:avLst>
          </a:prstGeom>
          <a:noFill/>
          <a:ln w="6350">
            <a:solidFill>
              <a:srgbClr val="DDD8CC"/>
            </a:solidFill>
            <a:prstDash val="solid"/>
          </a:ln>
        </p:spPr>
      </p:sp>
      <p:sp>
        <p:nvSpPr>
          <p:cNvPr id="7" name="Text 4"/>
          <p:cNvSpPr/>
          <p:nvPr/>
        </p:nvSpPr>
        <p:spPr>
          <a:xfrm>
            <a:off x="7467532" y="2598955"/>
            <a:ext cx="4029042" cy="52330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7A5E"/>
                </a:solidFill>
                <a:latin typeface="Be Vietnam Pro" pitchFamily="34" charset="0"/>
                <a:ea typeface="Be Vietnam Pro" pitchFamily="34" charset="-122"/>
                <a:cs typeface="Be Vietnam Pro" pitchFamily="34" charset="-120"/>
              </a:rPr>
              <a:t>Có chuẩn hóa:</a:t>
            </a:r>
            <a:r>
              <a:rPr lang="en-US" sz="1400" dirty="0">
                <a:solidFill>
                  <a:srgbClr val="17243A"/>
                </a:solidFill>
                <a:latin typeface="Be Vietnam Pro" pitchFamily="34" charset="0"/>
                <a:ea typeface="Be Vietnam Pro" pitchFamily="34" charset="-122"/>
                <a:cs typeface="Be Vietnam Pro" pitchFamily="34" charset="-120"/>
              </a:rPr>
              <a:t> η = 1,0 chỉ cần 145 vòng tới gần đáy.</a:t>
            </a:r>
            <a:endParaRPr lang="en-US" sz="1400" dirty="0"/>
          </a:p>
        </p:txBody>
      </p:sp>
      <p:sp>
        <p:nvSpPr>
          <p:cNvPr id="8" name="Text 5"/>
          <p:cNvSpPr/>
          <p:nvPr/>
        </p:nvSpPr>
        <p:spPr>
          <a:xfrm>
            <a:off x="7467532" y="3223834"/>
            <a:ext cx="4029042" cy="52330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52F"/>
                </a:solidFill>
                <a:latin typeface="Be Vietnam Pro" pitchFamily="34" charset="0"/>
                <a:ea typeface="Be Vietnam Pro" pitchFamily="34" charset="-122"/>
                <a:cs typeface="Be Vietnam Pro" pitchFamily="34" charset="-120"/>
              </a:rPr>
              <a:t>Không chuẩn hóa:</a:t>
            </a:r>
            <a:r>
              <a:rPr lang="en-US" sz="1400" dirty="0">
                <a:solidFill>
                  <a:srgbClr val="17243A"/>
                </a:solidFill>
                <a:latin typeface="Be Vietnam Pro" pitchFamily="34" charset="0"/>
                <a:ea typeface="Be Vietnam Pro" pitchFamily="34" charset="-122"/>
                <a:cs typeface="Be Vietnam Pro" pitchFamily="34" charset="-120"/>
              </a:rPr>
              <a:t> η = 0,1 dao động, η = 1,0 phân kỳ.</a:t>
            </a:r>
            <a:endParaRPr lang="en-US" sz="1400" dirty="0"/>
          </a:p>
        </p:txBody>
      </p:sp>
      <p:sp>
        <p:nvSpPr>
          <p:cNvPr id="9" name="Text 6"/>
          <p:cNvSpPr/>
          <p:nvPr/>
        </p:nvSpPr>
        <p:spPr>
          <a:xfrm>
            <a:off x="7467532" y="3848714"/>
            <a:ext cx="4029042" cy="772256"/>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43A"/>
                </a:solidFill>
                <a:latin typeface="Be Vietnam Pro" pitchFamily="34" charset="0"/>
                <a:ea typeface="Be Vietnam Pro" pitchFamily="34" charset="-122"/>
                <a:cs typeface="Be Vietnam Pro" pitchFamily="34" charset="-120"/>
              </a:rPr>
              <a:t>Lý do toán học:</a:t>
            </a:r>
            <a:r>
              <a:rPr lang="en-US" sz="1400" dirty="0">
                <a:solidFill>
                  <a:srgbClr val="17243A"/>
                </a:solidFill>
                <a:latin typeface="Be Vietnam Pro" pitchFamily="34" charset="0"/>
                <a:ea typeface="Be Vietnam Pro" pitchFamily="34" charset="-122"/>
                <a:cs typeface="Be Vietnam Pro" pitchFamily="34" charset="-120"/>
              </a:rPr>
              <a:t> số điều kiện 67 so với 30.622; η an toàn tối đa khoảng 2,17 so với 0,009.</a:t>
            </a:r>
            <a:endParaRPr lang="en-US" sz="1400" dirty="0"/>
          </a:p>
        </p:txBody>
      </p:sp>
      <p:sp>
        <p:nvSpPr>
          <p:cNvPr id="10" name="Text 7"/>
          <p:cNvSpPr/>
          <p:nvPr/>
        </p:nvSpPr>
        <p:spPr>
          <a:xfrm>
            <a:off x="812777" y="5610982"/>
            <a:ext cx="10883439" cy="2564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Be Vietnam Pro" pitchFamily="34" charset="0"/>
                <a:ea typeface="Be Vietnam Pro" pitchFamily="34" charset="-122"/>
                <a:cs typeface="Be Vietnam Pro" pitchFamily="34" charset="-120"/>
              </a:rPr>
              <a:t>Thí nghiệm chạy trên Hồi quy Logistic tự cài, vì TabICLv2 không huấn luyện lại trên dữ liệu của mình.</a:t>
            </a:r>
            <a:endParaRPr lang="en-US" sz="1300" dirty="0"/>
          </a:p>
        </p:txBody>
      </p:sp>
      <p:sp>
        <p:nvSpPr>
          <p:cNvPr id="11" name="Text 8"/>
          <p:cNvSpPr/>
          <p:nvPr/>
        </p:nvSpPr>
        <p:spPr>
          <a:xfrm>
            <a:off x="812777" y="6238329"/>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2" name="Text 9"/>
          <p:cNvSpPr/>
          <p:nvPr/>
        </p:nvSpPr>
        <p:spPr>
          <a:xfrm>
            <a:off x="10908455" y="6238329"/>
            <a:ext cx="564922"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5"/>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452F"/>
                </a:solidFill>
                <a:latin typeface="Be Vietnam Pro" pitchFamily="34" charset="0"/>
                <a:ea typeface="Be Vietnam Pro" pitchFamily="34" charset="-122"/>
                <a:cs typeface="Be Vietnam Pro" pitchFamily="34" charset="-120"/>
              </a:rPr>
              <a:t>BƯỚC 7 · TRƯỚC KHI VÀO TABICLV2</a:t>
            </a:r>
            <a:endParaRPr lang="en-US" sz="1300" dirty="0"/>
          </a:p>
        </p:txBody>
      </p:sp>
      <p:sp>
        <p:nvSpPr>
          <p:cNvPr id="3" name="Text 1"/>
          <p:cNvSpPr/>
          <p:nvPr>
            <p:ph type="title"/>
          </p:nvPr>
        </p:nvSpPr>
        <p:spPr>
          <a:xfrm>
            <a:off x="812777" y="1145400"/>
            <a:ext cx="10883439" cy="43429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7243A"/>
                </a:solidFill>
                <a:latin typeface="Lora" pitchFamily="18" charset="0"/>
                <a:ea typeface="Lora" pitchFamily="18" charset="-122"/>
                <a:cs typeface="Lora" pitchFamily="18" charset="-120"/>
              </a:rPr>
              <a:t>Học trong ngữ cảnh: mô hình đã học sẵn, chỉ cần xem ví dụ</a:t>
            </a:r>
            <a:endParaRPr lang="en-US" sz="2800" dirty="0"/>
          </a:p>
        </p:txBody>
      </p:sp>
      <p:sp>
        <p:nvSpPr>
          <p:cNvPr id="4" name="Shape 2"/>
          <p:cNvSpPr/>
          <p:nvPr/>
        </p:nvSpPr>
        <p:spPr>
          <a:xfrm>
            <a:off x="819127" y="2333396"/>
            <a:ext cx="5168900" cy="1559405"/>
          </a:xfrm>
          <a:prstGeom prst="roundRect">
            <a:avLst>
              <a:gd name="adj" fmla="val 6108"/>
            </a:avLst>
          </a:prstGeom>
          <a:solidFill>
            <a:srgbClr val="FFFFFF"/>
          </a:solidFill>
          <a:ln w="12700">
            <a:solidFill>
              <a:srgbClr val="2F7A5E"/>
            </a:solidFill>
            <a:prstDash val="solid"/>
          </a:ln>
        </p:spPr>
      </p:sp>
      <p:sp>
        <p:nvSpPr>
          <p:cNvPr id="5" name="Text 3"/>
          <p:cNvSpPr/>
          <p:nvPr/>
        </p:nvSpPr>
        <p:spPr>
          <a:xfrm>
            <a:off x="1050148" y="2564420"/>
            <a:ext cx="4848063" cy="29970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7A5E"/>
                </a:solidFill>
                <a:latin typeface="Be Vietnam Pro" pitchFamily="34" charset="0"/>
                <a:ea typeface="Be Vietnam Pro" pitchFamily="34" charset="-122"/>
                <a:cs typeface="Be Vietnam Pro" pitchFamily="34" charset="-120"/>
              </a:rPr>
              <a:t>Huấn luyện thường</a:t>
            </a:r>
            <a:endParaRPr lang="en-US" sz="1800" dirty="0"/>
          </a:p>
        </p:txBody>
      </p:sp>
      <p:sp>
        <p:nvSpPr>
          <p:cNvPr id="6" name="Text 4"/>
          <p:cNvSpPr/>
          <p:nvPr/>
        </p:nvSpPr>
        <p:spPr>
          <a:xfrm>
            <a:off x="1050148" y="2914923"/>
            <a:ext cx="4848063" cy="5233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43A"/>
                </a:solidFill>
                <a:latin typeface="Be Vietnam Pro" pitchFamily="34" charset="0"/>
                <a:ea typeface="Be Vietnam Pro" pitchFamily="34" charset="-122"/>
                <a:cs typeface="Be Vietnam Pro" pitchFamily="34" charset="-120"/>
              </a:rPr>
              <a:t>Đưa dữ liệu của mình vào, chỉnh trọng số nhiều vòng (Gradient Descent). Hồi quy Logistic làm vậy.</a:t>
            </a:r>
            <a:endParaRPr lang="en-US" sz="1400" dirty="0"/>
          </a:p>
        </p:txBody>
      </p:sp>
      <p:sp>
        <p:nvSpPr>
          <p:cNvPr id="7" name="Shape 5"/>
          <p:cNvSpPr/>
          <p:nvPr/>
        </p:nvSpPr>
        <p:spPr>
          <a:xfrm>
            <a:off x="6203904" y="2333396"/>
            <a:ext cx="5168969" cy="1559405"/>
          </a:xfrm>
          <a:prstGeom prst="roundRect">
            <a:avLst>
              <a:gd name="adj" fmla="val 6108"/>
            </a:avLst>
          </a:prstGeom>
          <a:solidFill>
            <a:srgbClr val="FFFFFF"/>
          </a:solidFill>
          <a:ln w="12700">
            <a:solidFill>
              <a:srgbClr val="B8452F"/>
            </a:solidFill>
            <a:prstDash val="solid"/>
          </a:ln>
        </p:spPr>
      </p:sp>
      <p:sp>
        <p:nvSpPr>
          <p:cNvPr id="8" name="Text 6"/>
          <p:cNvSpPr/>
          <p:nvPr/>
        </p:nvSpPr>
        <p:spPr>
          <a:xfrm>
            <a:off x="6434925" y="2564420"/>
            <a:ext cx="4848134" cy="29970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452F"/>
                </a:solidFill>
                <a:latin typeface="Be Vietnam Pro" pitchFamily="34" charset="0"/>
                <a:ea typeface="Be Vietnam Pro" pitchFamily="34" charset="-122"/>
                <a:cs typeface="Be Vietnam Pro" pitchFamily="34" charset="-120"/>
              </a:rPr>
              <a:t>Học trong ngữ cảnh</a:t>
            </a:r>
            <a:endParaRPr lang="en-US" sz="1800" dirty="0"/>
          </a:p>
        </p:txBody>
      </p:sp>
      <p:sp>
        <p:nvSpPr>
          <p:cNvPr id="9" name="Text 7"/>
          <p:cNvSpPr/>
          <p:nvPr/>
        </p:nvSpPr>
        <p:spPr>
          <a:xfrm>
            <a:off x="6434925" y="2914923"/>
            <a:ext cx="4848134" cy="77225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43A"/>
                </a:solidFill>
                <a:latin typeface="Be Vietnam Pro" pitchFamily="34" charset="0"/>
                <a:ea typeface="Be Vietnam Pro" pitchFamily="34" charset="-122"/>
                <a:cs typeface="Be Vietnam Pro" pitchFamily="34" charset="-120"/>
              </a:rPr>
              <a:t>Đã học xong từ trước trên rất nhiều bảng giả lập. Khi dùng: đưa các em đã biết kết cục làm ngữ cảnh, đoán em mới trong một lượt tính, không đổi trọng số nào.</a:t>
            </a:r>
            <a:endParaRPr lang="en-US" sz="1400" dirty="0"/>
          </a:p>
        </p:txBody>
      </p:sp>
      <p:sp>
        <p:nvSpPr>
          <p:cNvPr id="10" name="Shape 8"/>
          <p:cNvSpPr/>
          <p:nvPr/>
        </p:nvSpPr>
        <p:spPr>
          <a:xfrm>
            <a:off x="812777" y="4671907"/>
            <a:ext cx="10566446" cy="1170136"/>
          </a:xfrm>
          <a:prstGeom prst="roundRect">
            <a:avLst>
              <a:gd name="adj" fmla="val 8683"/>
            </a:avLst>
          </a:prstGeom>
          <a:solidFill>
            <a:srgbClr val="17243A"/>
          </a:solidFill>
          <a:ln/>
        </p:spPr>
      </p:sp>
      <p:sp>
        <p:nvSpPr>
          <p:cNvPr id="11" name="Text 9"/>
          <p:cNvSpPr/>
          <p:nvPr/>
        </p:nvSpPr>
        <p:spPr>
          <a:xfrm>
            <a:off x="1066731" y="4875088"/>
            <a:ext cx="103602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C078"/>
                </a:solidFill>
                <a:latin typeface="Be Vietnam Pro" pitchFamily="34" charset="0"/>
                <a:ea typeface="Be Vietnam Pro" pitchFamily="34" charset="-122"/>
                <a:cs typeface="Be Vietnam Pro" pitchFamily="34" charset="-120"/>
              </a:rPr>
              <a:t>Attention = so sánh, đổi thành trọng số, bỏ phiếu</a:t>
            </a:r>
            <a:endParaRPr lang="en-US" sz="1500" dirty="0"/>
          </a:p>
        </p:txBody>
      </p:sp>
      <p:sp>
        <p:nvSpPr>
          <p:cNvPr id="12" name="Text 10"/>
          <p:cNvSpPr/>
          <p:nvPr/>
        </p:nvSpPr>
        <p:spPr>
          <a:xfrm>
            <a:off x="1066731" y="5141788"/>
            <a:ext cx="10360293" cy="522482"/>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6F3EC"/>
                </a:solidFill>
                <a:latin typeface="Be Vietnam Pro" pitchFamily="34" charset="0"/>
                <a:ea typeface="Be Vietnam Pro" pitchFamily="34" charset="-122"/>
                <a:cs typeface="Be Vietnam Pro" pitchFamily="34" charset="-120"/>
              </a:rPr>
              <a:t>Điểm giống nhau 2, 1, 0, 0 → softmax → trọng số 0,61 · 0,22 · 0,08 · 0,08 (cộng lại bằng 1). Nếu hai em đầu đã bỏ học: P(bỏ học) = 0,61 + 0,22 = 0,83.</a:t>
            </a:r>
            <a:endParaRPr lang="en-US" sz="1350" dirty="0"/>
          </a:p>
        </p:txBody>
      </p:sp>
      <p:sp>
        <p:nvSpPr>
          <p:cNvPr id="13" name="Text 11"/>
          <p:cNvSpPr/>
          <p:nvPr/>
        </p:nvSpPr>
        <p:spPr>
          <a:xfrm>
            <a:off x="812777" y="6238329"/>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4" name="Text 12"/>
          <p:cNvSpPr/>
          <p:nvPr/>
        </p:nvSpPr>
        <p:spPr>
          <a:xfrm>
            <a:off x="10952790" y="6238329"/>
            <a:ext cx="511719"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243A"/>
        </a:solidFill>
      </p:bgPr>
    </p:bg>
    <p:spTree>
      <p:nvGrpSpPr>
        <p:cNvPr id="1" name=""/>
        <p:cNvGrpSpPr/>
        <p:nvPr/>
      </p:nvGrpSpPr>
      <p:grpSpPr>
        <a:xfrm>
          <a:off x="0" y="0"/>
          <a:ext cx="0" cy="0"/>
          <a:chOff x="0" y="0"/>
          <a:chExt cx="0" cy="0"/>
        </a:xfrm>
      </p:grpSpPr>
      <p:sp>
        <p:nvSpPr>
          <p:cNvPr id="2" name="Text 0"/>
          <p:cNvSpPr/>
          <p:nvPr/>
        </p:nvSpPr>
        <p:spPr>
          <a:xfrm>
            <a:off x="812777" y="812775"/>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C078"/>
                </a:solidFill>
                <a:latin typeface="Be Vietnam Pro" pitchFamily="34" charset="0"/>
                <a:ea typeface="Be Vietnam Pro" pitchFamily="34" charset="-122"/>
                <a:cs typeface="Be Vietnam Pro" pitchFamily="34" charset="-120"/>
              </a:rPr>
              <a:t>MÔ HÌNH CHÍNH · TABICLV2</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3EC"/>
                </a:solidFill>
                <a:latin typeface="Lora" pitchFamily="18" charset="0"/>
                <a:ea typeface="Lora" pitchFamily="18" charset="-122"/>
                <a:cs typeface="Lora" pitchFamily="18" charset="-120"/>
              </a:rPr>
              <a:t>Không huấn luyện lại, chỉ nhìn các ví dụ đã biết</a:t>
            </a:r>
            <a:endParaRPr lang="en-US" sz="3000" dirty="0"/>
          </a:p>
        </p:txBody>
      </p:sp>
      <p:sp>
        <p:nvSpPr>
          <p:cNvPr id="4" name="Shape 2"/>
          <p:cNvSpPr/>
          <p:nvPr/>
        </p:nvSpPr>
        <p:spPr>
          <a:xfrm>
            <a:off x="812777" y="2156761"/>
            <a:ext cx="3420503" cy="1488504"/>
          </a:xfrm>
          <a:prstGeom prst="roundRect">
            <a:avLst>
              <a:gd name="adj" fmla="val 6826"/>
            </a:avLst>
          </a:prstGeom>
          <a:solidFill>
            <a:srgbClr val="22344F"/>
          </a:solidFill>
          <a:ln/>
        </p:spPr>
      </p:sp>
      <p:sp>
        <p:nvSpPr>
          <p:cNvPr id="5" name="Text 3"/>
          <p:cNvSpPr/>
          <p:nvPr/>
        </p:nvSpPr>
        <p:spPr>
          <a:xfrm>
            <a:off x="1015954" y="2359937"/>
            <a:ext cx="3104573" cy="28449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C078"/>
                </a:solidFill>
                <a:latin typeface="Be Vietnam Pro" pitchFamily="34" charset="0"/>
                <a:ea typeface="Be Vietnam Pro" pitchFamily="34" charset="-122"/>
                <a:cs typeface="Be Vietnam Pro" pitchFamily="34" charset="-120"/>
              </a:rPr>
              <a:t>1. Nhúng theo cột</a:t>
            </a:r>
            <a:endParaRPr lang="en-US" sz="1700" dirty="0"/>
          </a:p>
        </p:txBody>
      </p:sp>
      <p:sp>
        <p:nvSpPr>
          <p:cNvPr id="6" name="Text 4"/>
          <p:cNvSpPr/>
          <p:nvPr/>
        </p:nvSpPr>
        <p:spPr>
          <a:xfrm>
            <a:off x="1015954" y="2695234"/>
            <a:ext cx="3104573" cy="5233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9F0"/>
                </a:solidFill>
                <a:latin typeface="Be Vietnam Pro" pitchFamily="34" charset="0"/>
                <a:ea typeface="Be Vietnam Pro" pitchFamily="34" charset="-122"/>
                <a:cs typeface="Be Vietnam Pro" pitchFamily="34" charset="-120"/>
              </a:rPr>
              <a:t>Mỗi chỉ số của một em thành một vector.</a:t>
            </a:r>
            <a:endParaRPr lang="en-US" sz="1400" dirty="0"/>
          </a:p>
        </p:txBody>
      </p:sp>
      <p:sp>
        <p:nvSpPr>
          <p:cNvPr id="7" name="Shape 5"/>
          <p:cNvSpPr/>
          <p:nvPr/>
        </p:nvSpPr>
        <p:spPr>
          <a:xfrm>
            <a:off x="4385680" y="2156761"/>
            <a:ext cx="3420571" cy="1488504"/>
          </a:xfrm>
          <a:prstGeom prst="roundRect">
            <a:avLst>
              <a:gd name="adj" fmla="val 6826"/>
            </a:avLst>
          </a:prstGeom>
          <a:solidFill>
            <a:srgbClr val="22344F"/>
          </a:solidFill>
          <a:ln/>
        </p:spPr>
      </p:sp>
      <p:sp>
        <p:nvSpPr>
          <p:cNvPr id="8" name="Text 6"/>
          <p:cNvSpPr/>
          <p:nvPr/>
        </p:nvSpPr>
        <p:spPr>
          <a:xfrm>
            <a:off x="4588857" y="2359937"/>
            <a:ext cx="3104644" cy="28449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C078"/>
                </a:solidFill>
                <a:latin typeface="Be Vietnam Pro" pitchFamily="34" charset="0"/>
                <a:ea typeface="Be Vietnam Pro" pitchFamily="34" charset="-122"/>
                <a:cs typeface="Be Vietnam Pro" pitchFamily="34" charset="-120"/>
              </a:rPr>
              <a:t>2. Gộp theo hàng</a:t>
            </a:r>
            <a:endParaRPr lang="en-US" sz="1700" dirty="0"/>
          </a:p>
        </p:txBody>
      </p:sp>
      <p:sp>
        <p:nvSpPr>
          <p:cNvPr id="9" name="Text 7"/>
          <p:cNvSpPr/>
          <p:nvPr/>
        </p:nvSpPr>
        <p:spPr>
          <a:xfrm>
            <a:off x="4588857" y="2695234"/>
            <a:ext cx="3104644" cy="5233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9F0"/>
                </a:solidFill>
                <a:latin typeface="Be Vietnam Pro" pitchFamily="34" charset="0"/>
                <a:ea typeface="Be Vietnam Pro" pitchFamily="34" charset="-122"/>
                <a:cs typeface="Be Vietnam Pro" pitchFamily="34" charset="-120"/>
              </a:rPr>
              <a:t>Các chỉ số của một em gộp thành một vector đại diện.</a:t>
            </a:r>
            <a:endParaRPr lang="en-US" sz="1400" dirty="0"/>
          </a:p>
        </p:txBody>
      </p:sp>
      <p:sp>
        <p:nvSpPr>
          <p:cNvPr id="10" name="Shape 8"/>
          <p:cNvSpPr/>
          <p:nvPr/>
        </p:nvSpPr>
        <p:spPr>
          <a:xfrm>
            <a:off x="7958651" y="2156761"/>
            <a:ext cx="3420571" cy="1488504"/>
          </a:xfrm>
          <a:prstGeom prst="roundRect">
            <a:avLst>
              <a:gd name="adj" fmla="val 6826"/>
            </a:avLst>
          </a:prstGeom>
          <a:solidFill>
            <a:srgbClr val="22344F"/>
          </a:solidFill>
          <a:ln/>
        </p:spPr>
      </p:sp>
      <p:sp>
        <p:nvSpPr>
          <p:cNvPr id="11" name="Text 9"/>
          <p:cNvSpPr/>
          <p:nvPr/>
        </p:nvSpPr>
        <p:spPr>
          <a:xfrm>
            <a:off x="8161829" y="2359937"/>
            <a:ext cx="3104644" cy="28449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C078"/>
                </a:solidFill>
                <a:latin typeface="Be Vietnam Pro" pitchFamily="34" charset="0"/>
                <a:ea typeface="Be Vietnam Pro" pitchFamily="34" charset="-122"/>
                <a:cs typeface="Be Vietnam Pro" pitchFamily="34" charset="-120"/>
              </a:rPr>
              <a:t>3. Học trong ngữ cảnh</a:t>
            </a:r>
            <a:endParaRPr lang="en-US" sz="1700" dirty="0"/>
          </a:p>
        </p:txBody>
      </p:sp>
      <p:sp>
        <p:nvSpPr>
          <p:cNvPr id="12" name="Text 10"/>
          <p:cNvSpPr/>
          <p:nvPr/>
        </p:nvSpPr>
        <p:spPr>
          <a:xfrm>
            <a:off x="8161829" y="2695234"/>
            <a:ext cx="3104644" cy="77225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9F0"/>
                </a:solidFill>
                <a:latin typeface="Be Vietnam Pro" pitchFamily="34" charset="0"/>
                <a:ea typeface="Be Vietnam Pro" pitchFamily="34" charset="-122"/>
                <a:cs typeface="Be Vietnam Pro" pitchFamily="34" charset="-120"/>
              </a:rPr>
              <a:t>Em cần đoán “chú ý” vào các em đã biết kết cục rồi bỏ phiếu có trọng số.</a:t>
            </a:r>
            <a:endParaRPr lang="en-US" sz="1400" dirty="0"/>
          </a:p>
        </p:txBody>
      </p:sp>
      <p:sp>
        <p:nvSpPr>
          <p:cNvPr id="13" name="Text 11"/>
          <p:cNvSpPr/>
          <p:nvPr/>
        </p:nvSpPr>
        <p:spPr>
          <a:xfrm>
            <a:off x="812777" y="4218477"/>
            <a:ext cx="1088343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9D2DE"/>
                </a:solidFill>
                <a:latin typeface="Be Vietnam Pro" pitchFamily="34" charset="0"/>
                <a:ea typeface="Be Vietnam Pro" pitchFamily="34" charset="-122"/>
                <a:cs typeface="Be Vietnam Pro" pitchFamily="34" charset="-120"/>
              </a:rPr>
              <a:t>Dự đoán chỉ một lượt tính, trọng số không đổi. Việc học diễn ra một lần trên dữ liệu giả lập, với mục tiêu cross-entropy và bộ tối ưu Muon.</a:t>
            </a:r>
            <a:endParaRPr lang="en-US" sz="1500" dirty="0"/>
          </a:p>
        </p:txBody>
      </p:sp>
      <p:sp>
        <p:nvSpPr>
          <p:cNvPr id="14" name="Text 12"/>
          <p:cNvSpPr/>
          <p:nvPr/>
        </p:nvSpPr>
        <p:spPr>
          <a:xfrm>
            <a:off x="812777" y="5344139"/>
            <a:ext cx="10883439" cy="52330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C078"/>
                </a:solidFill>
                <a:latin typeface="Be Vietnam Pro" pitchFamily="34" charset="0"/>
                <a:ea typeface="Be Vietnam Pro" pitchFamily="34" charset="-122"/>
                <a:cs typeface="Be Vietnam Pro" pitchFamily="34" charset="-120"/>
              </a:rPr>
              <a:t>Nhóm chưa chạy được TabICLv2: trọng số tải từ HuggingFace bị chặn. Slide sau minh họa cơ chế bằng một attention tự viết.</a:t>
            </a:r>
            <a:endParaRPr lang="en-US" sz="1400" dirty="0"/>
          </a:p>
        </p:txBody>
      </p:sp>
      <p:sp>
        <p:nvSpPr>
          <p:cNvPr id="15" name="Text 13"/>
          <p:cNvSpPr/>
          <p:nvPr/>
        </p:nvSpPr>
        <p:spPr>
          <a:xfrm>
            <a:off x="812777" y="6238329"/>
            <a:ext cx="9810750"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Nguồn: Qu, Holzmüller, Varoquaux, Le Morvan, ICML 2026</a:t>
            </a:r>
            <a:endParaRPr lang="en-US" sz="1200" dirty="0"/>
          </a:p>
        </p:txBody>
      </p:sp>
      <p:sp>
        <p:nvSpPr>
          <p:cNvPr id="16" name="Text 14"/>
          <p:cNvSpPr/>
          <p:nvPr/>
        </p:nvSpPr>
        <p:spPr>
          <a:xfrm>
            <a:off x="10912224" y="6238329"/>
            <a:ext cx="560399"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5"/>
            <a:ext cx="10883439" cy="28621"/>
          </a:xfrm>
          <a:prstGeom prst="rect">
            <a:avLst/>
          </a:prstGeom>
          <a:noFill/>
          <a:ln/>
        </p:spPr>
        <p:txBody>
          <a:bodyPr wrap="square" lIns="0" tIns="0" rIns="0" bIns="0" rtlCol="0" anchor="t">
            <a:normAutofit/>
          </a:bodyPr>
          <a:lstStyle/>
          <a:p>
            <a:pPr algn="l" indent="0" marL="0">
              <a:lnSpc>
                <a:spcPts val="1092"/>
              </a:lnSpc>
              <a:buNone/>
            </a:pPr>
            <a:r>
              <a:rPr lang="en-US" sz="780" b="1" spc="150" kern="0" dirty="0">
                <a:solidFill>
                  <a:srgbClr val="2F7A5E"/>
                </a:solidFill>
                <a:latin typeface="Be Vietnam Pro" pitchFamily="34" charset="0"/>
                <a:ea typeface="Be Vietnam Pro" pitchFamily="34" charset="-122"/>
                <a:cs typeface="Be Vietnam Pro" pitchFamily="34" charset="-120"/>
              </a:rPr>
              <a:t>VÍ DỤ TÍNH TAY · ATTENTION</a:t>
            </a:r>
            <a:endParaRPr lang="en-US" sz="780" dirty="0"/>
          </a:p>
        </p:txBody>
      </p:sp>
      <p:sp>
        <p:nvSpPr>
          <p:cNvPr id="3" name="Text 1"/>
          <p:cNvSpPr/>
          <p:nvPr>
            <p:ph type="title"/>
          </p:nvPr>
        </p:nvSpPr>
        <p:spPr>
          <a:xfrm>
            <a:off x="812777" y="917550"/>
            <a:ext cx="10883439" cy="31499"/>
          </a:xfrm>
          <a:prstGeom prst="rect">
            <a:avLst/>
          </a:prstGeom>
          <a:noFill/>
          <a:ln/>
        </p:spPr>
        <p:txBody>
          <a:bodyPr wrap="square" lIns="0" tIns="0" rIns="0" bIns="0" rtlCol="0" anchor="t">
            <a:normAutofit/>
          </a:bodyPr>
          <a:lstStyle/>
          <a:p>
            <a:pPr algn="l" indent="0" marL="0">
              <a:lnSpc>
                <a:spcPts val="2070"/>
              </a:lnSpc>
              <a:buNone/>
            </a:pPr>
            <a:r>
              <a:rPr lang="en-US" sz="1800" b="1" i="0" dirty="0">
                <a:solidFill>
                  <a:srgbClr val="17243A"/>
                </a:solidFill>
                <a:latin typeface="Lora" pitchFamily="18" charset="0"/>
                <a:ea typeface="Lora" pitchFamily="18" charset="-122"/>
                <a:cs typeface="Lora" pitchFamily="18" charset="-120"/>
              </a:rPr>
              <a:t>Em mới được so với bốn em đã biết kết cục</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548" y="2348566"/>
          <a:ext cx="10202097" cy="2044106"/>
        </p:xfrm>
        <a:graphic>
          <a:graphicData uri="http://schemas.openxmlformats.org/drawingml/2006/table">
            <a:tbl>
              <a:tblPr/>
              <a:tblGrid>
                <a:gridCol w="2652545"/>
                <a:gridCol w="3060629"/>
                <a:gridCol w="2244461"/>
                <a:gridCol w="2244461"/>
              </a:tblGrid>
              <a:tr h="408821">
                <a:tc>
                  <a:txBody>
                    <a:bodyPr/>
                    <a:lstStyle/>
                    <a:p>
                      <a:pPr indent="0" marL="0">
                        <a:lnSpc>
                          <a:spcPts val="2100"/>
                        </a:lnSpc>
                        <a:buNone/>
                      </a:pPr>
                      <a:r>
                        <a:rPr lang="en-US" sz="1500" b="1" dirty="0">
                          <a:solidFill>
                            <a:srgbClr val="17243A"/>
                          </a:solidFill>
                          <a:latin typeface="Be Vietnam Pro" pitchFamily="34" charset="0"/>
                          <a:ea typeface="Be Vietnam Pro" pitchFamily="34" charset="-122"/>
                          <a:cs typeface="Be Vietnam Pro" pitchFamily="34" charset="-120"/>
                        </a:rPr>
                        <a:t>Em trong ngữ cảnh</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7243A"/>
                          </a:solidFill>
                          <a:latin typeface="Be Vietnam Pro" pitchFamily="34" charset="0"/>
                          <a:ea typeface="Be Vietnam Pro" pitchFamily="34" charset="-122"/>
                          <a:cs typeface="Be Vietnam Pro" pitchFamily="34" charset="-120"/>
                        </a:rPr>
                        <a:t>Số môn qua (HK1; HK2)</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7243A"/>
                          </a:solidFill>
                          <a:latin typeface="Be Vietnam Pro" pitchFamily="34" charset="0"/>
                          <a:ea typeface="Be Vietnam Pro" pitchFamily="34" charset="-122"/>
                          <a:cs typeface="Be Vietnam Pro" pitchFamily="34" charset="-120"/>
                        </a:rPr>
                        <a:t>Kết cục</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algn="r" indent="0" marL="0">
                        <a:lnSpc>
                          <a:spcPts val="2100"/>
                        </a:lnSpc>
                        <a:buNone/>
                      </a:pPr>
                      <a:r>
                        <a:rPr lang="en-US" sz="1500" b="1" dirty="0">
                          <a:solidFill>
                            <a:srgbClr val="17243A"/>
                          </a:solidFill>
                          <a:latin typeface="Be Vietnam Pro" pitchFamily="34" charset="0"/>
                          <a:ea typeface="Be Vietnam Pro" pitchFamily="34" charset="-122"/>
                          <a:cs typeface="Be Vietnam Pro" pitchFamily="34" charset="-120"/>
                        </a:rPr>
                        <a:t>Trọng số</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08821">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Em 1</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(0; 0)</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Bỏ học</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0,42</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8821">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Em 2</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(6; 6)</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An toàn</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0,04</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8821">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Em 3</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(2; 1)</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Bỏ học</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0,44</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08821">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Em 4</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(5; 5)</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An toàn</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0,10</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11379222" y="-12202759"/>
            <a:ext cx="50800" cy="16827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43A"/>
                </a:solidFill>
                <a:latin typeface="Be Vietnam Pro" pitchFamily="34" charset="0"/>
                <a:ea typeface="Be Vietnam Pro" pitchFamily="34" charset="-122"/>
                <a:cs typeface="Be Vietnam Pro" pitchFamily="34" charset="-120"/>
              </a:rPr>
              <a:t>Em cần đoán qua </a:t>
            </a:r>
            <a:r>
              <a:rPr lang="en-US" sz="1500" b="1" dirty="0">
                <a:solidFill>
                  <a:srgbClr val="17243A"/>
                </a:solidFill>
                <a:latin typeface="Be Vietnam Pro" pitchFamily="34" charset="0"/>
                <a:ea typeface="Be Vietnam Pro" pitchFamily="34" charset="-122"/>
                <a:cs typeface="Be Vietnam Pro" pitchFamily="34" charset="-120"/>
              </a:rPr>
              <a:t>(1; 1)</a:t>
            </a:r>
            <a:r>
              <a:rPr lang="en-US" sz="1500" dirty="0">
                <a:solidFill>
                  <a:srgbClr val="17243A"/>
                </a:solidFill>
                <a:latin typeface="Be Vietnam Pro" pitchFamily="34" charset="0"/>
                <a:ea typeface="Be Vietnam Pro" pitchFamily="34" charset="-122"/>
                <a:cs typeface="Be Vietnam Pro" pitchFamily="34" charset="-120"/>
              </a:rPr>
              <a:t> môn. Hai em giống nhất, đều bỏ học, nhận gần hết trọng số.</a:t>
            </a:r>
            <a:endParaRPr lang="en-US" sz="1500" dirty="0"/>
          </a:p>
        </p:txBody>
      </p:sp>
      <p:sp>
        <p:nvSpPr>
          <p:cNvPr id="6" name="Text 3"/>
          <p:cNvSpPr/>
          <p:nvPr/>
        </p:nvSpPr>
        <p:spPr>
          <a:xfrm>
            <a:off x="11379222" y="4726316"/>
            <a:ext cx="50800" cy="7385689"/>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B8452F"/>
                </a:solidFill>
                <a:latin typeface="Lora" pitchFamily="18" charset="0"/>
                <a:ea typeface="Lora" pitchFamily="18" charset="-122"/>
                <a:cs typeface="Lora" pitchFamily="18" charset="-120"/>
              </a:rPr>
              <a:t>P(bỏ học) ≈ 0,42 + 0,44 ≈ 0,87</a:t>
            </a:r>
            <a:endParaRPr lang="en-US" sz="1800" dirty="0"/>
          </a:p>
        </p:txBody>
      </p:sp>
      <p:sp>
        <p:nvSpPr>
          <p:cNvPr id="7" name="Text 4"/>
          <p:cNvSpPr/>
          <p:nvPr/>
        </p:nvSpPr>
        <p:spPr>
          <a:xfrm>
            <a:off x="11379222" y="12213586"/>
            <a:ext cx="50800" cy="674710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Kết cục thật là bỏ học: đoán đúng.</a:t>
            </a:r>
            <a:endParaRPr lang="en-US" sz="1400" dirty="0"/>
          </a:p>
        </p:txBody>
      </p:sp>
      <p:sp>
        <p:nvSpPr>
          <p:cNvPr id="8" name="Text 5"/>
          <p:cNvSpPr/>
          <p:nvPr/>
        </p:nvSpPr>
        <p:spPr>
          <a:xfrm>
            <a:off x="812777" y="5808811"/>
            <a:ext cx="10883439" cy="58635"/>
          </a:xfrm>
          <a:prstGeom prst="rect">
            <a:avLst/>
          </a:prstGeom>
          <a:noFill/>
          <a:ln/>
        </p:spPr>
        <p:txBody>
          <a:bodyPr wrap="square" lIns="0" tIns="0" rIns="0" bIns="0" rtlCol="0" anchor="t">
            <a:normAutofit/>
          </a:bodyPr>
          <a:lstStyle/>
          <a:p>
            <a:pPr algn="l" indent="0" marL="0">
              <a:lnSpc>
                <a:spcPts val="1092"/>
              </a:lnSpc>
              <a:buNone/>
            </a:pPr>
            <a:r>
              <a:rPr lang="en-US" sz="780" dirty="0">
                <a:solidFill>
                  <a:srgbClr val="4A5568"/>
                </a:solidFill>
                <a:latin typeface="Be Vietnam Pro" pitchFamily="34" charset="0"/>
                <a:ea typeface="Be Vietnam Pro" pitchFamily="34" charset="-122"/>
                <a:cs typeface="Be Vietnam Pro" pitchFamily="34" charset="-120"/>
              </a:rPr>
              <a:t>Đây là bản đơn giản hóa để thấy cơ chế (không có trọng số học được), không phải TabICLv2. Số liệu tính từ dữ liệu thật của nhóm.</a:t>
            </a:r>
            <a:endParaRPr lang="en-US" sz="780" dirty="0"/>
          </a:p>
        </p:txBody>
      </p:sp>
      <p:sp>
        <p:nvSpPr>
          <p:cNvPr id="9" name="Text 6"/>
          <p:cNvSpPr/>
          <p:nvPr/>
        </p:nvSpPr>
        <p:spPr>
          <a:xfrm>
            <a:off x="812777" y="6238329"/>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0" name="Text 7"/>
          <p:cNvSpPr/>
          <p:nvPr/>
        </p:nvSpPr>
        <p:spPr>
          <a:xfrm>
            <a:off x="10910853" y="6238329"/>
            <a:ext cx="519170"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243A"/>
        </a:solidFill>
      </p:bgPr>
    </p:bg>
    <p:spTree>
      <p:nvGrpSpPr>
        <p:cNvPr id="1" name=""/>
        <p:cNvGrpSpPr/>
        <p:nvPr/>
      </p:nvGrpSpPr>
      <p:grpSpPr>
        <a:xfrm>
          <a:off x="0" y="0"/>
          <a:ext cx="0" cy="0"/>
          <a:chOff x="0" y="0"/>
          <a:chExt cx="0" cy="0"/>
        </a:xfrm>
      </p:grpSpPr>
      <p:sp>
        <p:nvSpPr>
          <p:cNvPr id="2" name="Text 0"/>
          <p:cNvSpPr/>
          <p:nvPr/>
        </p:nvSpPr>
        <p:spPr>
          <a:xfrm>
            <a:off x="812777" y="812775"/>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C078"/>
                </a:solidFill>
                <a:latin typeface="Be Vietnam Pro" pitchFamily="34" charset="0"/>
                <a:ea typeface="Be Vietnam Pro" pitchFamily="34" charset="-122"/>
                <a:cs typeface="Be Vietnam Pro" pitchFamily="34" charset="-120"/>
              </a:rPr>
              <a:t>KẾT QUẢ · HỒI QUY LOGISTIC ĐỐI CHỨNG</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3EC"/>
                </a:solidFill>
                <a:latin typeface="Lora" pitchFamily="18" charset="0"/>
                <a:ea typeface="Lora" pitchFamily="18" charset="-122"/>
                <a:cs typeface="Lora" pitchFamily="18" charset="-120"/>
              </a:rPr>
              <a:t>Biết càng nhiều càng bắt được mìn, nhưng càng muộn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548" y="2418937"/>
          <a:ext cx="10557675" cy="2044106"/>
        </p:xfrm>
        <a:graphic>
          <a:graphicData uri="http://schemas.openxmlformats.org/drawingml/2006/table">
            <a:tbl>
              <a:tblPr/>
              <a:tblGrid>
                <a:gridCol w="4645377"/>
                <a:gridCol w="1478074"/>
                <a:gridCol w="2322688"/>
                <a:gridCol w="2111535"/>
              </a:tblGrid>
              <a:tr h="408821">
                <a:tc>
                  <a:txBody>
                    <a:bodyPr/>
                    <a:lstStyle/>
                    <a:p>
                      <a:pPr indent="0" marL="0">
                        <a:lnSpc>
                          <a:spcPts val="2100"/>
                        </a:lnSpc>
                        <a:buNone/>
                      </a:pPr>
                      <a:r>
                        <a:rPr lang="en-US" sz="1500" b="1" dirty="0">
                          <a:solidFill>
                            <a:srgbClr val="F6F3EC"/>
                          </a:solidFill>
                          <a:latin typeface="Be Vietnam Pro" pitchFamily="34" charset="0"/>
                          <a:ea typeface="Be Vietnam Pro" pitchFamily="34" charset="-122"/>
                          <a:cs typeface="Be Vietnam Pro" pitchFamily="34" charset="-120"/>
                        </a:rPr>
                        <a:t>Thông tin đưa vào</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57606F"/>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57606F"/>
                      </a:solidFill>
                      <a:prstDash val="solid"/>
                      <a:round/>
                      <a:headEnd type="none" w="med" len="med"/>
                      <a:tailEnd type="none" w="med" len="med"/>
                    </a:lnB>
                    <a:solidFill>
                      <a:srgbClr val="293549"/>
                    </a:solidFill>
                  </a:tcPr>
                </a:tc>
                <a:tc>
                  <a:txBody>
                    <a:bodyPr/>
                    <a:lstStyle/>
                    <a:p>
                      <a:pPr algn="r" indent="0" marL="0">
                        <a:lnSpc>
                          <a:spcPts val="2100"/>
                        </a:lnSpc>
                        <a:buNone/>
                      </a:pPr>
                      <a:r>
                        <a:rPr lang="en-US" sz="1500" b="1" dirty="0">
                          <a:solidFill>
                            <a:srgbClr val="F6F3EC"/>
                          </a:solidFill>
                          <a:latin typeface="Be Vietnam Pro" pitchFamily="34" charset="0"/>
                          <a:ea typeface="Be Vietnam Pro" pitchFamily="34" charset="-122"/>
                          <a:cs typeface="Be Vietnam Pro" pitchFamily="34" charset="-120"/>
                        </a:rPr>
                        <a:t>Accuracy</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57606F"/>
                      </a:solidFill>
                      <a:prstDash val="solid"/>
                      <a:round/>
                      <a:headEnd type="none" w="med" len="med"/>
                      <a:tailEnd type="none" w="med" len="med"/>
                    </a:lnL>
                    <a:lnR w="12700" cap="flat" cmpd="sng" algn="ctr">
                      <a:solidFill>
                        <a:srgbClr val="57606F"/>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57606F"/>
                      </a:solidFill>
                      <a:prstDash val="solid"/>
                      <a:round/>
                      <a:headEnd type="none" w="med" len="med"/>
                      <a:tailEnd type="none" w="med" len="med"/>
                    </a:lnB>
                    <a:solidFill>
                      <a:srgbClr val="293549"/>
                    </a:solidFill>
                  </a:tcPr>
                </a:tc>
                <a:tc>
                  <a:txBody>
                    <a:bodyPr/>
                    <a:lstStyle/>
                    <a:p>
                      <a:pPr algn="r" indent="0" marL="0">
                        <a:lnSpc>
                          <a:spcPts val="2100"/>
                        </a:lnSpc>
                        <a:buNone/>
                      </a:pPr>
                      <a:r>
                        <a:rPr lang="en-US" sz="1500" b="1" dirty="0">
                          <a:solidFill>
                            <a:srgbClr val="F6F3EC"/>
                          </a:solidFill>
                          <a:latin typeface="Be Vietnam Pro" pitchFamily="34" charset="0"/>
                          <a:ea typeface="Be Vietnam Pro" pitchFamily="34" charset="-122"/>
                          <a:cs typeface="Be Vietnam Pro" pitchFamily="34" charset="-120"/>
                        </a:rPr>
                        <a:t>Recall (bỏ học)</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57606F"/>
                      </a:solidFill>
                      <a:prstDash val="solid"/>
                      <a:round/>
                      <a:headEnd type="none" w="med" len="med"/>
                      <a:tailEnd type="none" w="med" len="med"/>
                    </a:lnL>
                    <a:lnR w="12700" cap="flat" cmpd="sng" algn="ctr">
                      <a:solidFill>
                        <a:srgbClr val="57606F"/>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57606F"/>
                      </a:solidFill>
                      <a:prstDash val="solid"/>
                      <a:round/>
                      <a:headEnd type="none" w="med" len="med"/>
                      <a:tailEnd type="none" w="med" len="med"/>
                    </a:lnB>
                    <a:solidFill>
                      <a:srgbClr val="293549"/>
                    </a:solidFill>
                  </a:tcPr>
                </a:tc>
                <a:tc>
                  <a:txBody>
                    <a:bodyPr/>
                    <a:lstStyle/>
                    <a:p>
                      <a:pPr algn="r" indent="0" marL="0">
                        <a:lnSpc>
                          <a:spcPts val="2100"/>
                        </a:lnSpc>
                        <a:buNone/>
                      </a:pPr>
                      <a:r>
                        <a:rPr lang="en-US" sz="1500" b="1" dirty="0">
                          <a:solidFill>
                            <a:srgbClr val="F6F3EC"/>
                          </a:solidFill>
                          <a:latin typeface="Be Vietnam Pro" pitchFamily="34" charset="0"/>
                          <a:ea typeface="Be Vietnam Pro" pitchFamily="34" charset="-122"/>
                          <a:cs typeface="Be Vietnam Pro" pitchFamily="34" charset="-120"/>
                        </a:rPr>
                        <a:t>AUC</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57606F"/>
                      </a:solidFill>
                      <a:prstDash val="solid"/>
                      <a:round/>
                      <a:headEnd type="none" w="med" len="med"/>
                      <a:tailEnd type="none" w="med" len="med"/>
                    </a:lnL>
                    <a:lnR w="12700" cap="flat" cmpd="sng" algn="ctr">
                      <a:solidFill>
                        <a:srgbClr val="57606F"/>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57606F"/>
                      </a:solidFill>
                      <a:prstDash val="solid"/>
                      <a:round/>
                      <a:headEnd type="none" w="med" len="med"/>
                      <a:tailEnd type="none" w="med" len="med"/>
                    </a:lnB>
                    <a:solidFill>
                      <a:srgbClr val="293549"/>
                    </a:solidFill>
                  </a:tcPr>
                </a:tc>
              </a:tr>
              <a:tr h="408821">
                <a:tc>
                  <a:txBody>
                    <a:bodyPr/>
                    <a:lstStyle/>
                    <a:p>
                      <a:pP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A. Lúc nhập học (8 cột)</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57606F"/>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75,1%</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57606F"/>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E58A73"/>
                          </a:solidFill>
                          <a:latin typeface="Be Vietnam Pro" pitchFamily="34" charset="0"/>
                          <a:ea typeface="Be Vietnam Pro" pitchFamily="34" charset="-122"/>
                          <a:cs typeface="Be Vietnam Pro" pitchFamily="34" charset="-120"/>
                        </a:rPr>
                        <a:t>58,1%</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57606F"/>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0,815</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57606F"/>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r>
              <a:tr h="408821">
                <a:tc>
                  <a:txBody>
                    <a:bodyPr/>
                    <a:lstStyle/>
                    <a:p>
                      <a:pP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B1. Đến hết học kỳ 1 (6 cột)</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87,5%</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80,6%</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0,914</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r>
              <a:tr h="408821">
                <a:tc>
                  <a:txBody>
                    <a:bodyPr/>
                    <a:lstStyle/>
                    <a:p>
                      <a:pP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B. Đến hết học kỳ 2 (8 cột)</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89,9%</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85,6%</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0,940</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r>
              <a:tr h="408821">
                <a:tc>
                  <a:txBody>
                    <a:bodyPr/>
                    <a:lstStyle/>
                    <a:p>
                      <a:pP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C. Đầy đủ 35 cột</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94,5%</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9AD1B4"/>
                          </a:solidFill>
                          <a:latin typeface="Be Vietnam Pro" pitchFamily="34" charset="0"/>
                          <a:ea typeface="Be Vietnam Pro" pitchFamily="34" charset="-122"/>
                          <a:cs typeface="Be Vietnam Pro" pitchFamily="34" charset="-120"/>
                        </a:rPr>
                        <a:t>92,3%</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c>
                  <a:txBody>
                    <a:bodyPr/>
                    <a:lstStyle/>
                    <a:p>
                      <a:pPr algn="r" indent="0" marL="0">
                        <a:lnSpc>
                          <a:spcPts val="2100"/>
                        </a:lnSpc>
                        <a:buNone/>
                      </a:pPr>
                      <a:r>
                        <a:rPr lang="en-US" sz="1500" dirty="0">
                          <a:solidFill>
                            <a:srgbClr val="F6F3EC"/>
                          </a:solidFill>
                          <a:latin typeface="Be Vietnam Pro" pitchFamily="34" charset="0"/>
                          <a:ea typeface="Be Vietnam Pro" pitchFamily="34" charset="-122"/>
                          <a:cs typeface="Be Vietnam Pro" pitchFamily="34" charset="-120"/>
                        </a:rPr>
                        <a:t>0,973</a:t>
                      </a:r>
                      <a:endParaRPr lang="en-US" sz="1500" dirty="0">
                        <a:latin typeface="Be Vietnam Pro" charset="0"/>
                        <a:ea typeface="Be Vietnam Pro" charset="0"/>
                        <a:cs typeface="Be Vietnam Pro" charset="0"/>
                      </a:endParaRPr>
                    </a:p>
                  </a:txBody>
                  <a:tcPr marL="66675" marR="66675" marT="66675" marB="66675" anchor="t">
                    <a:lnL w="12700" cap="flat" cmpd="sng" algn="ctr">
                      <a:solidFill>
                        <a:srgbClr val="495363"/>
                      </a:solidFill>
                      <a:prstDash val="solid"/>
                      <a:round/>
                      <a:headEnd type="none" w="med" len="med"/>
                      <a:tailEnd type="none" w="med" len="med"/>
                    </a:lnL>
                    <a:lnR w="12700" cap="flat" cmpd="sng" algn="ctr">
                      <a:solidFill>
                        <a:srgbClr val="495363"/>
                      </a:solidFill>
                      <a:prstDash val="solid"/>
                      <a:round/>
                      <a:headEnd type="none" w="med" len="med"/>
                      <a:tailEnd type="none" w="med" len="med"/>
                    </a:lnR>
                    <a:lnT w="12700" cap="flat" cmpd="sng" algn="ctr">
                      <a:solidFill>
                        <a:srgbClr val="495363"/>
                      </a:solidFill>
                      <a:prstDash val="solid"/>
                      <a:round/>
                      <a:headEnd type="none" w="med" len="med"/>
                      <a:tailEnd type="none" w="med" len="med"/>
                    </a:lnT>
                    <a:lnB w="12700" cap="flat" cmpd="sng" algn="ctr">
                      <a:solidFill>
                        <a:srgbClr val="495363"/>
                      </a:solidFill>
                      <a:prstDash val="solid"/>
                      <a:round/>
                      <a:headEnd type="none" w="med" len="med"/>
                      <a:tailEnd type="none" w="med" len="med"/>
                    </a:lnB>
                  </a:tcPr>
                </a:tc>
              </a:tr>
            </a:tbl>
          </a:graphicData>
        </a:graphic>
      </p:graphicFrame>
      <p:sp>
        <p:nvSpPr>
          <p:cNvPr id="5" name="Text 2"/>
          <p:cNvSpPr/>
          <p:nvPr/>
        </p:nvSpPr>
        <p:spPr>
          <a:xfrm>
            <a:off x="812777" y="5289593"/>
            <a:ext cx="1088343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9D2DE"/>
                </a:solidFill>
                <a:latin typeface="Be Vietnam Pro" pitchFamily="34" charset="0"/>
                <a:ea typeface="Be Vietnam Pro" pitchFamily="34" charset="-122"/>
                <a:cs typeface="Be Vietnam Pro" pitchFamily="34" charset="-120"/>
              </a:rPr>
              <a:t>Chỉ dùng thông tin lúc nhập học thì gần một nửa số em bỏ học bị bỏ sót. Thêm học kỳ 1 lên 80,6%. Nhưng điểm 0 ở học kỳ 2 phần nào đã là dấu hiệu em nghỉ, nên cảnh báo sớm thật sự dựa vào B1.</a:t>
            </a:r>
            <a:endParaRPr lang="en-US" sz="1500" dirty="0"/>
          </a:p>
        </p:txBody>
      </p:sp>
      <p:sp>
        <p:nvSpPr>
          <p:cNvPr id="6" name="Text 3"/>
          <p:cNvSpPr/>
          <p:nvPr/>
        </p:nvSpPr>
        <p:spPr>
          <a:xfrm>
            <a:off x="812777" y="6238329"/>
            <a:ext cx="9810750"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726 sinh viên kiểm tra, sai số Accuracy khoảng ±2,2 điểm; chia 80/20, seed 42</a:t>
            </a:r>
            <a:endParaRPr lang="en-US" sz="1200" dirty="0"/>
          </a:p>
        </p:txBody>
      </p:sp>
      <p:sp>
        <p:nvSpPr>
          <p:cNvPr id="7" name="Text 4"/>
          <p:cNvSpPr/>
          <p:nvPr/>
        </p:nvSpPr>
        <p:spPr>
          <a:xfrm>
            <a:off x="10903247" y="6238329"/>
            <a:ext cx="571171"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77" y="812775"/>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F7A5E"/>
                </a:solidFill>
                <a:latin typeface="Be Vietnam Pro" pitchFamily="34" charset="0"/>
                <a:ea typeface="Be Vietnam Pro" pitchFamily="34" charset="-122"/>
                <a:cs typeface="Be Vietnam Pro" pitchFamily="34" charset="-120"/>
              </a:rPr>
              <a:t>BỎ SÓT ĐẮT HƠN BÁO NHẦM</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7243A"/>
                </a:solidFill>
                <a:latin typeface="Lora" pitchFamily="18" charset="0"/>
                <a:ea typeface="Lora" pitchFamily="18" charset="-122"/>
                <a:cs typeface="Lora" pitchFamily="18" charset="-120"/>
              </a:rPr>
              <a:t>Hạ ngưỡng báo động để bắt thêm mìn</a:t>
            </a:r>
            <a:endParaRPr lang="en-US" sz="3000" dirty="0"/>
          </a:p>
        </p:txBody>
      </p:sp>
      <p:sp>
        <p:nvSpPr>
          <p:cNvPr id="4" name="Shape 2"/>
          <p:cNvSpPr/>
          <p:nvPr/>
        </p:nvSpPr>
        <p:spPr>
          <a:xfrm>
            <a:off x="812777" y="2794043"/>
            <a:ext cx="4953000" cy="3048000"/>
          </a:xfrm>
          <a:prstGeom prst="roundRect">
            <a:avLst>
              <a:gd name="adj" fmla="val 3333"/>
            </a:avLst>
          </a:prstGeom>
          <a:solidFill>
            <a:srgbClr val="FFFFFF"/>
          </a:solidFill>
          <a:ln/>
        </p:spPr>
      </p:sp>
      <p:pic>
        <p:nvPicPr>
          <p:cNvPr id="5" name="Image 0" descr="Đường Recall, Precision và Accuracy theo ngưỡng báo động từ 0,2 đến 0,6. Recall giảm dần từ khoảng 95 phần trăm xuống 81 phần trăm khi ngưỡng tăng.">    </p:cNvPr>
          <p:cNvPicPr>
            <a:picLocks noChangeAspect="1"/>
          </p:cNvPicPr>
          <p:nvPr/>
        </p:nvPicPr>
        <p:blipFill>
          <a:blip r:embed="rId1"/>
          <a:stretch>
            <a:fillRect/>
          </a:stretch>
        </p:blipFill>
        <p:spPr>
          <a:xfrm>
            <a:off x="878892" y="2800393"/>
            <a:ext cx="4820771" cy="3035300"/>
          </a:xfrm>
          <a:custGeom>
            <a:avLst/>
            <a:gdLst/>
            <a:ahLst/>
            <a:cxnLst/>
            <a:rect l="l" t="t" r="r" b="b"/>
            <a:pathLst>
              <a:path w="4820771" h="3035300">
                <a:moveTo>
                  <a:pt x="0" y="6857"/>
                </a:moveTo>
                <a:arcTo wR="95250" hR="95250" stAng="14887626" swAng="1312374"/>
                <a:lnTo>
                  <a:pt x="4785285" y="0"/>
                </a:lnTo>
                <a:arcTo wR="95250" hR="95250" stAng="16200000" swAng="1312374"/>
                <a:lnTo>
                  <a:pt x="4820771" y="3028443"/>
                </a:lnTo>
                <a:arcTo wR="95250" hR="95250" stAng="4087626" swAng="1312374"/>
                <a:lnTo>
                  <a:pt x="35485" y="3035300"/>
                </a:lnTo>
                <a:arcTo wR="95250" hR="95250" stAng="5400000" swAng="1312374"/>
                <a:close/>
              </a:path>
            </a:pathLst>
          </a:custGeom>
        </p:spPr>
      </p:pic>
      <p:sp>
        <p:nvSpPr>
          <p:cNvPr id="6" name="Shape 3"/>
          <p:cNvSpPr/>
          <p:nvPr/>
        </p:nvSpPr>
        <p:spPr>
          <a:xfrm>
            <a:off x="815952" y="2797218"/>
            <a:ext cx="4946650" cy="3041650"/>
          </a:xfrm>
          <a:prstGeom prst="roundRect">
            <a:avLst>
              <a:gd name="adj" fmla="val 3236"/>
            </a:avLst>
          </a:prstGeom>
          <a:noFill/>
          <a:ln w="6350">
            <a:solidFill>
              <a:srgbClr val="DDD8CC"/>
            </a:solidFill>
            <a:prstDash val="solid"/>
          </a:ln>
        </p:spPr>
      </p:sp>
      <p:sp>
        <p:nvSpPr>
          <p:cNvPr id="7" name="Text 4"/>
          <p:cNvSpPr/>
          <p:nvPr/>
        </p:nvSpPr>
        <p:spPr>
          <a:xfrm>
            <a:off x="6070577" y="3215611"/>
            <a:ext cx="5467905"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7243A"/>
                </a:solidFill>
                <a:latin typeface="Be Vietnam Pro" pitchFamily="34" charset="0"/>
                <a:ea typeface="Be Vietnam Pro" pitchFamily="34" charset="-122"/>
                <a:cs typeface="Be Vietnam Pro" pitchFamily="34" charset="-120"/>
              </a:rPr>
              <a:t>Ngưỡng 0,5</a:t>
            </a:r>
            <a:endParaRPr lang="en-US" sz="1700" dirty="0"/>
          </a:p>
        </p:txBody>
      </p:sp>
      <p:sp>
        <p:nvSpPr>
          <p:cNvPr id="8" name="Text 5"/>
          <p:cNvSpPr/>
          <p:nvPr/>
        </p:nvSpPr>
        <p:spPr>
          <a:xfrm>
            <a:off x="6070577" y="3543232"/>
            <a:ext cx="5467905"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bỏ sót 41 em, báo nhầm 32 em</a:t>
            </a:r>
            <a:endParaRPr lang="en-US" sz="1400" dirty="0"/>
          </a:p>
        </p:txBody>
      </p:sp>
      <p:sp>
        <p:nvSpPr>
          <p:cNvPr id="9" name="Text 6"/>
          <p:cNvSpPr/>
          <p:nvPr/>
        </p:nvSpPr>
        <p:spPr>
          <a:xfrm>
            <a:off x="6070577" y="3944584"/>
            <a:ext cx="5467905" cy="327665"/>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52F"/>
                </a:solidFill>
                <a:latin typeface="Be Vietnam Pro" pitchFamily="34" charset="0"/>
                <a:ea typeface="Be Vietnam Pro" pitchFamily="34" charset="-122"/>
                <a:cs typeface="Be Vietnam Pro" pitchFamily="34" charset="-120"/>
              </a:rPr>
              <a:t>Ngưỡng 0,3</a:t>
            </a:r>
            <a:endParaRPr lang="en-US" sz="1700" dirty="0"/>
          </a:p>
        </p:txBody>
      </p:sp>
      <p:sp>
        <p:nvSpPr>
          <p:cNvPr id="10" name="Text 7"/>
          <p:cNvSpPr/>
          <p:nvPr/>
        </p:nvSpPr>
        <p:spPr>
          <a:xfrm>
            <a:off x="6070577" y="4272204"/>
            <a:ext cx="5467905" cy="27435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Be Vietnam Pro" pitchFamily="34" charset="0"/>
                <a:ea typeface="Be Vietnam Pro" pitchFamily="34" charset="-122"/>
                <a:cs typeface="Be Vietnam Pro" pitchFamily="34" charset="-120"/>
              </a:rPr>
              <a:t>bắt 91,5% em bỏ học, bỏ sót 24 em, báo nhầm 71 em</a:t>
            </a:r>
            <a:endParaRPr lang="en-US" sz="1400" dirty="0"/>
          </a:p>
        </p:txBody>
      </p:sp>
      <p:sp>
        <p:nvSpPr>
          <p:cNvPr id="11" name="Text 8"/>
          <p:cNvSpPr/>
          <p:nvPr/>
        </p:nvSpPr>
        <p:spPr>
          <a:xfrm>
            <a:off x="6070577" y="4673557"/>
            <a:ext cx="5467905" cy="77225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43A"/>
                </a:solidFill>
                <a:latin typeface="Be Vietnam Pro" pitchFamily="34" charset="0"/>
                <a:ea typeface="Be Vietnam Pro" pitchFamily="34" charset="-122"/>
                <a:cs typeface="Be Vietnam Pro" pitchFamily="34" charset="-120"/>
              </a:rPr>
              <a:t>Báo nhầm chỉ tốn một buổi gặp mặt. Bỏ sót là mất một sinh viên. Chọn ngưỡng là quyết định của nhà trường, không phải của thuật toán.</a:t>
            </a:r>
            <a:endParaRPr lang="en-US" sz="1400" dirty="0"/>
          </a:p>
        </p:txBody>
      </p:sp>
      <p:sp>
        <p:nvSpPr>
          <p:cNvPr id="12" name="Text 9"/>
          <p:cNvSpPr/>
          <p:nvPr/>
        </p:nvSpPr>
        <p:spPr>
          <a:xfrm>
            <a:off x="812777" y="6238329"/>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3" name="Text 10"/>
          <p:cNvSpPr/>
          <p:nvPr/>
        </p:nvSpPr>
        <p:spPr>
          <a:xfrm>
            <a:off x="10910853" y="6238329"/>
            <a:ext cx="562044"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Be Vietnam Pro" pitchFamily="34" charset="0"/>
                <a:ea typeface="Be Vietnam Pro" pitchFamily="34" charset="-122"/>
                <a:cs typeface="Be Vietnam Pro" pitchFamily="34"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243A"/>
        </a:solidFill>
      </p:bgPr>
    </p:bg>
    <p:spTree>
      <p:nvGrpSpPr>
        <p:cNvPr id="1" name=""/>
        <p:cNvGrpSpPr/>
        <p:nvPr/>
      </p:nvGrpSpPr>
      <p:grpSpPr>
        <a:xfrm>
          <a:off x="0" y="0"/>
          <a:ext cx="0" cy="0"/>
          <a:chOff x="0" y="0"/>
          <a:chExt cx="0" cy="0"/>
        </a:xfrm>
      </p:grpSpPr>
      <p:sp>
        <p:nvSpPr>
          <p:cNvPr id="2" name="Text 0"/>
          <p:cNvSpPr/>
          <p:nvPr/>
        </p:nvSpPr>
        <p:spPr>
          <a:xfrm>
            <a:off x="812777" y="812775"/>
            <a:ext cx="10883439" cy="25646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C078"/>
                </a:solidFill>
                <a:latin typeface="Be Vietnam Pro" pitchFamily="34" charset="0"/>
                <a:ea typeface="Be Vietnam Pro" pitchFamily="34" charset="-122"/>
                <a:cs typeface="Be Vietnam Pro" pitchFamily="34" charset="-120"/>
              </a:rPr>
              <a:t>KẾT LUẬN VÀ HẠN CHẾ</a:t>
            </a:r>
            <a:endParaRPr lang="en-US" sz="1300" dirty="0"/>
          </a:p>
        </p:txBody>
      </p:sp>
      <p:sp>
        <p:nvSpPr>
          <p:cNvPr id="3" name="Text 1"/>
          <p:cNvSpPr/>
          <p:nvPr>
            <p:ph type="title"/>
          </p:nvPr>
        </p:nvSpPr>
        <p:spPr>
          <a:xfrm>
            <a:off x="812777" y="1145400"/>
            <a:ext cx="1088343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3EC"/>
                </a:solidFill>
                <a:latin typeface="Lora" pitchFamily="18" charset="0"/>
                <a:ea typeface="Lora" pitchFamily="18" charset="-122"/>
                <a:cs typeface="Lora" pitchFamily="18" charset="-120"/>
              </a:rPr>
              <a:t>Mỗi mảnh toán có mặt vì bài toán cần nó</a:t>
            </a:r>
            <a:endParaRPr lang="en-US" sz="3000" dirty="0"/>
          </a:p>
        </p:txBody>
      </p:sp>
      <p:sp>
        <p:nvSpPr>
          <p:cNvPr id="4" name="Text 2"/>
          <p:cNvSpPr/>
          <p:nvPr/>
        </p:nvSpPr>
        <p:spPr>
          <a:xfrm>
            <a:off x="812777" y="2586682"/>
            <a:ext cx="5258562" cy="29970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C078"/>
                </a:solidFill>
                <a:latin typeface="Be Vietnam Pro" pitchFamily="34" charset="0"/>
                <a:ea typeface="Be Vietnam Pro" pitchFamily="34" charset="-122"/>
                <a:cs typeface="Be Vietnam Pro" pitchFamily="34" charset="-120"/>
              </a:rPr>
              <a:t>Điều rút ra</a:t>
            </a:r>
            <a:endParaRPr lang="en-US" sz="1800" dirty="0"/>
          </a:p>
        </p:txBody>
      </p:sp>
      <p:sp>
        <p:nvSpPr>
          <p:cNvPr id="5" name="Text 3"/>
          <p:cNvSpPr/>
          <p:nvPr/>
        </p:nvSpPr>
        <p:spPr>
          <a:xfrm>
            <a:off x="897359" y="2962548"/>
            <a:ext cx="5166360"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Vector và ma trận để biến sinh viên thành số.</a:t>
            </a:r>
            <a:endParaRPr lang="en-US" sz="1400" dirty="0"/>
          </a:p>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Sigmoid và cross-entropy để ra xác suất và phạt tự tin sai.</a:t>
            </a:r>
            <a:endParaRPr lang="en-US" sz="1400" dirty="0"/>
          </a:p>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Gradient để biết sửa trọng số theo hướng nào.</a:t>
            </a:r>
            <a:endParaRPr lang="en-US" sz="1400" dirty="0"/>
          </a:p>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Chuẩn hóa quyết định việc Gradient Descent có hội tụ.</a:t>
            </a:r>
            <a:endParaRPr lang="en-US" sz="1400" dirty="0"/>
          </a:p>
        </p:txBody>
      </p:sp>
      <p:sp>
        <p:nvSpPr>
          <p:cNvPr id="6" name="Text 4"/>
          <p:cNvSpPr/>
          <p:nvPr/>
        </p:nvSpPr>
        <p:spPr>
          <a:xfrm>
            <a:off x="6273754" y="2586682"/>
            <a:ext cx="5258633" cy="29970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58A73"/>
                </a:solidFill>
                <a:latin typeface="Be Vietnam Pro" pitchFamily="34" charset="0"/>
                <a:ea typeface="Be Vietnam Pro" pitchFamily="34" charset="-122"/>
                <a:cs typeface="Be Vietnam Pro" pitchFamily="34" charset="-120"/>
              </a:rPr>
              <a:t>Hạn chế</a:t>
            </a:r>
            <a:endParaRPr lang="en-US" sz="1800" dirty="0"/>
          </a:p>
        </p:txBody>
      </p:sp>
      <p:sp>
        <p:nvSpPr>
          <p:cNvPr id="7" name="Text 5"/>
          <p:cNvSpPr/>
          <p:nvPr/>
        </p:nvSpPr>
        <p:spPr>
          <a:xfrm>
            <a:off x="6358336" y="2962548"/>
            <a:ext cx="5166431" cy="16256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TabICLv2 chưa chạy được, số liệu đến từ mô hình đối chứng.</a:t>
            </a:r>
            <a:endParaRPr lang="en-US" sz="1400" dirty="0"/>
          </a:p>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Điểm học kỳ 2 phần nào đã chứa sẵn đáp án.</a:t>
            </a:r>
            <a:endParaRPr lang="en-US" sz="1400" dirty="0"/>
          </a:p>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Hai cột môn qua tương quan 0,92 nên khó đọc từng trọng số.</a:t>
            </a:r>
            <a:endParaRPr lang="en-US" sz="1400" dirty="0"/>
          </a:p>
          <a:p>
            <a:pPr algn="l" marL="169418" indent="-169418">
              <a:lnSpc>
                <a:spcPts val="2100"/>
              </a:lnSpc>
              <a:buSzPct val="100000"/>
              <a:buChar char="•"/>
            </a:pPr>
            <a:r>
              <a:rPr lang="en-US" sz="1400" dirty="0">
                <a:solidFill>
                  <a:srgbClr val="E4E9F0"/>
                </a:solidFill>
                <a:latin typeface="Be Vietnam Pro" pitchFamily="34" charset="0"/>
                <a:ea typeface="Be Vietnam Pro" pitchFamily="34" charset="-122"/>
                <a:cs typeface="Be Vietnam Pro" pitchFamily="34" charset="-120"/>
              </a:rPr>
              <a:t>Một lần chia dữ liệu, chưa kiểm tra chéo.</a:t>
            </a:r>
            <a:endParaRPr lang="en-US" sz="1400" dirty="0"/>
          </a:p>
        </p:txBody>
      </p:sp>
      <p:sp>
        <p:nvSpPr>
          <p:cNvPr id="8" name="Text 6"/>
          <p:cNvSpPr/>
          <p:nvPr/>
        </p:nvSpPr>
        <p:spPr>
          <a:xfrm>
            <a:off x="812777" y="5565825"/>
            <a:ext cx="10883439"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9D2DE"/>
                </a:solidFill>
                <a:latin typeface="Be Vietnam Pro" pitchFamily="34" charset="0"/>
                <a:ea typeface="Be Vietnam Pro" pitchFamily="34" charset="-122"/>
                <a:cs typeface="Be Vietnam Pro" pitchFamily="34" charset="-120"/>
              </a:rPr>
              <a:t>Từ trò dò mìn: đoán đúng hay sai chưa đáng giá bằng việc biết cái giá của từng kiểu sai.</a:t>
            </a:r>
            <a:endParaRPr lang="en-US" sz="1500" dirty="0"/>
          </a:p>
        </p:txBody>
      </p:sp>
      <p:sp>
        <p:nvSpPr>
          <p:cNvPr id="9" name="Text 7"/>
          <p:cNvSpPr/>
          <p:nvPr/>
        </p:nvSpPr>
        <p:spPr>
          <a:xfrm>
            <a:off x="812777" y="6238329"/>
            <a:ext cx="2951325"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Bài tập tuần 5 · Nhóm [tên nhóm]</a:t>
            </a:r>
            <a:endParaRPr lang="en-US" sz="1200" dirty="0"/>
          </a:p>
        </p:txBody>
      </p:sp>
      <p:sp>
        <p:nvSpPr>
          <p:cNvPr id="10" name="Text 8"/>
          <p:cNvSpPr/>
          <p:nvPr/>
        </p:nvSpPr>
        <p:spPr>
          <a:xfrm>
            <a:off x="10907838" y="6238329"/>
            <a:ext cx="565662" cy="23871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Be Vietnam Pro" pitchFamily="34" charset="0"/>
                <a:ea typeface="Be Vietnam Pro" pitchFamily="34" charset="-122"/>
                <a:cs typeface="Be Vietnam Pro" pitchFamily="34" charset="-120"/>
              </a:rPr>
              <a:t>16 / 16</a:t>
            </a:r>
            <a:endParaRPr lang="en-US" sz="1200" dirty="0"/>
          </a:p>
        </p:txBody>
      </p:sp>
    </p:spTree>
  </p:cSld>
  <p:clrMapOvr>
    <a:masterClrMapping/>
  </p:clrMapOvr>
</p:sld>
</file>

<file path=ppt/theme/theme1.xml><?xml version="1.0" encoding="utf-8"?>
<a:theme xmlns:a="http://schemas.openxmlformats.org/drawingml/2006/main" name="Dự đoán sinh viên bỏ học với TabICLv2">
  <a:themeElements>
    <a:clrScheme name="Dự đoán sinh viên bỏ học với TabICLv2">
      <a:dk1>
        <a:srgbClr val="17243A"/>
      </a:dk1>
      <a:lt1>
        <a:srgbClr val="F6F3EC"/>
      </a:lt1>
      <a:dk2>
        <a:srgbClr val="4F5867"/>
      </a:dk2>
      <a:lt2>
        <a:srgbClr val="E0DEDA"/>
      </a:lt2>
      <a:accent1>
        <a:srgbClr val="2F7A5E"/>
      </a:accent1>
      <a:accent2>
        <a:srgbClr val="F2C078"/>
      </a:accent2>
      <a:accent3>
        <a:srgbClr val="B8452F"/>
      </a:accent3>
      <a:accent4>
        <a:srgbClr val="E58A73"/>
      </a:accent4>
      <a:accent5>
        <a:srgbClr val="4A5568"/>
      </a:accent5>
      <a:accent6>
        <a:srgbClr val="6A7179"/>
      </a:accent6>
      <a:hlink>
        <a:srgbClr val="0563C1"/>
      </a:hlink>
      <a:folHlink>
        <a:srgbClr val="954F72"/>
      </a:folHlink>
    </a:clrScheme>
    <a:fontScheme name="Dự đoán sinh viên bỏ học với TabICLv2">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đoán sinh viên bỏ học với TabICLv2</dc:title>
  <dc:subject/>
  <dc:creator/>
  <cp:lastModifiedBy/>
  <cp:revision>1</cp:revision>
  <dcterms:created xsi:type="dcterms:W3CDTF">2026-10-18T01:56:53Z</dcterms:created>
  <dcterms:modified xsi:type="dcterms:W3CDTF">2026-10-18T01:56:53Z</dcterms:modified>
</cp:coreProperties>
</file>