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18288000" cy="10287000"/>
  <p:notesSz cx="6858000" cy="9144000"/>
  <p:embeddedFontLst>
    <p:embeddedFont>
      <p:font typeface="Arimo Bold" panose="020B0604020202020204" charset="0"/>
      <p:regular r:id="rId19"/>
    </p:embeddedFont>
    <p:embeddedFont>
      <p:font typeface="Be Vietnam" panose="020B0604020202020204" charset="0"/>
      <p:regular r:id="rId20"/>
    </p:embeddedFont>
    <p:embeddedFont>
      <p:font typeface="Be Vietnam Ultra-Bold" panose="020B0604020202020204" charset="0"/>
      <p:regular r:id="rId21"/>
    </p:embeddedFont>
    <p:embeddedFont>
      <p:font typeface="IBM Plex Mono" panose="020B0509050203000203" pitchFamily="49" charset="0"/>
      <p:regular r:id="rId22"/>
    </p:embeddedFont>
    <p:embeddedFont>
      <p:font typeface="IBM Plex Mono Bold" panose="020B0809050203000203" charset="0"/>
      <p:regular r:id="rId23"/>
    </p:embeddedFont>
    <p:embeddedFont>
      <p:font typeface="IBM Plex Sans" panose="020B0503050203000203" pitchFamily="34" charset="0"/>
      <p:regular r:id="rId24"/>
    </p:embeddedFont>
    <p:embeddedFont>
      <p:font typeface="IBM Plex Sans Bold" panose="020B0803050203000203" charset="0"/>
      <p:regular r:id="rId25"/>
    </p:embeddedFont>
    <p:embeddedFont>
      <p:font typeface="Inter Bold" panose="020B0604020202020204" charset="0"/>
      <p:regular r:id="rId26"/>
    </p:embeddedFont>
    <p:embeddedFont>
      <p:font typeface="Inter Bold Italics" panose="020B0604020202020204" charset="0"/>
      <p:regular r:id="rId27"/>
    </p:embeddedFont>
    <p:embeddedFont>
      <p:font typeface="Inter Semi-Bold" panose="020B0604020202020204" charset="0"/>
      <p:regular r:id="rId28"/>
    </p:embeddedFont>
    <p:embeddedFont>
      <p:font typeface="Roboto" panose="02000000000000000000" pitchFamily="2" charset="0"/>
      <p:regular r:id="rId29"/>
    </p:embeddedFont>
    <p:embeddedFont>
      <p:font typeface="Roboto Bold" panose="02000000000000000000"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1823" autoAdjust="0"/>
  </p:normalViewPr>
  <p:slideViewPr>
    <p:cSldViewPr>
      <p:cViewPr varScale="1">
        <p:scale>
          <a:sx n="26" d="100"/>
          <a:sy n="26" d="100"/>
        </p:scale>
        <p:origin x="86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font" Target="fonts/font9.fntdata"/><Relationship Id="rId28" Type="http://schemas.openxmlformats.org/officeDocument/2006/relationships/font" Target="fonts/font10.fntdata"/><Relationship Id="rId29" Type="http://schemas.openxmlformats.org/officeDocument/2006/relationships/font" Target="fonts/font11.fntdata"/><Relationship Id="rId30" Type="http://schemas.openxmlformats.org/officeDocument/2006/relationships/font" Target="fonts/font12.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8AB84-A469-4E09-A320-7A6A3061B129}"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75932-26DC-4125-9EA3-EB7C2558387C}" type="slidenum">
              <a:rPr lang="en-US" smtClean="0"/>
              <a:t>‹#›</a:t>
            </a:fld>
            <a:endParaRPr lang="en-US"/>
          </a:p>
        </p:txBody>
      </p:sp>
    </p:spTree>
    <p:extLst>
      <p:ext uri="{BB962C8B-B14F-4D97-AF65-F5344CB8AC3E}">
        <p14:creationId xmlns:p14="http://schemas.microsoft.com/office/powerpoint/2010/main" val="21634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Xin chào thầy cô và các bạn. Nhóm 6 xin trình bày đề tài: Cơ sở toán học của TabICLv2, ứng dụng vào bài toán dự đoán nguy cơ sinh viên bỏ học.</a:t>
            </a:r>
          </a:p>
          <a:p>
            <a:r>
              <a:rPr lang="vi-VN" dirty="0"/>
              <a:t>Bài gồm ba phần: (1) bài toán và bộ dữ liệu; (2) nền tảng toán học: ma trận dữ liệu, chuẩn hóa, sigmoid, cross-entropy, gradient descent và cơ chế attention của TabICLv2; (3) kết quả so sánh TabICLv2 với Logistic Regression, cách chọn ngưỡng cảnh báo và các hạn chế.</a:t>
            </a:r>
          </a:p>
          <a:p>
            <a:r>
              <a:rPr lang="vi-VN" dirty="0"/>
              <a:t>Câu hỏi xuyên suốt: làm sao từ vài con số về học phí, điểm số, tuổi... ta tính ra được xác suất một sinh viên sẽ bỏ học?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Bài toán của nhóm: mỗi sinh viên được mô tả bằng một vector 8 chiều x. Mô hình nhận x và trả về xác suất bỏ học P(y = 1 | x), trong đó y = 1 là bỏ học, y = 0 là tốt nghiệp.</a:t>
            </a:r>
          </a:p>
          <a:p>
            <a:r>
              <a:rPr lang="vi-VN" dirty="0"/>
              <a:t>Theo data.csv, bộ dữ liệu gốc có 4.424 sinh viên với ba nhãn: 2.209 tốt nghiệp, 1.421 bỏ học và 794 đang học. Nhóm loại 794 sinh viên đang học vì chưa biết kết cục cuối cùng của các em. Còn lại 3.630 sinh viên, và bài toán trở thành phân loại nhị phân.</a:t>
            </a:r>
          </a:p>
          <a:p>
            <a:r>
              <a:rPr lang="vi-VN" dirty="0"/>
              <a:t>Vì sao ưu tiên Recall lớp bỏ học? Recall = số em bỏ học được phát hiện / tổng số em bỏ học. Bỏ sót một em có nguy cơ thì nhà trường mất cơ hội can thiệp; còn báo nhầm một em thì chỉ tốn thêm một buổi tư vấn. Hai loại sai này có cái giá khác nhau, và ý này sẽ quay lại ở phần chọn ngưỡng.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Bộ dữ liệu lấy từ UCI Machine Learning Repository: “Predict Students’ Dropout and Academic Success”, gồm 4.424 sinh viên, 36 biến đầu vào và không có giá trị thiếu.</a:t>
            </a:r>
          </a:p>
          <a:p>
            <a:r>
              <a:rPr lang="vi-VN" dirty="0"/>
              <a:t>Nhóm chọn 8 biến theo ba nhóm: tài chính (học phí đúng hạn, nợ học phí, học bổng), học tập (điểm và số môn đạt ở HK1, HK2) và nhân khẩu (tuổi nhập học).</a:t>
            </a:r>
          </a:p>
          <a:p>
            <a:r>
              <a:rPr lang="vi-VN" dirty="0"/>
              <a:t>Số liệu từ data.csv cho thấy vì sao chọn các biến này:</a:t>
            </a:r>
          </a:p>
          <a:p>
            <a:r>
              <a:rPr lang="vi-VN" dirty="0"/>
              <a:t>• Không đóng học phí đúng hạn: 94,0% bỏ học, so với 30,7% ở nhóm đóng đúng hạn.</a:t>
            </a:r>
          </a:p>
          <a:p>
            <a:r>
              <a:rPr lang="vi-VN" dirty="0"/>
              <a:t>• Đang nợ học phí: 75,5% bỏ học, so với 34,5% ở nhóm không nợ.</a:t>
            </a:r>
          </a:p>
          <a:p>
            <a:r>
              <a:rPr lang="vi-VN" dirty="0"/>
              <a:t>• Có học bổng: chỉ 13,8% bỏ học, so với 48,4% ở nhóm không có học bổng.</a:t>
            </a:r>
          </a:p>
          <a:p>
            <a:r>
              <a:rPr lang="vi-VN" dirty="0"/>
              <a:t>• Điểm trung bình HK2 (thang 20): nhóm bỏ học 5,9, nhóm tốt nghiệp 12,7. Số môn đạt HK2: 1,9 so với 6,2.</a:t>
            </a:r>
          </a:p>
          <a:p>
            <a:r>
              <a:rPr lang="vi-VN" dirty="0"/>
              <a:t>• Tuổi nhập học trung bình: 26,1 ở nhóm bỏ học, 21,8 ở nhóm tốt nghiệp.</a:t>
            </a:r>
          </a:p>
          <a:p>
            <a:r>
              <a:rPr lang="vi-VN" dirty="0"/>
              <a:t>Sau khi lọc, 1.421 / 3.630 = 39,1% là bỏ học. Lớp không quá lệch, nhưng một mô hình đoán “tốt nghiệp” cho tất cả vẫn đạt 60,9% accuracy, nên ta cần nhìn thêm Recall và AUC.</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Bước đầu tiên là đưa dữ liệu về dạng ma trận. X có kích thước 3.630 × 8: mỗi hàng là một sinh viên, mỗi cột là một biến.</a:t>
            </a:r>
          </a:p>
          <a:p>
            <a:r>
              <a:rPr lang="vi-VN" dirty="0"/>
              <a:t>Mô hình tuyến tính gán cho mỗi biến một trọng số: z = w₁x₁ + … + w₈x₈ + b, viết gọn z = Xw + b. z là “điểm nguy cơ” thô, chưa phải xác suất.</a:t>
            </a:r>
          </a:p>
          <a:p>
            <a:r>
              <a:rPr lang="vi-VN" dirty="0"/>
              <a:t>Vấn đề: các biến có thang đo rất khác nhau. Tuổi tính bằng năm, điểm theo thang 20, còn học phí, nợ, học bổng chỉ là 0/1. Nếu để nguyên, trọng số của biến có thang lớn sẽ chi phối quá trình tối ưu.</a:t>
            </a:r>
          </a:p>
          <a:p>
            <a:r>
              <a:rPr lang="vi-VN" dirty="0"/>
              <a:t>Giải pháp là chuẩn hóa z-score: x' = (x − μ) / σ, đưa mỗi cột về trung bình 0, độ lệch chuẩn 1.</a:t>
            </a:r>
          </a:p>
          <a:p>
            <a:r>
              <a:rPr lang="vi-VN" dirty="0"/>
              <a:t>Con số chứng minh: số điều kiện κ của ma trận XᵀX/n giảm từ 30.622 xuống 67, tức khoảng 450 lần. κ đo độ “méo” của bề mặt loss: κ lớn thì bề mặt là một thung lũng hẹp và dài, gradient descent đi zig-zag và hội tụ chậm; κ nhỏ thì bề mặt gần tròn, đi thẳng về đáy.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Điểm z có thể là bất kỳ số thực nào, nhưng ta cần một xác suất. Hàm sigmoid p = 1 / (1 + e⁻ᶻ) ép mọi z vào khoảng (0, 1).</a:t>
            </a:r>
          </a:p>
          <a:p>
            <a:r>
              <a:rPr lang="vi-VN" dirty="0"/>
              <a:t>Vài giá trị để cảm nhận: z = 0 cho p = 0,5; z = 2 cho p ≈ 0,88; z = −2 cho p ≈ 0,12. Hàm đối xứng quanh 0,5 và tăng đơn điệu, nên z càng lớn thì nguy cơ bỏ học càng cao.</a:t>
            </a:r>
          </a:p>
          <a:p>
            <a:r>
              <a:rPr lang="vi-VN" dirty="0"/>
              <a:t>Để đo mô hình sai bao nhiêu, ta dùng cross-entropy: L = −[y log(p) + (1−y) log(1−p)]. Với một em thực sự bỏ học (y = 1), L chỉ còn −log(p).</a:t>
            </a:r>
          </a:p>
          <a:p>
            <a:r>
              <a:rPr lang="vi-VN" dirty="0"/>
              <a:t>Ví dụ: nếu mô hình nói p = 0,9 thì L ≈ 0,11; nếu nói p = 0,1, tức tự tin nhưng sai, thì L ≈ 2,30, lớn gấp khoảng 22 lần. Đó là ý “phạt rất mạnh dự đoán tự tin nhưng sai”.</a:t>
            </a:r>
          </a:p>
          <a:p>
            <a:r>
              <a:rPr lang="vi-VN" dirty="0"/>
              <a:t>Thêm một góc nhìn xác suất: cross-entropy chính là log-likelihood âm của phân phối Bernoulli, nên tối thiểu hóa L tương đương ước lượng hợp lý cực đại. Và đạo hàm của L theo z rất gọn: ∂L/∂z = p − y. Kết quả này dẫn thẳng sang slide gradient tiếp theo.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loss rồi, giờ cần tìm w làm loss nhỏ nhất. Áp dụng quy tắc chuỗi với ∂L/∂z = p − y ở slide trước, gradient trên toàn bộ dữ liệu là ∇L = Xᵀ(p − y) / n.</a:t>
            </a:r>
          </a:p>
          <a:p>
            <a:r>
              <a:rPr lang="vi-VN" dirty="0"/>
              <a:t>Đọc công thức: (p − y) là sai số dự đoán của từng sinh viên; nhân với Xᵀ nghĩa là mỗi trọng số được điều chỉnh theo mức biến đó góp phần vào sai số. Chia n để lấy trung bình trên 3.630 sinh viên (trên thực tế là 2.904 sinh viên tập huấn luyện).</a:t>
            </a:r>
          </a:p>
          <a:p>
            <a:r>
              <a:rPr lang="vi-VN" dirty="0"/>
              <a:t>Quy tắc cập nhật: w ← w − η·∇L, tức bước ngược hướng gradient, xuống dốc bề mặt loss. η là tốc độ học.</a:t>
            </a:r>
          </a:p>
          <a:p>
            <a:r>
              <a:rPr lang="vi-VN" dirty="0"/>
              <a:t>Hình minh họa ba trường hợp: η nhỏ thì đi đúng hướng nhưng rất chậm; η vừa thì hội tụ nhanh về đáy; η lớn thì nhảy qua đáy, loss tăng dần và phân kỳ.</a:t>
            </a:r>
          </a:p>
          <a:p>
            <a:r>
              <a:rPr lang="vi-VN" dirty="0"/>
              <a:t>Với Logistic Regression, cross-entropy là hàm lồi nên chỉ có một cực tiểu toàn cục, không lo kẹt ở cực tiểu địa phương. Liên hệ slide 4: κ lớn buộc ta chọn η nhỏ để không phân kỳ theo hướng dốc nhất; chuẩn hóa làm κ nhỏ nên có thể dùng η lớn hơn và đi đường thẳng hơn.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đánh giá công bằng, nhóm chia dữ liệu 80/20: 2.904 sinh viên để huấn luyện và 726 sinh viên để kiểm tra. Chia phân tầng (stratified) nên cả hai tập đều giữ tỷ lệ bỏ học khoảng 39,1%. Seed 42 giúp tái lập đúng kết quả.</a:t>
            </a:r>
          </a:p>
          <a:p>
            <a:r>
              <a:rPr lang="vi-VN" dirty="0"/>
              <a:t>Tập kiểm tra chỉ có 726 em nên bản thân accuracy cũng có sai số. Sai số chuẩn SE = √(p(1−p)/n) = √(0,899 × 0,101 / 726) ≈ 0,011, tức khoảng 1,1 điểm phần trăm. Khoảng tin cậy 95% là ±1,96 × SE ≈ ±2,2 điểm.</a:t>
            </a:r>
          </a:p>
          <a:p>
            <a:r>
              <a:rPr lang="vi-VN" dirty="0"/>
              <a:t>Ý nghĩa thực tế: hai mô hình chênh nhau dưới khoảng 2,2 điểm accuracy trên tập này thì chưa thể nói mô hình nào tốt hơn. Con số này sẽ dùng lại ở slide so sánh.</a:t>
            </a:r>
          </a:p>
          <a:p>
            <a:r>
              <a:rPr lang="vi-VN" dirty="0"/>
              <a:t>Biểu đồ: accuracy huấn luyện 87,9%, kiểm tra 89,9%. Điểm kiểm tra không thấp hơn điểm huấn luyện, nên mô hình không học vẹt (overfitting). Chênh 2 điểm theo chiều ngược lại nằm trong sai số do chia ngẫu nhiên.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Bây giờ đến nhân vật chính: TabICLv2, của Jingang Qu và cộng sự tại INRIA Saclay, công bố ở ICML 2026. Đây là một “mô hình nền tảng cho dữ liệu bảng” (tabular foundation model).</a:t>
            </a:r>
          </a:p>
          <a:p>
            <a:r>
              <a:rPr lang="vi-VN" dirty="0"/>
              <a:t>Khác biệt cốt lõi so với Logistic Regression: TabICLv2 không chạy gradient descent trên dữ liệu của nhóm. Mô hình là một Transformer đã được tiền huấn luyện sẵn trên rất nhiều bảng dữ liệu tổng hợp (sinh từ mô hình nhân quả cấu trúc), hoàn toàn không dùng dữ liệu thật. Khi dùng, ta đưa 2.904 sinh viên đã có nhãn vào làm “ngữ cảnh”, đưa sinh viên cần dự đoán làm “câu hỏi”, và chỉ một lượt lan truyền xuôi (forward pass) là ra xác suất. Đó là nghĩa của “học trong ngữ cảnh” (in-context learning).</a:t>
            </a:r>
          </a:p>
          <a:p>
            <a:r>
              <a:rPr lang="vi-VN" dirty="0"/>
              <a:t>Kiến trúc gồm ba tầng: (1) nhúng theo cột bằng Set Transformer, mỗi biến được biểu diễn dựa trên phân phối của cả cột; (2) tương tác theo hàng bằng Transformer với token CLS, gộp 8 biến của một sinh viên thành một vector; (3) học trong ngữ cảnh theo tập dữ liệu: sinh viên mới “nhìn” sang các sinh viên huấn luyện qua attention.</a:t>
            </a:r>
          </a:p>
          <a:p>
            <a:r>
              <a:rPr lang="vi-VN" dirty="0"/>
              <a:t>Công thức attention: Q (query) lấy từ sinh viên mới, K (key) và V (value) lấy từ các sinh viên trong ngữ cảnh, trong đó V mang thông tin nhãn. QKᵀ là tích vô hướng, đo mức giống nhau. Chia √d để tích vô hướng không quá lớn khi số chiều d lớn, tránh softmax bị bão hòa thành 0/1 và gradient biến mất lúc tiền huấn luyện.</a:t>
            </a:r>
          </a:p>
          <a:p>
            <a:r>
              <a:rPr lang="vi-VN" dirty="0"/>
              <a:t>Vì vậy, thay vì một đường biên tuyến tính cố định như Logistic, dự đoán của TabICLv2 phụ thuộc vào việc sinh viên mới giống những ai trong dữ liệu.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giải thích attention bằng một ví dụ tính tay. Giả sử có một sinh viên mới và 4 sinh viên trong ngữ cảnh. Điểm tương đồng QKᵀ/√d lần lượt là 2, 1, 0, 0.</a:t>
            </a:r>
          </a:p>
          <a:p>
            <a:r>
              <a:rPr lang="vi-VN" dirty="0"/>
              <a:t>Softmax lấy e mũ rồi chuẩn hóa: e² ≈ 7,39; e¹ ≈ 2,72; e⁰ = 1; e⁰ = 1. Tổng ≈ 12,11. Chia ra được trọng số 0,61; 0,22; 0,08; 0,08, cộng lại bằng 1.</a:t>
            </a:r>
          </a:p>
          <a:p>
            <a:r>
              <a:rPr lang="vi-VN" dirty="0"/>
              <a:t>Hai sinh viên đầu đã bỏ học (nhãn 1), hai sinh viên sau tốt nghiệp (nhãn 0). Xác suất bỏ học = 0,61 × 1 + 0,22 × 1 + 0,08 × 0 + 0,08 × 0 ≈ 0,83.</a:t>
            </a:r>
          </a:p>
          <a:p>
            <a:r>
              <a:rPr lang="vi-VN" dirty="0"/>
              <a:t>Trực giác: “giống ai thì lắng nghe người đó”. Sinh viên mới giống em thứ nhất nhất, nên em đó có tiếng nói lớn nhất. Softmax khuếch đại khác biệt: điểm chỉ hơn 1 đơn vị nhưng trọng số gấp gần 3 lần.</a:t>
            </a:r>
          </a:p>
          <a:p>
            <a:r>
              <a:rPr lang="vi-VN" dirty="0"/>
              <a:t>Trong TabICLv2 thật, quá trình này có nhiều head, nhiều lớp, và các vector Q, K, V được học trong lúc tiền huấn luyện chứ không phải điểm thô; nhưng phép toán ở mỗi bước đúng là phép tính trên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Trước khi xem TabICLv2, nhóm dựng một mô hình đối chứng là Logistic Regression, chính là mô hình đã xây ở các slide 4 đến 6.</a:t>
            </a:r>
          </a:p>
          <a:p>
            <a:r>
              <a:rPr lang="vi-VN" dirty="0"/>
              <a:t>Nhóm thử bốn cấu hình biến, tương ứng bốn thời điểm nhà trường có thể cảnh báo: A, lúc nhập học (8 biến, chưa có điểm đại học); B1, hết HK1 (6 biến); B, hết HK2 (8 biến đã chọn, cấu hình chính); C, đầy đủ 35 biến.</a:t>
            </a:r>
          </a:p>
          <a:p>
            <a:r>
              <a:rPr lang="vi-VN" dirty="0"/>
              <a:t>Kết quả Logistic Regression: A đạt Accuracy 75,1%, Recall 58,1%, AUC 0,815. B1: 87,5%, 80,6%, 0,914. B: 89,9%, 85,6%, 0,940. C: 94,5%, 92,3%, 0,973.</a:t>
            </a:r>
          </a:p>
          <a:p>
            <a:r>
              <a:rPr lang="vi-VN" dirty="0"/>
              <a:t>Thông điệp: càng có thêm dữ liệu học tập thì dự đoán càng chính xác. Nhưng cảnh báo càng sớm thì càng khó: lúc nhập học, mô hình chỉ bắt được khoảng 58% số em sẽ bỏ học. Đây là đánh đổi giữa “sớm” và “chính xác”.</a:t>
            </a:r>
          </a:p>
          <a:p>
            <a:r>
              <a:rPr lang="vi-VN" dirty="0"/>
              <a:t>Lưu ý cách đọc biểu đồ: AUC được nhân 100 để cùng thang với hai chỉ số còn lại.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Bảng so sánh: mỗi ô ghi “Logistic Regression → TabICLv2”, cùng cách chia dữ liệu và cùng tập kiểm tra 726 sinh viên.</a:t>
            </a:r>
          </a:p>
          <a:p>
            <a:r>
              <a:rPr lang="vi-VN" dirty="0"/>
              <a:t>AUC: TabICLv2 cao hơn ở cả bốn cấu hình, chênh +0,008 (A), +0,020 (B1), +0,015 (B) và +0,004 (C). AUC đo khả năng xếp hạng em có nguy cơ cao lên trên em nguy cơ thấp, xét trên mọi ngưỡng, nên đây là tín hiệu đáng tin hơn accuracy.</a:t>
            </a:r>
          </a:p>
          <a:p>
            <a:r>
              <a:rPr lang="vi-VN" dirty="0"/>
              <a:t>Recall lớp bỏ học: tăng ở A (+4,6 điểm), B1 (+1,4) và B (+1,0), giảm nhẹ ở C (−0,4). Mức tăng lớn nhất nằm ở cấu hình A, khi dữ liệu ít nhất, phù hợp với việc TabICLv2 được thiết kế mạnh trên dữ liệu bảng nhỏ và vừa.</a:t>
            </a:r>
          </a:p>
          <a:p>
            <a:r>
              <a:rPr lang="vi-VN" dirty="0"/>
              <a:t>Accuracy: chỉ chênh 0,1 đến 1,4 điểm, đều nhỏ hơn biên ±2,2 điểm đã tính ở slide 7. Vì vậy nhóm không kết luận TabICLv2 chính xác hơn về accuracy.</a:t>
            </a:r>
          </a:p>
          <a:p>
            <a:r>
              <a:rPr lang="vi-VN" dirty="0"/>
              <a:t>Nói thẳng về giới hạn: TabICLv2 mới chạy một lần, cấu hình mặc định, trên một lần chia dữ liệu. Muốn khẳng định cần lặp nhiều seed hoặc kiểm tra chéo.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Mô hình chỉ trả về xác suất; còn “bao nhiêu thì cảnh báo” là quyết định của con người. Số liệu trên slide là của Logistic Regression cấu hình B, trên 726 sinh viên kiểm tra, trong đó khoảng 284 em thực sự bỏ học.</a:t>
            </a:r>
          </a:p>
          <a:p>
            <a:r>
              <a:rPr lang="vi-VN" dirty="0"/>
              <a:t>Ngưỡng 0,5: bỏ sót 41 em, báo nhầm 32 em, Recall 85,6%.</a:t>
            </a:r>
          </a:p>
          <a:p>
            <a:r>
              <a:rPr lang="vi-VN" dirty="0"/>
              <a:t>Hạ ngưỡng xuống 0,3: bỏ sót còn 24 em, nhưng báo nhầm tăng lên 71 em, Recall 91,5%.</a:t>
            </a:r>
          </a:p>
          <a:p>
            <a:r>
              <a:rPr lang="vi-VN" dirty="0"/>
              <a:t>Phép tính đánh đổi: ta phát hiện thêm 17 em có nguy cơ, đổi lại thêm 39 cảnh báo nhầm, tức khoảng 2,3 cảnh báo nhầm cho mỗi em được cứu thêm. Nếu nhà trường đánh giá việc để mất một sinh viên đắt hơn 2,3 buổi tư vấn thừa, thì ngưỡng 0,3 là lựa chọn hợp lý hơn.</a:t>
            </a:r>
          </a:p>
          <a:p>
            <a:r>
              <a:rPr lang="vi-VN" dirty="0"/>
              <a:t>Ý chính: chọn ngưỡng là chọn cái giá của từng kiểu sai, không phải chi tiết kỹ thuật. Đây cũng là lý do ở slide 2 nhóm ưu tiên Recall.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Tóm lại hai hướng mô hình, mỗi bên có chỗ mạnh riêng.</a:t>
            </a:r>
          </a:p>
          <a:p>
            <a:r>
              <a:rPr lang="vi-VN" dirty="0"/>
              <a:t>Logistic Regression: minh bạch, vì mỗi trọng số cho biết biến nào đẩy nguy cơ lên hay xuống; huấn luyện nhanh; và là một baseline mạnh, đã đạt AUC 0,940 ở cấu hình B. Hạn chế: đường biên quyết định là tuyến tính, và muốn bắt quan hệ phi tuyến thì phải tự tạo thêm biến (feature engineering).</a:t>
            </a:r>
          </a:p>
          <a:p>
            <a:r>
              <a:rPr lang="vi-VN" dirty="0"/>
              <a:t>TabICLv2: học trong ngữ cảnh, không cần huấn luyện lại hay tinh chỉnh siêu tham số trên dữ liệu của nhóm; attention cho phép so sánh linh hoạt sinh viên mới với từng ví dụ đã biết; đạt AUC 0,955 ở cấu hình B. Hạn chế: mới chạy một lần, và lợi thế về accuracy chưa vượt sai số thống kê. Thêm nữa, mô hình khó giải thích hơn và nặng hơn về tính toán so với Logistic.</a:t>
            </a:r>
          </a:p>
          <a:p>
            <a:r>
              <a:rPr lang="vi-VN" dirty="0"/>
              <a:t>Nếu cần giải thích cho phòng công tác sinh viên vì sao một em bị cảnh báo, Logistic dễ trình bày hơn; nếu ưu tiên xếp hạng nguy cơ tốt nhất, TabICLv2 có lợi thế về AUC.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Ba kết luận chính của nhóm:</a:t>
            </a:r>
          </a:p>
          <a:p>
            <a:r>
              <a:rPr lang="vi-VN" dirty="0"/>
              <a:t>01. Bài toán bỏ học được mô hình hóa gọn trong một vector 8 chiều cho mỗi sinh viên, và đầu ra là một xác suất bỏ học chứ không chỉ là nhãn có/không. Dữ liệu cho thấy tài chính (học phí, nợ, học bổng) và kết quả học tập hai học kỳ đầu là những tín hiệu mạnh nhất.</a:t>
            </a:r>
          </a:p>
          <a:p>
            <a:r>
              <a:rPr lang="vi-VN" dirty="0"/>
              <a:t>02. Toán học cốt lõi gồm bốn mảnh nối tiếp nhau: chuẩn hóa giảm số điều kiện từ 30.622 xuống 67; sigmoid biến điểm thành xác suất; cross-entropy đo sai lệch; gradient descent tìm trọng số tốt nhất. TabICLv2 bổ sung mảnh thứ năm: attention và softmax để so sánh với các ví dụ đã biết.</a:t>
            </a:r>
          </a:p>
          <a:p>
            <a:r>
              <a:rPr lang="vi-VN" dirty="0"/>
              <a:t>03. Logistic Regression là baseline mạnh. TabICLv2 nhỉnh hơn về AUC ở cả bốn cấu hình (ví dụ 0,955 so với 0,940 ở cấu hình B), nhưng chênh lệch accuracy còn nằm trong sai số ±2,2 điểm.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Nhóm cũng muốn nói rõ các hạn chế, vì chúng chính là câu hỏi cho bước tiếp theo.</a:t>
            </a:r>
          </a:p>
          <a:p>
            <a:r>
              <a:rPr lang="vi-VN" dirty="0"/>
              <a:t>01. TabICLv2 mới chạy một lần với cấu hình mặc định, nên chưa biết kết quả dao động bao nhiêu giữa các lần chạy.</a:t>
            </a:r>
          </a:p>
          <a:p>
            <a:r>
              <a:rPr lang="vi-VN" dirty="0"/>
              <a:t>02. Tương quan cao. Theo data.csv, số môn đạt HK2 có tương quan −0,65 với nhãn bỏ học, điểm HK2 là −0,61. Số môn đạt HK1 và HK2 tương quan với nhau tới 0,92, điểm HK1 và HK2 là 0,85, tức có đa cộng tuyến. Điểm HK2 gần với “đáp án” vì sinh viên đã bỏ học thường không còn điểm ở học kỳ đó; nếu mục tiêu là cảnh báo sớm thì dùng biến này dễ làm kết quả đẹp hơn thực tế.</a:t>
            </a:r>
          </a:p>
          <a:p>
            <a:r>
              <a:rPr lang="vi-VN" dirty="0"/>
              <a:t>03. Mới chia dữ liệu một lần (seed 42), chưa kiểm tra chéo k-fold, nên các con số có thể thay đổi với cách chia khác.</a:t>
            </a:r>
          </a:p>
          <a:p>
            <a:r>
              <a:rPr lang="vi-VN" dirty="0"/>
              <a:t>04. Hướng tiếp theo: thêm dữ liệu hành vi như điểm danh, hoạt động trên hệ thống học trực tuyến, để cảnh báo được sớm hơn mà không cần chờ điểm HK2; và thử thêm các mô hình mới.</a:t>
            </a:r>
          </a:p>
          <a:p>
            <a:r>
              <a:rPr lang="vi-VN" dirty="0"/>
              <a:t>Đọc câu trích dẫn trên slide: “Đoán đúng hay sai chưa đáng giá bằng việc biết cái giá của từng kiểu sai.” Câu này nối lại với slide chọn ngưỡng.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Phần trình bày của Nhóm 6 đến đây là hết. Cảm ơn thầy cô và các bạn đã lắng nghe. Tài liệu chính gồm bài báo TabICLv2 của Qu và cộng sự (ICML 2026), bộ dữ liệu UCI và giáo trình Deep Learning của Goodfellow, Bengio và Courville. Nhóm xin mời câu hỏi.</a:t>
            </a:r>
          </a:p>
          <a:p>
            <a:r>
              <a:rPr lang="vi-VN" dirty="0"/>
              <a:t>Gợi ý trả lời các câu hỏi có thể gặp:</a:t>
            </a:r>
          </a:p>
          <a:p>
            <a:r>
              <a:rPr lang="vi-VN" dirty="0"/>
              <a:t>• Vì sao loại 794 sinh viên đang học? Vì các em chưa có kết cục; gán nhãn “không bỏ học” cho các em sẽ làm sai nhãn.</a:t>
            </a:r>
          </a:p>
          <a:p>
            <a:r>
              <a:rPr lang="vi-VN" dirty="0"/>
              <a:t>• TabICLv2 không huấn luyện thì “học” ở đâu? Phần học diễn ra lúc tiền huấn luyện trên dữ liệu tổng hợp; khi dùng, mô hình đọc 2.904 sinh viên có nhãn làm ngữ cảnh và suy luận trong một lượt forward pass.</a:t>
            </a:r>
          </a:p>
          <a:p>
            <a:r>
              <a:rPr lang="vi-VN" dirty="0"/>
              <a:t>• Attention ở đây khác gì attention trong mô hình ngôn ngữ? Cùng công thức softmax(QKᵀ/√d)·V, nhưng “token” là sinh viên (hàng trong bảng) thay vì từ.</a:t>
            </a:r>
          </a:p>
          <a:p>
            <a:r>
              <a:rPr lang="vi-VN" dirty="0"/>
              <a:t>• Vì sao không chỉ dùng accuracy? Với 39,1% bỏ học, đoán “tốt nghiệp” cho tất cả đã được 60,9%; Recall và AUC phản ánh đúng mục tiêu phát hiện em có nguy cơ.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 Id="rId15" Type="http://schemas.openxmlformats.org/officeDocument/2006/relationships/image" Target="../media/image38.png"/><Relationship Id="rId16" Type="http://schemas.openxmlformats.org/officeDocument/2006/relationships/image" Target="../media/image39.png"/><Relationship Id="rId17" Type="http://schemas.openxmlformats.org/officeDocument/2006/relationships/image" Target="../media/image40.png"/><Relationship Id="rId18" Type="http://schemas.openxmlformats.org/officeDocument/2006/relationships/image" Target="../media/image41.png"/><Relationship Id="rId19"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1.png"/><Relationship Id="rId22" Type="http://schemas.openxmlformats.org/officeDocument/2006/relationships/image" Target="../media/image62.png"/><Relationship Id="rId23" Type="http://schemas.openxmlformats.org/officeDocument/2006/relationships/image" Target="../media/image6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Freeform 2"/>
          <p:cNvSpPr/>
          <p:nvPr/>
        </p:nvSpPr>
        <p:spPr>
          <a:xfrm>
            <a:off x="9906000" y="0"/>
            <a:ext cx="8382000" cy="10287000"/>
          </a:xfrm>
          <a:custGeom>
            <a:avLst/>
            <a:gdLst/>
            <a:ahLst/>
            <a:cxnLst/>
            <a:rect l="l" t="t" r="r" b="b"/>
            <a:pathLst>
              <a:path w="8382000" h="10287000">
                <a:moveTo>
                  <a:pt x="0" y="0"/>
                </a:moveTo>
                <a:lnTo>
                  <a:pt x="8382000" y="0"/>
                </a:lnTo>
                <a:lnTo>
                  <a:pt x="8382000" y="10287000"/>
                </a:lnTo>
                <a:lnTo>
                  <a:pt x="0" y="10287000"/>
                </a:lnTo>
                <a:lnTo>
                  <a:pt x="0" y="0"/>
                </a:lnTo>
                <a:close/>
              </a:path>
            </a:pathLst>
          </a:custGeom>
          <a:blipFill>
            <a:blip r:embed="rId3"/>
            <a:stretch>
              <a:fillRect t="-65" b="-65"/>
            </a:stretch>
          </a:blipFill>
          <a:ln cap="sq">
            <a:noFill/>
            <a:prstDash val="solid"/>
            <a:miter/>
          </a:ln>
        </p:spPr>
        <p:txBody>
          <a:bodyPr/>
          <a:lstStyle/>
          <a:p>
            <a:endParaRPr/>
          </a:p>
        </p:txBody>
      </p:sp>
      <p:grpSp>
        <p:nvGrpSpPr>
          <p:cNvPr id="3" name="Group 3"/>
          <p:cNvGrpSpPr/>
          <p:nvPr/>
        </p:nvGrpSpPr>
        <p:grpSpPr>
          <a:xfrm>
            <a:off x="8572500" y="0"/>
            <a:ext cx="9715500" cy="10287000"/>
            <a:chOff x="0" y="0"/>
            <a:chExt cx="12954000" cy="13716000"/>
          </a:xfrm>
        </p:grpSpPr>
        <p:sp>
          <p:nvSpPr>
            <p:cNvPr id="4" name="Freeform 4"/>
            <p:cNvSpPr/>
            <p:nvPr/>
          </p:nvSpPr>
          <p:spPr>
            <a:xfrm>
              <a:off x="0" y="0"/>
              <a:ext cx="12954000" cy="13716000"/>
            </a:xfrm>
            <a:custGeom>
              <a:avLst/>
              <a:gdLst/>
              <a:ahLst/>
              <a:cxnLst/>
              <a:rect l="l" t="t" r="r" b="b"/>
              <a:pathLst>
                <a:path w="12954000" h="13716000">
                  <a:moveTo>
                    <a:pt x="0" y="0"/>
                  </a:moveTo>
                  <a:lnTo>
                    <a:pt x="12954000" y="0"/>
                  </a:lnTo>
                  <a:lnTo>
                    <a:pt x="12954000" y="13716000"/>
                  </a:lnTo>
                  <a:lnTo>
                    <a:pt x="0" y="13716000"/>
                  </a:lnTo>
                  <a:close/>
                </a:path>
              </a:pathLst>
            </a:custGeom>
            <a:gradFill rotWithShape="1">
              <a:gsLst>
                <a:gs pos="0">
                  <a:srgbClr val="071A2B">
                    <a:alpha val="100000"/>
                  </a:srgbClr>
                </a:gs>
                <a:gs pos="100000">
                  <a:srgbClr val="071A2B">
                    <a:alpha val="8000"/>
                  </a:srgbClr>
                </a:gs>
              </a:gsLst>
              <a:lin ang="16200000"/>
            </a:gradFill>
            <a:ln cap="sq">
              <a:noFill/>
              <a:prstDash val="solid"/>
              <a:miter/>
            </a:ln>
          </p:spPr>
          <p:txBody>
            <a:bodyPr/>
            <a:lstStyle/>
            <a:p>
              <a:endParaRPr lang="en-US"/>
            </a:p>
          </p:txBody>
        </p:sp>
        <p:sp>
          <p:nvSpPr>
            <p:cNvPr id="5" name="TextBox 5"/>
            <p:cNvSpPr txBox="1"/>
            <p:nvPr/>
          </p:nvSpPr>
          <p:spPr>
            <a:xfrm>
              <a:off x="0" y="-38100"/>
              <a:ext cx="12954000" cy="137541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1819275"/>
            <a:ext cx="10001250" cy="1834896"/>
          </a:xfrm>
          <a:prstGeom prst="rect">
            <a:avLst/>
          </a:prstGeom>
        </p:spPr>
        <p:txBody>
          <a:bodyPr lIns="0" tIns="0" rIns="0" bIns="0" rtlCol="0" anchor="t">
            <a:spAutoFit/>
          </a:bodyPr>
          <a:lstStyle/>
          <a:p>
            <a:pPr algn="l">
              <a:lnSpc>
                <a:spcPts val="7107"/>
              </a:lnSpc>
            </a:pPr>
            <a:r>
              <a:rPr lang="en-US" sz="6900" b="1">
                <a:solidFill>
                  <a:srgbClr val="FFFFFF"/>
                </a:solidFill>
                <a:latin typeface="Be Vietnam Ultra-Bold"/>
                <a:ea typeface="Be Vietnam Ultra-Bold"/>
                <a:cs typeface="Be Vietnam Ultra-Bold"/>
                <a:sym typeface="Be Vietnam Ultra-Bold"/>
              </a:rPr>
              <a:t>CƠ SỞ TOÁN HỌC</a:t>
            </a:r>
          </a:p>
          <a:p>
            <a:pPr algn="l">
              <a:lnSpc>
                <a:spcPts val="7107"/>
              </a:lnSpc>
            </a:pPr>
            <a:r>
              <a:rPr lang="en-US" sz="6900" b="1">
                <a:solidFill>
                  <a:srgbClr val="FFFFFF"/>
                </a:solidFill>
                <a:latin typeface="Be Vietnam Ultra-Bold"/>
                <a:ea typeface="Be Vietnam Ultra-Bold"/>
                <a:cs typeface="Be Vietnam Ultra-Bold"/>
                <a:sym typeface="Be Vietnam Ultra-Bold"/>
              </a:rPr>
              <a:t>CỦA TabICLv2</a:t>
            </a:r>
          </a:p>
        </p:txBody>
      </p:sp>
      <p:sp>
        <p:nvSpPr>
          <p:cNvPr id="7" name="TextBox 7"/>
          <p:cNvSpPr txBox="1"/>
          <p:nvPr/>
        </p:nvSpPr>
        <p:spPr>
          <a:xfrm>
            <a:off x="1047750" y="4057650"/>
            <a:ext cx="7810500" cy="421005"/>
          </a:xfrm>
          <a:prstGeom prst="rect">
            <a:avLst/>
          </a:prstGeom>
        </p:spPr>
        <p:txBody>
          <a:bodyPr lIns="0" tIns="0" rIns="0" bIns="0" rtlCol="0" anchor="t">
            <a:spAutoFit/>
          </a:bodyPr>
          <a:lstStyle/>
          <a:p>
            <a:pPr algn="l">
              <a:lnSpc>
                <a:spcPts val="3569"/>
              </a:lnSpc>
            </a:pPr>
            <a:r>
              <a:rPr lang="en-US" sz="2550">
                <a:solidFill>
                  <a:srgbClr val="64E8FF"/>
                </a:solidFill>
                <a:latin typeface="IBM Plex Sans"/>
                <a:ea typeface="IBM Plex Sans"/>
                <a:cs typeface="IBM Plex Sans"/>
                <a:sym typeface="IBM Plex Sans"/>
              </a:rPr>
              <a:t>Ứng dụng dự đoán nguy cơ sinh viên bỏ học</a:t>
            </a:r>
          </a:p>
        </p:txBody>
      </p:sp>
      <p:sp>
        <p:nvSpPr>
          <p:cNvPr id="8" name="TextBox 8"/>
          <p:cNvSpPr txBox="1"/>
          <p:nvPr/>
        </p:nvSpPr>
        <p:spPr>
          <a:xfrm>
            <a:off x="1047750" y="7486650"/>
            <a:ext cx="7810500" cy="105537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Nhóm 6 – Cơ sở Toán học cho Trí tuệ nhân tạo</a:t>
            </a:r>
          </a:p>
          <a:p>
            <a:pPr algn="l">
              <a:lnSpc>
                <a:spcPts val="2835"/>
              </a:lnSpc>
            </a:pPr>
            <a:r>
              <a:rPr lang="en-US" sz="2100">
                <a:solidFill>
                  <a:srgbClr val="FFFFFF"/>
                </a:solidFill>
                <a:latin typeface="IBM Plex Sans"/>
                <a:ea typeface="IBM Plex Sans"/>
                <a:cs typeface="IBM Plex Sans"/>
                <a:sym typeface="IBM Plex Sans"/>
              </a:rPr>
              <a:t>Lĩnh vực giáo dục  ·  18/10/2026</a:t>
            </a:r>
          </a:p>
          <a:p>
            <a:pPr algn="l">
              <a:lnSpc>
                <a:spcPts val="2835"/>
              </a:lnSpc>
            </a:pPr>
            <a:endParaRPr lang="en-US" sz="2100">
              <a:solidFill>
                <a:srgbClr val="FFFFFF"/>
              </a:solidFill>
              <a:latin typeface="IBM Plex Sans"/>
              <a:ea typeface="IBM Plex Sans"/>
              <a:cs typeface="IBM Plex Sans"/>
              <a:sym typeface="IBM Plex Sans"/>
            </a:endParaRPr>
          </a:p>
        </p:txBody>
      </p:sp>
    </p:spTree>
    <p:extLst>
      <p:ext uri="{BB962C8B-B14F-4D97-AF65-F5344CB8AC3E}">
        <p14:creationId xmlns:p14="http://schemas.microsoft.com/office/powerpoint/2010/main" val="2492133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Bài toán dự đoán nguy cơ bỏ học</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257425"/>
            <a:ext cx="4191000" cy="1607820"/>
          </a:xfrm>
          <a:prstGeom prst="rect">
            <a:avLst/>
          </a:prstGeom>
        </p:spPr>
        <p:txBody>
          <a:bodyPr lIns="0" tIns="0" rIns="0" bIns="0" rtlCol="0" anchor="t">
            <a:spAutoFit/>
          </a:bodyPr>
          <a:lstStyle/>
          <a:p>
            <a:pPr algn="l">
              <a:lnSpc>
                <a:spcPts val="13229"/>
              </a:lnSpc>
            </a:pPr>
            <a:r>
              <a:rPr lang="en-US" sz="9450" b="1">
                <a:solidFill>
                  <a:srgbClr val="28C7C2"/>
                </a:solidFill>
                <a:latin typeface="Be Vietnam Ultra-Bold"/>
                <a:ea typeface="Be Vietnam Ultra-Bold"/>
                <a:cs typeface="Be Vietnam Ultra-Bold"/>
                <a:sym typeface="Be Vietnam Ultra-Bold"/>
              </a:rPr>
              <a:t>3.630</a:t>
            </a:r>
          </a:p>
        </p:txBody>
      </p:sp>
      <p:sp>
        <p:nvSpPr>
          <p:cNvPr id="7" name="TextBox 7"/>
          <p:cNvSpPr txBox="1"/>
          <p:nvPr/>
        </p:nvSpPr>
        <p:spPr>
          <a:xfrm>
            <a:off x="1047750" y="3781425"/>
            <a:ext cx="4762500" cy="299085"/>
          </a:xfrm>
          <a:prstGeom prst="rect">
            <a:avLst/>
          </a:prstGeom>
        </p:spPr>
        <p:txBody>
          <a:bodyPr lIns="0" tIns="0" rIns="0" bIns="0" rtlCol="0" anchor="t">
            <a:spAutoFit/>
          </a:bodyPr>
          <a:lstStyle/>
          <a:p>
            <a:pPr algn="l">
              <a:lnSpc>
                <a:spcPts val="2430"/>
              </a:lnSpc>
            </a:pPr>
            <a:r>
              <a:rPr lang="en-US" sz="1800">
                <a:solidFill>
                  <a:srgbClr val="F7FBFF"/>
                </a:solidFill>
                <a:latin typeface="IBM Plex Sans"/>
                <a:ea typeface="IBM Plex Sans"/>
                <a:cs typeface="IBM Plex Sans"/>
                <a:sym typeface="IBM Plex Sans"/>
              </a:rPr>
              <a:t>sinh viên sau khi loại 794 trường hợp đang học</a:t>
            </a:r>
          </a:p>
        </p:txBody>
      </p:sp>
      <p:sp>
        <p:nvSpPr>
          <p:cNvPr id="8" name="TextBox 8"/>
          <p:cNvSpPr txBox="1"/>
          <p:nvPr/>
        </p:nvSpPr>
        <p:spPr>
          <a:xfrm>
            <a:off x="6762750" y="2552700"/>
            <a:ext cx="9525000" cy="405765"/>
          </a:xfrm>
          <a:prstGeom prst="rect">
            <a:avLst/>
          </a:prstGeom>
        </p:spPr>
        <p:txBody>
          <a:bodyPr lIns="0" tIns="0" rIns="0" bIns="0" rtlCol="0" anchor="t">
            <a:spAutoFit/>
          </a:bodyPr>
          <a:lstStyle/>
          <a:p>
            <a:pPr algn="l">
              <a:lnSpc>
                <a:spcPts val="3315"/>
              </a:lnSpc>
            </a:pPr>
            <a:r>
              <a:rPr lang="en-US" sz="2550">
                <a:solidFill>
                  <a:srgbClr val="F7FBFF"/>
                </a:solidFill>
                <a:latin typeface="IBM Plex Mono"/>
                <a:ea typeface="IBM Plex Mono"/>
                <a:cs typeface="IBM Plex Mono"/>
                <a:sym typeface="IBM Plex Mono"/>
              </a:rPr>
              <a:t>x ∈ ℝ⁸  →  P(y = 1 | x)</a:t>
            </a:r>
          </a:p>
        </p:txBody>
      </p:sp>
      <p:sp>
        <p:nvSpPr>
          <p:cNvPr id="9" name="TextBox 9"/>
          <p:cNvSpPr txBox="1"/>
          <p:nvPr/>
        </p:nvSpPr>
        <p:spPr>
          <a:xfrm>
            <a:off x="6762750" y="3838575"/>
            <a:ext cx="8572500" cy="613410"/>
          </a:xfrm>
          <a:prstGeom prst="rect">
            <a:avLst/>
          </a:prstGeom>
        </p:spPr>
        <p:txBody>
          <a:bodyPr lIns="0" tIns="0" rIns="0" bIns="0" rtlCol="0" anchor="t">
            <a:spAutoFit/>
          </a:bodyPr>
          <a:lstStyle/>
          <a:p>
            <a:pPr algn="l">
              <a:lnSpc>
                <a:spcPts val="5040"/>
              </a:lnSpc>
            </a:pPr>
            <a:r>
              <a:rPr lang="en-US" sz="3600" b="1">
                <a:solidFill>
                  <a:srgbClr val="F7FBFF"/>
                </a:solidFill>
                <a:latin typeface="Be Vietnam Ultra-Bold"/>
                <a:ea typeface="Be Vietnam Ultra-Bold"/>
                <a:cs typeface="Be Vietnam Ultra-Bold"/>
                <a:sym typeface="Be Vietnam Ultra-Bold"/>
              </a:rPr>
              <a:t>Ưu tiên RECALL lớp bỏ học</a:t>
            </a:r>
          </a:p>
        </p:txBody>
      </p:sp>
      <p:sp>
        <p:nvSpPr>
          <p:cNvPr id="10" name="TextBox 10"/>
          <p:cNvSpPr txBox="1"/>
          <p:nvPr/>
        </p:nvSpPr>
        <p:spPr>
          <a:xfrm>
            <a:off x="6762750" y="4629150"/>
            <a:ext cx="8572500" cy="350520"/>
          </a:xfrm>
          <a:prstGeom prst="rect">
            <a:avLst/>
          </a:prstGeom>
        </p:spPr>
        <p:txBody>
          <a:bodyPr lIns="0" tIns="0" rIns="0" bIns="0" rtlCol="0" anchor="t">
            <a:spAutoFit/>
          </a:bodyPr>
          <a:lstStyle/>
          <a:p>
            <a:pPr algn="l">
              <a:lnSpc>
                <a:spcPts val="2835"/>
              </a:lnSpc>
            </a:pPr>
            <a:r>
              <a:rPr lang="en-US" sz="2100">
                <a:solidFill>
                  <a:srgbClr val="F7FBFF"/>
                </a:solidFill>
                <a:latin typeface="IBM Plex Sans"/>
                <a:ea typeface="IBM Plex Sans"/>
                <a:cs typeface="IBM Plex Sans"/>
                <a:sym typeface="IBM Plex Sans"/>
              </a:rPr>
              <a:t>Bỏ sót một sinh viên có nguy cơ thường đắt giá hơn một cảnh báo nhầm.</a:t>
            </a:r>
          </a:p>
        </p:txBody>
      </p:sp>
      <p:grpSp>
        <p:nvGrpSpPr>
          <p:cNvPr id="11" name="Group 11"/>
          <p:cNvGrpSpPr/>
          <p:nvPr/>
        </p:nvGrpSpPr>
        <p:grpSpPr>
          <a:xfrm>
            <a:off x="6762750" y="6477000"/>
            <a:ext cx="3714750" cy="1428750"/>
            <a:chOff x="0" y="0"/>
            <a:chExt cx="4953000" cy="1905000"/>
          </a:xfrm>
        </p:grpSpPr>
        <p:sp>
          <p:nvSpPr>
            <p:cNvPr id="12" name="Freeform 12"/>
            <p:cNvSpPr/>
            <p:nvPr/>
          </p:nvSpPr>
          <p:spPr>
            <a:xfrm>
              <a:off x="0" y="0"/>
              <a:ext cx="4953000" cy="1905000"/>
            </a:xfrm>
            <a:custGeom>
              <a:avLst/>
              <a:gdLst/>
              <a:ahLst/>
              <a:cxnLst/>
              <a:rect l="l" t="t" r="r" b="b"/>
              <a:pathLst>
                <a:path w="4953000" h="1905000">
                  <a:moveTo>
                    <a:pt x="65128" y="0"/>
                  </a:moveTo>
                  <a:lnTo>
                    <a:pt x="4887872" y="0"/>
                  </a:lnTo>
                  <a:cubicBezTo>
                    <a:pt x="4923841" y="0"/>
                    <a:pt x="4953000" y="29159"/>
                    <a:pt x="4953000" y="65128"/>
                  </a:cubicBezTo>
                  <a:lnTo>
                    <a:pt x="4953000" y="1839872"/>
                  </a:lnTo>
                  <a:cubicBezTo>
                    <a:pt x="4953000" y="1875841"/>
                    <a:pt x="4923841" y="1905000"/>
                    <a:pt x="4887872" y="1905000"/>
                  </a:cubicBezTo>
                  <a:lnTo>
                    <a:pt x="65128" y="1905000"/>
                  </a:lnTo>
                  <a:cubicBezTo>
                    <a:pt x="29159" y="1905000"/>
                    <a:pt x="0" y="1875841"/>
                    <a:pt x="0" y="1839872"/>
                  </a:cubicBezTo>
                  <a:lnTo>
                    <a:pt x="0" y="65128"/>
                  </a:lnTo>
                  <a:cubicBezTo>
                    <a:pt x="0" y="29159"/>
                    <a:pt x="29159" y="0"/>
                    <a:pt x="65128" y="0"/>
                  </a:cubicBezTo>
                  <a:close/>
                </a:path>
              </a:pathLst>
            </a:custGeom>
            <a:solidFill>
              <a:srgbClr val="7C5CFF"/>
            </a:solidFill>
            <a:ln cap="sq">
              <a:noFill/>
              <a:prstDash val="solid"/>
              <a:miter/>
            </a:ln>
          </p:spPr>
          <p:txBody>
            <a:bodyPr/>
            <a:lstStyle/>
            <a:p>
              <a:endParaRPr lang="en-US"/>
            </a:p>
          </p:txBody>
        </p:sp>
        <p:sp>
          <p:nvSpPr>
            <p:cNvPr id="13" name="TextBox 13"/>
            <p:cNvSpPr txBox="1"/>
            <p:nvPr/>
          </p:nvSpPr>
          <p:spPr>
            <a:xfrm>
              <a:off x="0" y="-47625"/>
              <a:ext cx="4953000" cy="1952625"/>
            </a:xfrm>
            <a:prstGeom prst="rect">
              <a:avLst/>
            </a:prstGeom>
          </p:spPr>
          <p:txBody>
            <a:bodyPr lIns="50800" tIns="50800" rIns="50800" bIns="50800" rtlCol="0" anchor="ctr"/>
            <a:lstStyle/>
            <a:p>
              <a:pPr algn="ctr">
                <a:lnSpc>
                  <a:spcPts val="3149"/>
                </a:lnSpc>
              </a:pPr>
              <a:r>
                <a:rPr lang="en-US" sz="2250" b="1">
                  <a:solidFill>
                    <a:srgbClr val="071A2B"/>
                  </a:solidFill>
                  <a:latin typeface="Be Vietnam Ultra-Bold"/>
                  <a:ea typeface="Be Vietnam Ultra-Bold"/>
                  <a:cs typeface="Be Vietnam Ultra-Bold"/>
                  <a:sym typeface="Be Vietnam Ultra-Bold"/>
                </a:rPr>
                <a:t>y = 0</a:t>
              </a:r>
            </a:p>
            <a:p>
              <a:pPr algn="ctr">
                <a:lnSpc>
                  <a:spcPts val="3149"/>
                </a:lnSpc>
              </a:pPr>
              <a:r>
                <a:rPr lang="en-US" sz="2250" b="1">
                  <a:solidFill>
                    <a:srgbClr val="071A2B"/>
                  </a:solidFill>
                  <a:latin typeface="Be Vietnam Ultra-Bold"/>
                  <a:ea typeface="Be Vietnam Ultra-Bold"/>
                  <a:cs typeface="Be Vietnam Ultra-Bold"/>
                  <a:sym typeface="Be Vietnam Ultra-Bold"/>
                </a:rPr>
                <a:t>TỐT NGHIỆP</a:t>
              </a:r>
            </a:p>
          </p:txBody>
        </p:sp>
      </p:grpSp>
      <p:grpSp>
        <p:nvGrpSpPr>
          <p:cNvPr id="14" name="Group 14"/>
          <p:cNvGrpSpPr/>
          <p:nvPr/>
        </p:nvGrpSpPr>
        <p:grpSpPr>
          <a:xfrm>
            <a:off x="11049000" y="6477000"/>
            <a:ext cx="3714750" cy="1428750"/>
            <a:chOff x="0" y="0"/>
            <a:chExt cx="4953000" cy="1905000"/>
          </a:xfrm>
        </p:grpSpPr>
        <p:sp>
          <p:nvSpPr>
            <p:cNvPr id="15" name="Freeform 15"/>
            <p:cNvSpPr/>
            <p:nvPr/>
          </p:nvSpPr>
          <p:spPr>
            <a:xfrm>
              <a:off x="0" y="0"/>
              <a:ext cx="4953000" cy="1905000"/>
            </a:xfrm>
            <a:custGeom>
              <a:avLst/>
              <a:gdLst/>
              <a:ahLst/>
              <a:cxnLst/>
              <a:rect l="l" t="t" r="r" b="b"/>
              <a:pathLst>
                <a:path w="4953000" h="1905000">
                  <a:moveTo>
                    <a:pt x="65128" y="0"/>
                  </a:moveTo>
                  <a:lnTo>
                    <a:pt x="4887872" y="0"/>
                  </a:lnTo>
                  <a:cubicBezTo>
                    <a:pt x="4923841" y="0"/>
                    <a:pt x="4953000" y="29159"/>
                    <a:pt x="4953000" y="65128"/>
                  </a:cubicBezTo>
                  <a:lnTo>
                    <a:pt x="4953000" y="1839872"/>
                  </a:lnTo>
                  <a:cubicBezTo>
                    <a:pt x="4953000" y="1875841"/>
                    <a:pt x="4923841" y="1905000"/>
                    <a:pt x="4887872" y="1905000"/>
                  </a:cubicBezTo>
                  <a:lnTo>
                    <a:pt x="65128" y="1905000"/>
                  </a:lnTo>
                  <a:cubicBezTo>
                    <a:pt x="29159" y="1905000"/>
                    <a:pt x="0" y="1875841"/>
                    <a:pt x="0" y="1839872"/>
                  </a:cubicBezTo>
                  <a:lnTo>
                    <a:pt x="0" y="65128"/>
                  </a:lnTo>
                  <a:cubicBezTo>
                    <a:pt x="0" y="29159"/>
                    <a:pt x="29159" y="0"/>
                    <a:pt x="65128" y="0"/>
                  </a:cubicBezTo>
                  <a:close/>
                </a:path>
              </a:pathLst>
            </a:custGeom>
            <a:solidFill>
              <a:srgbClr val="28C7C2"/>
            </a:solidFill>
            <a:ln cap="sq">
              <a:noFill/>
              <a:prstDash val="solid"/>
              <a:miter/>
            </a:ln>
          </p:spPr>
          <p:txBody>
            <a:bodyPr/>
            <a:lstStyle/>
            <a:p>
              <a:endParaRPr lang="en-US"/>
            </a:p>
          </p:txBody>
        </p:sp>
        <p:sp>
          <p:nvSpPr>
            <p:cNvPr id="16" name="TextBox 16"/>
            <p:cNvSpPr txBox="1"/>
            <p:nvPr/>
          </p:nvSpPr>
          <p:spPr>
            <a:xfrm>
              <a:off x="0" y="-47625"/>
              <a:ext cx="4953000" cy="1952625"/>
            </a:xfrm>
            <a:prstGeom prst="rect">
              <a:avLst/>
            </a:prstGeom>
          </p:spPr>
          <p:txBody>
            <a:bodyPr lIns="50800" tIns="50800" rIns="50800" bIns="50800" rtlCol="0" anchor="ctr"/>
            <a:lstStyle/>
            <a:p>
              <a:pPr algn="ctr">
                <a:lnSpc>
                  <a:spcPts val="3149"/>
                </a:lnSpc>
              </a:pPr>
              <a:r>
                <a:rPr lang="en-US" sz="2250" b="1">
                  <a:solidFill>
                    <a:srgbClr val="071A2B"/>
                  </a:solidFill>
                  <a:latin typeface="Be Vietnam Ultra-Bold"/>
                  <a:ea typeface="Be Vietnam Ultra-Bold"/>
                  <a:cs typeface="Be Vietnam Ultra-Bold"/>
                  <a:sym typeface="Be Vietnam Ultra-Bold"/>
                </a:rPr>
                <a:t>y = 1</a:t>
              </a:r>
            </a:p>
            <a:p>
              <a:pPr algn="ctr">
                <a:lnSpc>
                  <a:spcPts val="3149"/>
                </a:lnSpc>
              </a:pPr>
              <a:r>
                <a:rPr lang="en-US" sz="2250" b="1">
                  <a:solidFill>
                    <a:srgbClr val="071A2B"/>
                  </a:solidFill>
                  <a:latin typeface="Be Vietnam Ultra-Bold"/>
                  <a:ea typeface="Be Vietnam Ultra-Bold"/>
                  <a:cs typeface="Be Vietnam Ultra-Bold"/>
                  <a:sym typeface="Be Vietnam Ultra-Bold"/>
                </a:rPr>
                <a:t>BỎ HỌC</a:t>
              </a:r>
            </a:p>
          </p:txBody>
        </p:sp>
      </p:grpSp>
      <p:sp>
        <p:nvSpPr>
          <p:cNvPr id="15" name="TextBox 15"/>
          <p:cNvSpPr txBox="1"/>
          <p:nvPr/>
        </p:nvSpPr>
        <p:spPr>
          <a:xfrm>
            <a:off x="1047750" y="4572000"/>
            <a:ext cx="4953000" cy="1900000"/>
          </a:xfrm>
          <a:prstGeom prst="rect">
            <a:avLst/>
          </a:prstGeom>
        </p:spPr>
        <p:txBody>
          <a:bodyPr lIns="0" tIns="0" rIns="0" bIns="0" rtlCol="0" anchor="t">
            <a:spAutoFit/>
          </a:bodyPr>
          <a:lstStyle/>
          <a:p>
            <a:pPr algn="l">
              <a:lnSpc>
                <a:spcPts val="3000"/>
              </a:lnSpc>
            </a:pPr>
            <a:r>
              <a:rPr lang="en-US" sz="1800" b="1">
                <a:solidFill>
                  <a:srgbClr val="28C8C2"/>
                </a:solidFill>
                <a:latin typeface="IBM Plex Sans"/>
                <a:ea typeface="IBM Plex Sans"/>
                <a:cs typeface="IBM Plex Sans"/>
                <a:sym typeface="IBM Plex Sans"/>
              </a:rPr>
              <a:t>Bộ dữ liệu gốc: 4.424 sinh viên</a:t>
            </a:r>
          </a:p>
          <a:p>
            <a:pPr algn="l">
              <a:lnSpc>
                <a:spcPts val="3000"/>
              </a:lnSpc>
            </a:pPr>
            <a:r>
              <a:rPr lang="en-US" sz="1800">
                <a:solidFill>
                  <a:srgbClr val="F7FBFF"/>
                </a:solidFill>
                <a:latin typeface="IBM Plex Sans"/>
                <a:ea typeface="IBM Plex Sans"/>
                <a:cs typeface="IBM Plex Sans"/>
                <a:sym typeface="IBM Plex Sans"/>
              </a:rPr>
              <a:t>•  2.209 tốt nghiệp</a:t>
            </a:r>
          </a:p>
          <a:p>
            <a:pPr algn="l">
              <a:lnSpc>
                <a:spcPts val="3000"/>
              </a:lnSpc>
            </a:pPr>
            <a:r>
              <a:rPr lang="en-US" sz="1800">
                <a:solidFill>
                  <a:srgbClr val="F7FBFF"/>
                </a:solidFill>
                <a:latin typeface="IBM Plex Sans"/>
                <a:ea typeface="IBM Plex Sans"/>
                <a:cs typeface="IBM Plex Sans"/>
                <a:sym typeface="IBM Plex Sans"/>
              </a:rPr>
              <a:t>•  1.421 bỏ học</a:t>
            </a:r>
          </a:p>
          <a:p>
            <a:pPr algn="l">
              <a:lnSpc>
                <a:spcPts val="3000"/>
              </a:lnSpc>
            </a:pPr>
            <a:r>
              <a:rPr lang="en-US" sz="1800">
                <a:solidFill>
                  <a:srgbClr val="F7FBFF"/>
                </a:solidFill>
                <a:latin typeface="IBM Plex Sans"/>
                <a:ea typeface="IBM Plex Sans"/>
                <a:cs typeface="IBM Plex Sans"/>
                <a:sym typeface="IBM Plex Sans"/>
              </a:rPr>
              <a:t>•  794 đang học: loại ra vì chưa biết kết cục</a:t>
            </a:r>
          </a:p>
        </p:txBody>
      </p:sp>
    </p:spTree>
    <p:extLst>
      <p:ext uri="{BB962C8B-B14F-4D97-AF65-F5344CB8AC3E}">
        <p14:creationId xmlns:p14="http://schemas.microsoft.com/office/powerpoint/2010/main" val="120178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81050"/>
            <a:ext cx="14287500" cy="995553"/>
          </a:xfrm>
          <a:prstGeom prst="rect">
            <a:avLst/>
          </a:prstGeom>
        </p:spPr>
        <p:txBody>
          <a:bodyPr lIns="0" tIns="0" rIns="0" bIns="0" rtlCol="0" anchor="t">
            <a:spAutoFit/>
          </a:bodyPr>
          <a:lstStyle/>
          <a:p>
            <a:pPr algn="l">
              <a:lnSpc>
                <a:spcPts val="7776"/>
              </a:lnSpc>
            </a:pPr>
            <a:r>
              <a:rPr lang="en-US" sz="7200" b="1">
                <a:solidFill>
                  <a:srgbClr val="F7FBFF"/>
                </a:solidFill>
                <a:latin typeface="Be Vietnam Ultra-Bold"/>
                <a:ea typeface="Be Vietnam Ultra-Bold"/>
                <a:cs typeface="Be Vietnam Ultra-Bold"/>
                <a:sym typeface="Be Vietnam Ultra-Bold"/>
              </a:rPr>
              <a:t>Bộ dữ liệu và 8 biến chọn lọc</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1933575"/>
            <a:ext cx="10001250" cy="1109345"/>
          </a:xfrm>
          <a:prstGeom prst="rect">
            <a:avLst/>
          </a:prstGeom>
        </p:spPr>
        <p:txBody>
          <a:bodyPr lIns="0" tIns="0" rIns="0" bIns="0" rtlCol="0" anchor="t">
            <a:spAutoFit/>
          </a:bodyPr>
          <a:lstStyle/>
          <a:p>
            <a:pPr algn="l">
              <a:lnSpc>
                <a:spcPts val="4480"/>
              </a:lnSpc>
            </a:pPr>
            <a:r>
              <a:rPr lang="en-US" sz="3200" b="1">
                <a:solidFill>
                  <a:srgbClr val="F7FBFF"/>
                </a:solidFill>
                <a:latin typeface="IBM Plex Sans Bold"/>
                <a:ea typeface="IBM Plex Sans Bold"/>
                <a:cs typeface="IBM Plex Sans Bold"/>
                <a:sym typeface="IBM Plex Sans Bold"/>
              </a:rPr>
              <a:t>UCI  ·  4.424 sinh viên  ·  36 biến  ·  không thiếu dữ liệu</a:t>
            </a:r>
          </a:p>
        </p:txBody>
      </p:sp>
      <p:sp>
        <p:nvSpPr>
          <p:cNvPr id="7" name="TextBox 7"/>
          <p:cNvSpPr txBox="1"/>
          <p:nvPr/>
        </p:nvSpPr>
        <p:spPr>
          <a:xfrm>
            <a:off x="1047750" y="2914650"/>
            <a:ext cx="6667500" cy="2038350"/>
          </a:xfrm>
          <a:prstGeom prst="rect">
            <a:avLst/>
          </a:prstGeom>
        </p:spPr>
        <p:txBody>
          <a:bodyPr lIns="0" tIns="0" rIns="0" bIns="0" rtlCol="0" anchor="t">
            <a:spAutoFit/>
          </a:bodyPr>
          <a:lstStyle/>
          <a:p>
            <a:pPr algn="l">
              <a:lnSpc>
                <a:spcPts val="4050"/>
              </a:lnSpc>
            </a:pPr>
            <a:r>
              <a:rPr lang="en-US" sz="3000" b="1">
                <a:solidFill>
                  <a:srgbClr val="F7FBFF"/>
                </a:solidFill>
                <a:latin typeface="IBM Plex Sans Bold"/>
                <a:ea typeface="IBM Plex Sans Bold"/>
                <a:cs typeface="IBM Plex Sans Bold"/>
                <a:sym typeface="IBM Plex Sans Bold"/>
              </a:rPr>
              <a:t>Học phí đúng hạn  •  Nợ học phí</a:t>
            </a:r>
          </a:p>
          <a:p>
            <a:pPr algn="l">
              <a:lnSpc>
                <a:spcPts val="4050"/>
              </a:lnSpc>
            </a:pPr>
            <a:r>
              <a:rPr lang="en-US" sz="3000" b="1">
                <a:solidFill>
                  <a:srgbClr val="F7FBFF"/>
                </a:solidFill>
                <a:latin typeface="IBM Plex Sans Bold"/>
                <a:ea typeface="IBM Plex Sans Bold"/>
                <a:cs typeface="IBM Plex Sans Bold"/>
                <a:sym typeface="IBM Plex Sans Bold"/>
              </a:rPr>
              <a:t>Điểm HK1  •  Số môn đạt HK1</a:t>
            </a:r>
          </a:p>
          <a:p>
            <a:pPr algn="l">
              <a:lnSpc>
                <a:spcPts val="4050"/>
              </a:lnSpc>
            </a:pPr>
            <a:r>
              <a:rPr lang="en-US" sz="3000" b="1">
                <a:solidFill>
                  <a:srgbClr val="F7FBFF"/>
                </a:solidFill>
                <a:latin typeface="IBM Plex Sans Bold"/>
                <a:ea typeface="IBM Plex Sans Bold"/>
                <a:cs typeface="IBM Plex Sans Bold"/>
                <a:sym typeface="IBM Plex Sans Bold"/>
              </a:rPr>
              <a:t>Điểm HK2  •  Số môn đạt HK2</a:t>
            </a:r>
          </a:p>
          <a:p>
            <a:pPr algn="l">
              <a:lnSpc>
                <a:spcPts val="4050"/>
              </a:lnSpc>
            </a:pPr>
            <a:r>
              <a:rPr lang="en-US" sz="3000" b="1">
                <a:solidFill>
                  <a:srgbClr val="F7FBFF"/>
                </a:solidFill>
                <a:latin typeface="IBM Plex Sans Bold"/>
                <a:ea typeface="IBM Plex Sans Bold"/>
                <a:cs typeface="IBM Plex Sans Bold"/>
                <a:sym typeface="IBM Plex Sans Bold"/>
              </a:rPr>
              <a:t>Tuổi nhập học  •  Học bổng</a:t>
            </a:r>
          </a:p>
        </p:txBody>
      </p:sp>
      <p:sp>
        <p:nvSpPr>
          <p:cNvPr id="8" name="TextBox 8"/>
          <p:cNvSpPr txBox="1"/>
          <p:nvPr/>
        </p:nvSpPr>
        <p:spPr>
          <a:xfrm>
            <a:off x="1047750" y="6286500"/>
            <a:ext cx="4953000" cy="1708151"/>
          </a:xfrm>
          <a:prstGeom prst="rect">
            <a:avLst/>
          </a:prstGeom>
        </p:spPr>
        <p:txBody>
          <a:bodyPr lIns="0" tIns="0" rIns="0" bIns="0" rtlCol="0" anchor="t">
            <a:spAutoFit/>
          </a:bodyPr>
          <a:lstStyle/>
          <a:p>
            <a:pPr algn="l">
              <a:lnSpc>
                <a:spcPts val="13999"/>
              </a:lnSpc>
            </a:pPr>
            <a:r>
              <a:rPr lang="en-US" sz="9999" b="1">
                <a:solidFill>
                  <a:srgbClr val="64E8FF"/>
                </a:solidFill>
                <a:latin typeface="Be Vietnam Ultra-Bold"/>
                <a:ea typeface="Be Vietnam Ultra-Bold"/>
                <a:cs typeface="Be Vietnam Ultra-Bold"/>
                <a:sym typeface="Be Vietnam Ultra-Bold"/>
              </a:rPr>
              <a:t>39,1%</a:t>
            </a:r>
          </a:p>
        </p:txBody>
      </p:sp>
      <p:sp>
        <p:nvSpPr>
          <p:cNvPr id="9" name="TextBox 9"/>
          <p:cNvSpPr txBox="1"/>
          <p:nvPr/>
        </p:nvSpPr>
        <p:spPr>
          <a:xfrm>
            <a:off x="1047750" y="7820025"/>
            <a:ext cx="4000500" cy="495300"/>
          </a:xfrm>
          <a:prstGeom prst="rect">
            <a:avLst/>
          </a:prstGeom>
        </p:spPr>
        <p:txBody>
          <a:bodyPr lIns="0" tIns="0" rIns="0" bIns="0" rtlCol="0" anchor="t">
            <a:spAutoFit/>
          </a:bodyPr>
          <a:lstStyle/>
          <a:p>
            <a:pPr algn="l">
              <a:lnSpc>
                <a:spcPts val="4050"/>
              </a:lnSpc>
            </a:pPr>
            <a:r>
              <a:rPr lang="en-US" sz="3000" b="1">
                <a:solidFill>
                  <a:srgbClr val="F7FBFF"/>
                </a:solidFill>
                <a:latin typeface="IBM Plex Sans Bold"/>
                <a:ea typeface="IBM Plex Sans Bold"/>
                <a:cs typeface="IBM Plex Sans Bold"/>
                <a:sym typeface="IBM Plex Sans Bold"/>
              </a:rPr>
              <a:t>bỏ học sau lọc</a:t>
            </a:r>
          </a:p>
        </p:txBody>
      </p:sp>
      <p:grpSp>
        <p:nvGrpSpPr>
          <p:cNvPr id="10" name="Group 10"/>
          <p:cNvGrpSpPr/>
          <p:nvPr/>
        </p:nvGrpSpPr>
        <p:grpSpPr>
          <a:xfrm>
            <a:off x="7905750" y="2524125"/>
            <a:ext cx="9144000" cy="6477000"/>
            <a:chOff x="0" y="0"/>
            <a:chExt cx="12192000" cy="8636000"/>
          </a:xfrm>
        </p:grpSpPr>
        <p:sp>
          <p:nvSpPr>
            <p:cNvPr id="11" name="Freeform 11"/>
            <p:cNvSpPr/>
            <p:nvPr/>
          </p:nvSpPr>
          <p:spPr>
            <a:xfrm>
              <a:off x="0" y="0"/>
              <a:ext cx="12192000" cy="8636000"/>
            </a:xfrm>
            <a:custGeom>
              <a:avLst/>
              <a:gdLst/>
              <a:ahLst/>
              <a:cxnLst/>
              <a:rect l="l" t="t" r="r" b="b"/>
              <a:pathLst>
                <a:path w="12192000" h="8636000">
                  <a:moveTo>
                    <a:pt x="228600" y="0"/>
                  </a:moveTo>
                  <a:lnTo>
                    <a:pt x="11963400" y="0"/>
                  </a:lnTo>
                  <a:cubicBezTo>
                    <a:pt x="12089652" y="0"/>
                    <a:pt x="12192000" y="102348"/>
                    <a:pt x="12192000" y="228600"/>
                  </a:cubicBezTo>
                  <a:lnTo>
                    <a:pt x="12192000" y="8407400"/>
                  </a:lnTo>
                  <a:cubicBezTo>
                    <a:pt x="12192000" y="8533652"/>
                    <a:pt x="12089652" y="8636000"/>
                    <a:pt x="11963400" y="8636000"/>
                  </a:cubicBezTo>
                  <a:lnTo>
                    <a:pt x="228600" y="8636000"/>
                  </a:lnTo>
                  <a:cubicBezTo>
                    <a:pt x="102348" y="8636000"/>
                    <a:pt x="0" y="8533652"/>
                    <a:pt x="0" y="8407400"/>
                  </a:cubicBezTo>
                  <a:lnTo>
                    <a:pt x="0" y="228600"/>
                  </a:lnTo>
                  <a:cubicBezTo>
                    <a:pt x="0" y="102348"/>
                    <a:pt x="102348" y="0"/>
                    <a:pt x="228600" y="0"/>
                  </a:cubicBezTo>
                  <a:close/>
                </a:path>
              </a:pathLst>
            </a:custGeom>
            <a:solidFill>
              <a:srgbClr val="EAF7FB"/>
            </a:solidFill>
          </p:spPr>
          <p:txBody>
            <a:bodyPr/>
            <a:lstStyle/>
            <a:p>
              <a:endParaRPr lang="en-US"/>
            </a:p>
          </p:txBody>
        </p:sp>
        <p:sp>
          <p:nvSpPr>
            <p:cNvPr id="12" name="TextBox 12"/>
            <p:cNvSpPr txBox="1"/>
            <p:nvPr/>
          </p:nvSpPr>
          <p:spPr>
            <a:xfrm>
              <a:off x="0" y="-38100"/>
              <a:ext cx="12192000" cy="8674100"/>
            </a:xfrm>
            <a:prstGeom prst="rect">
              <a:avLst/>
            </a:prstGeom>
          </p:spPr>
          <p:txBody>
            <a:bodyPr lIns="50800" tIns="50800" rIns="50800" bIns="50800" rtlCol="0" anchor="ctr"/>
            <a:lstStyle/>
            <a:p>
              <a:pPr algn="l">
                <a:lnSpc>
                  <a:spcPts val="1679"/>
                </a:lnSpc>
              </a:pPr>
              <a:endParaRPr/>
            </a:p>
          </p:txBody>
        </p:sp>
      </p:grpSp>
      <p:pic>
        <p:nvPicPr>
          <p:cNvPr id="13" name="Picture 13"/>
          <p:cNvPicPr>
            <a:picLocks noChangeAspect="1"/>
          </p:cNvPicPr>
          <p:nvPr/>
        </p:nvPicPr>
        <p:blipFill>
          <a:blip r:embed="rId3"/>
          <a:stretch>
            <a:fillRect/>
          </a:stretch>
        </p:blipFill>
        <p:spPr>
          <a:xfrm>
            <a:off x="7286816" y="1878044"/>
            <a:ext cx="10381867" cy="7773923"/>
          </a:xfrm>
          <a:prstGeom prst="rect">
            <a:avLst/>
          </a:prstGeom>
        </p:spPr>
      </p:pic>
    </p:spTree>
    <p:extLst>
      <p:ext uri="{BB962C8B-B14F-4D97-AF65-F5344CB8AC3E}">
        <p14:creationId xmlns:p14="http://schemas.microsoft.com/office/powerpoint/2010/main" val="266576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Đại số tuyến tính: từ sinh viên đến ma trận</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9715500" y="6667500"/>
            <a:ext cx="438150" cy="438150"/>
            <a:chOff x="0" y="0"/>
            <a:chExt cx="584200" cy="584200"/>
          </a:xfrm>
        </p:grpSpPr>
        <p:sp>
          <p:nvSpPr>
            <p:cNvPr id="7" name="Freeform 7"/>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8" name="TextBox 8"/>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10553700" y="6334125"/>
            <a:ext cx="438150" cy="438150"/>
            <a:chOff x="0" y="0"/>
            <a:chExt cx="584200" cy="584200"/>
          </a:xfrm>
        </p:grpSpPr>
        <p:sp>
          <p:nvSpPr>
            <p:cNvPr id="10" name="Freeform 10"/>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1" name="TextBox 11"/>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11391900" y="6000750"/>
            <a:ext cx="438150" cy="438150"/>
            <a:chOff x="0" y="0"/>
            <a:chExt cx="584200" cy="584200"/>
          </a:xfrm>
        </p:grpSpPr>
        <p:sp>
          <p:nvSpPr>
            <p:cNvPr id="13" name="Freeform 13"/>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4" name="TextBox 14"/>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12230100" y="6667500"/>
            <a:ext cx="438150" cy="438150"/>
            <a:chOff x="0" y="0"/>
            <a:chExt cx="584200" cy="584200"/>
          </a:xfrm>
        </p:grpSpPr>
        <p:sp>
          <p:nvSpPr>
            <p:cNvPr id="16" name="Freeform 16"/>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7" name="TextBox 17"/>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8" name="Group 18"/>
          <p:cNvGrpSpPr/>
          <p:nvPr/>
        </p:nvGrpSpPr>
        <p:grpSpPr>
          <a:xfrm>
            <a:off x="13068300" y="6334125"/>
            <a:ext cx="438150" cy="438150"/>
            <a:chOff x="0" y="0"/>
            <a:chExt cx="584200" cy="584200"/>
          </a:xfrm>
        </p:grpSpPr>
        <p:sp>
          <p:nvSpPr>
            <p:cNvPr id="19" name="Freeform 19"/>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0" name="TextBox 20"/>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1" name="Group 21"/>
          <p:cNvGrpSpPr/>
          <p:nvPr/>
        </p:nvGrpSpPr>
        <p:grpSpPr>
          <a:xfrm>
            <a:off x="13906500" y="6000750"/>
            <a:ext cx="438150" cy="438150"/>
            <a:chOff x="0" y="0"/>
            <a:chExt cx="584200" cy="584200"/>
          </a:xfrm>
        </p:grpSpPr>
        <p:sp>
          <p:nvSpPr>
            <p:cNvPr id="22" name="Freeform 22"/>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3" name="TextBox 23"/>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4" name="Group 24"/>
          <p:cNvGrpSpPr/>
          <p:nvPr/>
        </p:nvGrpSpPr>
        <p:grpSpPr>
          <a:xfrm>
            <a:off x="14744700" y="6667500"/>
            <a:ext cx="438150" cy="438150"/>
            <a:chOff x="0" y="0"/>
            <a:chExt cx="584200" cy="584200"/>
          </a:xfrm>
        </p:grpSpPr>
        <p:sp>
          <p:nvSpPr>
            <p:cNvPr id="25" name="Freeform 25"/>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6" name="TextBox 26"/>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7" name="Group 27"/>
          <p:cNvGrpSpPr/>
          <p:nvPr/>
        </p:nvGrpSpPr>
        <p:grpSpPr>
          <a:xfrm>
            <a:off x="15582900" y="6334125"/>
            <a:ext cx="438150" cy="438150"/>
            <a:chOff x="0" y="0"/>
            <a:chExt cx="584200" cy="584200"/>
          </a:xfrm>
        </p:grpSpPr>
        <p:sp>
          <p:nvSpPr>
            <p:cNvPr id="28" name="Freeform 28"/>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9" name="TextBox 29"/>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sp>
        <p:nvSpPr>
          <p:cNvPr id="30" name="TextBox 30"/>
          <p:cNvSpPr txBox="1"/>
          <p:nvPr/>
        </p:nvSpPr>
        <p:spPr>
          <a:xfrm>
            <a:off x="1047750" y="2228850"/>
            <a:ext cx="6191250" cy="920115"/>
          </a:xfrm>
          <a:prstGeom prst="rect">
            <a:avLst/>
          </a:prstGeom>
        </p:spPr>
        <p:txBody>
          <a:bodyPr lIns="0" tIns="0" rIns="0" bIns="0" rtlCol="0" anchor="t">
            <a:spAutoFit/>
          </a:bodyPr>
          <a:lstStyle/>
          <a:p>
            <a:pPr algn="l">
              <a:lnSpc>
                <a:spcPts val="7559"/>
              </a:lnSpc>
            </a:pPr>
            <a:r>
              <a:rPr lang="en-US" sz="5400" b="1">
                <a:solidFill>
                  <a:srgbClr val="64E8FF"/>
                </a:solidFill>
                <a:latin typeface="IBM Plex Mono Bold"/>
                <a:ea typeface="IBM Plex Mono Bold"/>
                <a:cs typeface="IBM Plex Mono Bold"/>
                <a:sym typeface="IBM Plex Mono Bold"/>
              </a:rPr>
              <a:t>X ∈ ℝ³⁶³⁰ˣ⁸</a:t>
            </a:r>
          </a:p>
        </p:txBody>
      </p:sp>
      <p:sp>
        <p:nvSpPr>
          <p:cNvPr id="31" name="TextBox 31"/>
          <p:cNvSpPr txBox="1"/>
          <p:nvPr/>
        </p:nvSpPr>
        <p:spPr>
          <a:xfrm>
            <a:off x="1047750" y="3457575"/>
            <a:ext cx="8572500" cy="405765"/>
          </a:xfrm>
          <a:prstGeom prst="rect">
            <a:avLst/>
          </a:prstGeom>
        </p:spPr>
        <p:txBody>
          <a:bodyPr lIns="0" tIns="0" rIns="0" bIns="0" rtlCol="0" anchor="t">
            <a:spAutoFit/>
          </a:bodyPr>
          <a:lstStyle/>
          <a:p>
            <a:pPr algn="l">
              <a:lnSpc>
                <a:spcPts val="3315"/>
              </a:lnSpc>
            </a:pPr>
            <a:r>
              <a:rPr lang="en-US" sz="2550">
                <a:solidFill>
                  <a:srgbClr val="FFFFFF"/>
                </a:solidFill>
                <a:latin typeface="IBM Plex Mono"/>
                <a:ea typeface="IBM Plex Mono"/>
                <a:cs typeface="IBM Plex Mono"/>
                <a:sym typeface="IBM Plex Mono"/>
              </a:rPr>
              <a:t>z = w₁x₁ + … + w₈x₈ + b</a:t>
            </a:r>
          </a:p>
        </p:txBody>
      </p:sp>
      <p:sp>
        <p:nvSpPr>
          <p:cNvPr id="32" name="TextBox 32"/>
          <p:cNvSpPr txBox="1"/>
          <p:nvPr/>
        </p:nvSpPr>
        <p:spPr>
          <a:xfrm>
            <a:off x="1047750" y="4486275"/>
            <a:ext cx="723900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Mỗi hàng là một sinh viên. Chuẩn hóa z-score đặt các biến về cùng thang đo trước khi tối ưu.</a:t>
            </a:r>
          </a:p>
        </p:txBody>
      </p:sp>
      <p:sp>
        <p:nvSpPr>
          <p:cNvPr id="33" name="TextBox 33"/>
          <p:cNvSpPr txBox="1"/>
          <p:nvPr/>
        </p:nvSpPr>
        <p:spPr>
          <a:xfrm>
            <a:off x="10096500" y="2428875"/>
            <a:ext cx="5715000" cy="480060"/>
          </a:xfrm>
          <a:prstGeom prst="rect">
            <a:avLst/>
          </a:prstGeom>
        </p:spPr>
        <p:txBody>
          <a:bodyPr lIns="0" tIns="0" rIns="0" bIns="0" rtlCol="0" anchor="t">
            <a:spAutoFit/>
          </a:bodyPr>
          <a:lstStyle/>
          <a:p>
            <a:pPr algn="l">
              <a:lnSpc>
                <a:spcPts val="3990"/>
              </a:lnSpc>
            </a:pPr>
            <a:r>
              <a:rPr lang="en-US" sz="2850">
                <a:solidFill>
                  <a:srgbClr val="FFFFFF"/>
                </a:solidFill>
                <a:latin typeface="IBM Plex Mono"/>
                <a:ea typeface="IBM Plex Mono"/>
                <a:cs typeface="IBM Plex Mono"/>
                <a:sym typeface="IBM Plex Mono"/>
              </a:rPr>
              <a:t>κ(XᵀX/n)</a:t>
            </a:r>
          </a:p>
        </p:txBody>
      </p:sp>
      <p:sp>
        <p:nvSpPr>
          <p:cNvPr id="34" name="TextBox 34"/>
          <p:cNvSpPr txBox="1"/>
          <p:nvPr/>
        </p:nvSpPr>
        <p:spPr>
          <a:xfrm>
            <a:off x="9906000" y="3162300"/>
            <a:ext cx="2857500" cy="1543050"/>
          </a:xfrm>
          <a:prstGeom prst="rect">
            <a:avLst/>
          </a:prstGeom>
        </p:spPr>
        <p:txBody>
          <a:bodyPr lIns="0" tIns="0" rIns="0" bIns="0" rtlCol="0" anchor="t">
            <a:spAutoFit/>
          </a:bodyPr>
          <a:lstStyle/>
          <a:p>
            <a:pPr algn="l">
              <a:lnSpc>
                <a:spcPts val="12599"/>
              </a:lnSpc>
            </a:pPr>
            <a:r>
              <a:rPr lang="en-US" sz="9000" b="1">
                <a:solidFill>
                  <a:srgbClr val="64E8FF"/>
                </a:solidFill>
                <a:latin typeface="Be Vietnam Ultra-Bold"/>
                <a:ea typeface="Be Vietnam Ultra-Bold"/>
                <a:cs typeface="Be Vietnam Ultra-Bold"/>
                <a:sym typeface="Be Vietnam Ultra-Bold"/>
              </a:rPr>
              <a:t>67</a:t>
            </a:r>
          </a:p>
        </p:txBody>
      </p:sp>
      <p:sp>
        <p:nvSpPr>
          <p:cNvPr id="35" name="TextBox 35"/>
          <p:cNvSpPr txBox="1"/>
          <p:nvPr/>
        </p:nvSpPr>
        <p:spPr>
          <a:xfrm>
            <a:off x="13049250" y="3200400"/>
            <a:ext cx="4000500" cy="1202055"/>
          </a:xfrm>
          <a:prstGeom prst="rect">
            <a:avLst/>
          </a:prstGeom>
        </p:spPr>
        <p:txBody>
          <a:bodyPr lIns="0" tIns="0" rIns="0" bIns="0" rtlCol="0" anchor="t">
            <a:spAutoFit/>
          </a:bodyPr>
          <a:lstStyle/>
          <a:p>
            <a:pPr algn="l">
              <a:lnSpc>
                <a:spcPts val="9869"/>
              </a:lnSpc>
            </a:pPr>
            <a:r>
              <a:rPr lang="en-US" sz="7050" b="1">
                <a:solidFill>
                  <a:srgbClr val="28C7C2"/>
                </a:solidFill>
                <a:latin typeface="Be Vietnam Ultra-Bold"/>
                <a:ea typeface="Be Vietnam Ultra-Bold"/>
                <a:cs typeface="Be Vietnam Ultra-Bold"/>
                <a:sym typeface="Be Vietnam Ultra-Bold"/>
              </a:rPr>
              <a:t>30.622</a:t>
            </a:r>
          </a:p>
        </p:txBody>
      </p:sp>
      <p:sp>
        <p:nvSpPr>
          <p:cNvPr id="36" name="TextBox 36"/>
          <p:cNvSpPr txBox="1"/>
          <p:nvPr/>
        </p:nvSpPr>
        <p:spPr>
          <a:xfrm>
            <a:off x="10001250" y="4581525"/>
            <a:ext cx="2476500" cy="35052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có chuẩn hóa</a:t>
            </a:r>
          </a:p>
        </p:txBody>
      </p:sp>
      <p:sp>
        <p:nvSpPr>
          <p:cNvPr id="37" name="TextBox 37"/>
          <p:cNvSpPr txBox="1"/>
          <p:nvPr/>
        </p:nvSpPr>
        <p:spPr>
          <a:xfrm>
            <a:off x="13239750" y="4581525"/>
            <a:ext cx="3238500" cy="35052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không chuẩn hóa</a:t>
            </a:r>
          </a:p>
        </p:txBody>
      </p:sp>
    </p:spTree>
    <p:extLst>
      <p:ext uri="{BB962C8B-B14F-4D97-AF65-F5344CB8AC3E}">
        <p14:creationId xmlns:p14="http://schemas.microsoft.com/office/powerpoint/2010/main" val="293127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Sigmoid biến điểm số thành xác suất</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143000" y="6286500"/>
            <a:ext cx="4000500" cy="2190750"/>
            <a:chOff x="0" y="0"/>
            <a:chExt cx="5334000" cy="2921000"/>
          </a:xfrm>
        </p:grpSpPr>
        <p:grpSp>
          <p:nvGrpSpPr>
            <p:cNvPr id="7" name="Group 7"/>
            <p:cNvGrpSpPr/>
            <p:nvPr/>
          </p:nvGrpSpPr>
          <p:grpSpPr>
            <a:xfrm>
              <a:off x="0" y="0"/>
              <a:ext cx="5334000" cy="2921000"/>
              <a:chOff x="0" y="0"/>
              <a:chExt cx="5334000" cy="2921000"/>
            </a:xfrm>
          </p:grpSpPr>
          <p:sp>
            <p:nvSpPr>
              <p:cNvPr id="8" name="Freeform 8"/>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9" name="TextBox 9"/>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10" name="TextBox 10"/>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28C7C2"/>
                  </a:solidFill>
                  <a:latin typeface="Be Vietnam Ultra-Bold"/>
                  <a:ea typeface="Be Vietnam Ultra-Bold"/>
                  <a:cs typeface="Be Vietnam Ultra-Bold"/>
                  <a:sym typeface="Be Vietnam Ultra-Bold"/>
                </a:rPr>
                <a:t>4,605</a:t>
              </a:r>
            </a:p>
          </p:txBody>
        </p:sp>
        <p:sp>
          <p:nvSpPr>
            <p:cNvPr id="11" name="TextBox 11"/>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sai, rất tự tin</a:t>
              </a:r>
            </a:p>
          </p:txBody>
        </p:sp>
      </p:grpSp>
      <p:grpSp>
        <p:nvGrpSpPr>
          <p:cNvPr id="12" name="Group 12"/>
          <p:cNvGrpSpPr/>
          <p:nvPr/>
        </p:nvGrpSpPr>
        <p:grpSpPr>
          <a:xfrm>
            <a:off x="6572250" y="6286500"/>
            <a:ext cx="4000500" cy="2190750"/>
            <a:chOff x="0" y="0"/>
            <a:chExt cx="5334000" cy="2921000"/>
          </a:xfrm>
        </p:grpSpPr>
        <p:grpSp>
          <p:nvGrpSpPr>
            <p:cNvPr id="13" name="Group 13"/>
            <p:cNvGrpSpPr/>
            <p:nvPr/>
          </p:nvGrpSpPr>
          <p:grpSpPr>
            <a:xfrm>
              <a:off x="0" y="0"/>
              <a:ext cx="5334000" cy="2921000"/>
              <a:chOff x="0" y="0"/>
              <a:chExt cx="5334000" cy="2921000"/>
            </a:xfrm>
          </p:grpSpPr>
          <p:sp>
            <p:nvSpPr>
              <p:cNvPr id="14" name="Freeform 14"/>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15" name="TextBox 15"/>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F7FBFF"/>
                  </a:solidFill>
                  <a:latin typeface="Be Vietnam Ultra-Bold"/>
                  <a:ea typeface="Be Vietnam Ultra-Bold"/>
                  <a:cs typeface="Be Vietnam Ultra-Bold"/>
                  <a:sym typeface="Be Vietnam Ultra-Bold"/>
                </a:rPr>
                <a:t>0,693</a:t>
              </a:r>
            </a:p>
          </p:txBody>
        </p:sp>
        <p:sp>
          <p:nvSpPr>
            <p:cNvPr id="17" name="TextBox 17"/>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0,5</a:t>
              </a:r>
            </a:p>
          </p:txBody>
        </p:sp>
      </p:grpSp>
      <p:grpSp>
        <p:nvGrpSpPr>
          <p:cNvPr id="18" name="Group 18"/>
          <p:cNvGrpSpPr/>
          <p:nvPr/>
        </p:nvGrpSpPr>
        <p:grpSpPr>
          <a:xfrm>
            <a:off x="12001500" y="6286500"/>
            <a:ext cx="4000500" cy="2190750"/>
            <a:chOff x="0" y="0"/>
            <a:chExt cx="5334000" cy="2921000"/>
          </a:xfrm>
        </p:grpSpPr>
        <p:grpSp>
          <p:nvGrpSpPr>
            <p:cNvPr id="19" name="Group 19"/>
            <p:cNvGrpSpPr/>
            <p:nvPr/>
          </p:nvGrpSpPr>
          <p:grpSpPr>
            <a:xfrm>
              <a:off x="0" y="0"/>
              <a:ext cx="5334000" cy="2921000"/>
              <a:chOff x="0" y="0"/>
              <a:chExt cx="5334000" cy="2921000"/>
            </a:xfrm>
          </p:grpSpPr>
          <p:sp>
            <p:nvSpPr>
              <p:cNvPr id="20" name="Freeform 20"/>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21" name="TextBox 21"/>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64E8FF"/>
                  </a:solidFill>
                  <a:latin typeface="Be Vietnam Ultra-Bold"/>
                  <a:ea typeface="Be Vietnam Ultra-Bold"/>
                  <a:cs typeface="Be Vietnam Ultra-Bold"/>
                  <a:sym typeface="Be Vietnam Ultra-Bold"/>
                </a:rPr>
                <a:t>0,010</a:t>
              </a:r>
            </a:p>
          </p:txBody>
        </p:sp>
        <p:sp>
          <p:nvSpPr>
            <p:cNvPr id="23" name="TextBox 23"/>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đúng, rất tự tin</a:t>
              </a:r>
            </a:p>
          </p:txBody>
        </p:sp>
      </p:grpSp>
      <p:sp>
        <p:nvSpPr>
          <p:cNvPr id="24" name="TextBox 24"/>
          <p:cNvSpPr txBox="1"/>
          <p:nvPr/>
        </p:nvSpPr>
        <p:spPr>
          <a:xfrm>
            <a:off x="1047750" y="2200275"/>
            <a:ext cx="7620000" cy="746760"/>
          </a:xfrm>
          <a:prstGeom prst="rect">
            <a:avLst/>
          </a:prstGeom>
        </p:spPr>
        <p:txBody>
          <a:bodyPr lIns="0" tIns="0" rIns="0" bIns="0" rtlCol="0" anchor="t">
            <a:spAutoFit/>
          </a:bodyPr>
          <a:lstStyle/>
          <a:p>
            <a:pPr algn="l">
              <a:lnSpc>
                <a:spcPts val="6090"/>
              </a:lnSpc>
            </a:pPr>
            <a:r>
              <a:rPr lang="en-US" sz="4350" b="1">
                <a:solidFill>
                  <a:srgbClr val="F7FBFF"/>
                </a:solidFill>
                <a:latin typeface="IBM Plex Mono Bold"/>
                <a:ea typeface="IBM Plex Mono Bold"/>
                <a:cs typeface="IBM Plex Mono Bold"/>
                <a:sym typeface="IBM Plex Mono Bold"/>
              </a:rPr>
              <a:t>p = 1 / (1 + e⁻ᶻ)</a:t>
            </a:r>
          </a:p>
        </p:txBody>
      </p:sp>
      <p:sp>
        <p:nvSpPr>
          <p:cNvPr id="25" name="TextBox 25"/>
          <p:cNvSpPr txBox="1"/>
          <p:nvPr/>
        </p:nvSpPr>
        <p:spPr>
          <a:xfrm>
            <a:off x="1047750" y="3362325"/>
            <a:ext cx="10001250" cy="405765"/>
          </a:xfrm>
          <a:prstGeom prst="rect">
            <a:avLst/>
          </a:prstGeom>
        </p:spPr>
        <p:txBody>
          <a:bodyPr lIns="0" tIns="0" rIns="0" bIns="0" rtlCol="0" anchor="t">
            <a:spAutoFit/>
          </a:bodyPr>
          <a:lstStyle/>
          <a:p>
            <a:pPr algn="l">
              <a:lnSpc>
                <a:spcPts val="3315"/>
              </a:lnSpc>
            </a:pPr>
            <a:r>
              <a:rPr lang="en-US" sz="2550">
                <a:solidFill>
                  <a:srgbClr val="F7FBFF"/>
                </a:solidFill>
                <a:latin typeface="IBM Plex Mono"/>
                <a:ea typeface="IBM Plex Mono"/>
                <a:cs typeface="IBM Plex Mono"/>
                <a:sym typeface="IBM Plex Mono"/>
              </a:rPr>
              <a:t>L = −[y log(p) + (1−y) log(1−p)]</a:t>
            </a:r>
          </a:p>
        </p:txBody>
      </p:sp>
      <p:sp>
        <p:nvSpPr>
          <p:cNvPr id="26" name="TextBox 26"/>
          <p:cNvSpPr txBox="1"/>
          <p:nvPr/>
        </p:nvSpPr>
        <p:spPr>
          <a:xfrm>
            <a:off x="1047750" y="4438650"/>
            <a:ext cx="8096250" cy="350520"/>
          </a:xfrm>
          <a:prstGeom prst="rect">
            <a:avLst/>
          </a:prstGeom>
        </p:spPr>
        <p:txBody>
          <a:bodyPr lIns="0" tIns="0" rIns="0" bIns="0" rtlCol="0" anchor="t">
            <a:spAutoFit/>
          </a:bodyPr>
          <a:lstStyle/>
          <a:p>
            <a:pPr algn="l">
              <a:lnSpc>
                <a:spcPts val="2835"/>
              </a:lnSpc>
            </a:pPr>
            <a:r>
              <a:rPr lang="en-US" sz="2100">
                <a:solidFill>
                  <a:srgbClr val="F7FBFF"/>
                </a:solidFill>
                <a:latin typeface="IBM Plex Sans"/>
                <a:ea typeface="IBM Plex Sans"/>
                <a:cs typeface="IBM Plex Sans"/>
                <a:sym typeface="IBM Plex Sans"/>
              </a:rPr>
              <a:t>Cross-entropy phạt rất mạnh dự đoán tự tin nhưng sai.</a:t>
            </a:r>
          </a:p>
        </p:txBody>
      </p:sp>
    </p:spTree>
    <p:extLst>
      <p:ext uri="{BB962C8B-B14F-4D97-AF65-F5344CB8AC3E}">
        <p14:creationId xmlns:p14="http://schemas.microsoft.com/office/powerpoint/2010/main" val="381411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Gradient Descent: đi xuống bề mặt loss</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171700"/>
            <a:ext cx="6477000" cy="405765"/>
          </a:xfrm>
          <a:prstGeom prst="rect">
            <a:avLst/>
          </a:prstGeom>
        </p:spPr>
        <p:txBody>
          <a:bodyPr lIns="0" tIns="0" rIns="0" bIns="0" rtlCol="0" anchor="t">
            <a:spAutoFit/>
          </a:bodyPr>
          <a:lstStyle/>
          <a:p>
            <a:pPr algn="l">
              <a:lnSpc>
                <a:spcPts val="3315"/>
              </a:lnSpc>
            </a:pPr>
            <a:r>
              <a:rPr lang="en-US" sz="2550">
                <a:solidFill>
                  <a:srgbClr val="FFFFFF"/>
                </a:solidFill>
                <a:latin typeface="IBM Plex Mono"/>
                <a:ea typeface="IBM Plex Mono"/>
                <a:cs typeface="IBM Plex Mono"/>
                <a:sym typeface="IBM Plex Mono"/>
              </a:rPr>
              <a:t>∇L = Xᵀ(p−y)/n</a:t>
            </a:r>
          </a:p>
        </p:txBody>
      </p:sp>
      <p:sp>
        <p:nvSpPr>
          <p:cNvPr id="7" name="TextBox 7"/>
          <p:cNvSpPr txBox="1"/>
          <p:nvPr/>
        </p:nvSpPr>
        <p:spPr>
          <a:xfrm>
            <a:off x="1047750" y="3124200"/>
            <a:ext cx="6477000" cy="405765"/>
          </a:xfrm>
          <a:prstGeom prst="rect">
            <a:avLst/>
          </a:prstGeom>
        </p:spPr>
        <p:txBody>
          <a:bodyPr lIns="0" tIns="0" rIns="0" bIns="0" rtlCol="0" anchor="t">
            <a:spAutoFit/>
          </a:bodyPr>
          <a:lstStyle/>
          <a:p>
            <a:pPr algn="l">
              <a:lnSpc>
                <a:spcPts val="3315"/>
              </a:lnSpc>
            </a:pPr>
            <a:r>
              <a:rPr lang="en-US" sz="2550">
                <a:solidFill>
                  <a:srgbClr val="64E8FF"/>
                </a:solidFill>
                <a:latin typeface="IBM Plex Mono"/>
                <a:ea typeface="IBM Plex Mono"/>
                <a:cs typeface="IBM Plex Mono"/>
                <a:sym typeface="IBM Plex Mono"/>
              </a:rPr>
              <a:t>w ← w − η·∇L</a:t>
            </a:r>
          </a:p>
        </p:txBody>
      </p:sp>
      <p:sp>
        <p:nvSpPr>
          <p:cNvPr id="8" name="TextBox 8"/>
          <p:cNvSpPr txBox="1"/>
          <p:nvPr/>
        </p:nvSpPr>
        <p:spPr>
          <a:xfrm>
            <a:off x="1047750" y="4343400"/>
            <a:ext cx="619125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η nhỏ: chậm  ·  η vừa: hội tụ  ·  η lớn: phân kỳ</a:t>
            </a:r>
          </a:p>
          <a:p>
            <a:pPr algn="l">
              <a:lnSpc>
                <a:spcPts val="2835"/>
              </a:lnSpc>
            </a:pPr>
            <a:r>
              <a:rPr lang="en-US" sz="2100">
                <a:solidFill>
                  <a:srgbClr val="FFFFFF"/>
                </a:solidFill>
                <a:latin typeface="IBM Plex Sans"/>
                <a:ea typeface="IBM Plex Sans"/>
                <a:cs typeface="IBM Plex Sans"/>
                <a:sym typeface="IBM Plex Sans"/>
              </a:rPr>
              <a:t>Chuẩn hóa làm đường đi ổn định và nhanh hơn.</a:t>
            </a:r>
          </a:p>
        </p:txBody>
      </p:sp>
      <p:pic>
        <p:nvPicPr>
          <p:cNvPr id="9" name="Picture 9"/>
          <p:cNvPicPr>
            <a:picLocks noChangeAspect="1"/>
          </p:cNvPicPr>
          <p:nvPr/>
        </p:nvPicPr>
        <p:blipFill>
          <a:blip r:embed="rId3"/>
          <a:stretch>
            <a:fillRect/>
          </a:stretch>
        </p:blipFill>
        <p:spPr>
          <a:xfrm>
            <a:off x="7218065" y="1261822"/>
            <a:ext cx="10614620" cy="8049105"/>
          </a:xfrm>
          <a:prstGeom prst="rect">
            <a:avLst/>
          </a:prstGeom>
        </p:spPr>
      </p:pic>
    </p:spTree>
    <p:extLst>
      <p:ext uri="{BB962C8B-B14F-4D97-AF65-F5344CB8AC3E}">
        <p14:creationId xmlns:p14="http://schemas.microsoft.com/office/powerpoint/2010/main" val="2231723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grpSp>
        <p:nvGrpSpPr>
          <p:cNvPr id="2" name="Group 2"/>
          <p:cNvGrpSpPr/>
          <p:nvPr/>
        </p:nvGrpSpPr>
        <p:grpSpPr>
          <a:xfrm>
            <a:off x="9525000" y="2095500"/>
            <a:ext cx="7715250" cy="6572250"/>
            <a:chOff x="0" y="0"/>
            <a:chExt cx="10287000" cy="8763000"/>
          </a:xfrm>
        </p:grpSpPr>
        <p:sp>
          <p:nvSpPr>
            <p:cNvPr id="3" name="Freeform 3"/>
            <p:cNvSpPr/>
            <p:nvPr/>
          </p:nvSpPr>
          <p:spPr>
            <a:xfrm>
              <a:off x="0" y="0"/>
              <a:ext cx="10287000" cy="8763000"/>
            </a:xfrm>
            <a:custGeom>
              <a:avLst/>
              <a:gdLst/>
              <a:ahLst/>
              <a:cxnLst/>
              <a:rect l="l" t="t" r="r" b="b"/>
              <a:pathLst>
                <a:path w="10287000" h="8763000">
                  <a:moveTo>
                    <a:pt x="228600" y="0"/>
                  </a:moveTo>
                  <a:lnTo>
                    <a:pt x="10058400" y="0"/>
                  </a:lnTo>
                  <a:cubicBezTo>
                    <a:pt x="10184652" y="0"/>
                    <a:pt x="10287000" y="102348"/>
                    <a:pt x="10287000" y="228600"/>
                  </a:cubicBezTo>
                  <a:lnTo>
                    <a:pt x="10287000" y="8534400"/>
                  </a:lnTo>
                  <a:cubicBezTo>
                    <a:pt x="10287000" y="8660652"/>
                    <a:pt x="10184652" y="8763000"/>
                    <a:pt x="10058400" y="8763000"/>
                  </a:cubicBezTo>
                  <a:lnTo>
                    <a:pt x="228600" y="8763000"/>
                  </a:lnTo>
                  <a:cubicBezTo>
                    <a:pt x="102348" y="8763000"/>
                    <a:pt x="0" y="8660652"/>
                    <a:pt x="0" y="8534400"/>
                  </a:cubicBezTo>
                  <a:lnTo>
                    <a:pt x="0" y="228600"/>
                  </a:lnTo>
                  <a:cubicBezTo>
                    <a:pt x="0" y="102348"/>
                    <a:pt x="102348" y="0"/>
                    <a:pt x="228600" y="0"/>
                  </a:cubicBezTo>
                  <a:close/>
                </a:path>
              </a:pathLst>
            </a:custGeom>
            <a:solidFill>
              <a:srgbClr val="EAF7FB"/>
            </a:solidFill>
            <a:ln w="19050" cap="sq">
              <a:solidFill>
                <a:srgbClr val="64E8FF"/>
              </a:solidFill>
              <a:prstDash val="solid"/>
              <a:miter/>
            </a:ln>
          </p:spPr>
          <p:txBody>
            <a:bodyPr/>
            <a:lstStyle/>
            <a:p>
              <a:endParaRPr lang="en-US"/>
            </a:p>
          </p:txBody>
        </p:sp>
        <p:sp>
          <p:nvSpPr>
            <p:cNvPr id="4" name="TextBox 4"/>
            <p:cNvSpPr txBox="1"/>
            <p:nvPr/>
          </p:nvSpPr>
          <p:spPr>
            <a:xfrm>
              <a:off x="0" y="-38100"/>
              <a:ext cx="10287000" cy="8801100"/>
            </a:xfrm>
            <a:prstGeom prst="rect">
              <a:avLst/>
            </a:prstGeom>
          </p:spPr>
          <p:txBody>
            <a:bodyPr lIns="50800" tIns="50800" rIns="50800" bIns="50800" rtlCol="0" anchor="ctr"/>
            <a:lstStyle/>
            <a:p>
              <a:pPr algn="l">
                <a:lnSpc>
                  <a:spcPts val="1679"/>
                </a:lnSpc>
              </a:pPr>
              <a:endParaRPr/>
            </a:p>
          </p:txBody>
        </p:sp>
      </p:grpSp>
      <p:pic>
        <p:nvPicPr>
          <p:cNvPr id="5" name="Picture 5"/>
          <p:cNvPicPr>
            <a:picLocks noChangeAspect="1"/>
          </p:cNvPicPr>
          <p:nvPr/>
        </p:nvPicPr>
        <p:blipFill>
          <a:blip r:embed="rId3"/>
          <a:stretch>
            <a:fillRect/>
          </a:stretch>
        </p:blipFill>
        <p:spPr>
          <a:xfrm>
            <a:off x="9334500" y="2238375"/>
            <a:ext cx="8001000" cy="6667500"/>
          </a:xfrm>
          <a:prstGeom prst="rect">
            <a:avLst/>
          </a:prstGeom>
        </p:spPr>
      </p:pic>
      <p:sp>
        <p:nvSpPr>
          <p:cNvPr id="6" name="TextBox 6"/>
          <p:cNvSpPr txBox="1"/>
          <p:nvPr/>
        </p:nvSpPr>
        <p:spPr>
          <a:xfrm>
            <a:off x="1047750" y="457200"/>
            <a:ext cx="14287500" cy="1123315"/>
          </a:xfrm>
          <a:prstGeom prst="rect">
            <a:avLst/>
          </a:prstGeom>
        </p:spPr>
        <p:txBody>
          <a:bodyPr lIns="0" tIns="0" rIns="0" bIns="0" rtlCol="0" anchor="t">
            <a:spAutoFit/>
          </a:bodyPr>
          <a:lstStyle/>
          <a:p>
            <a:pPr algn="l">
              <a:lnSpc>
                <a:spcPts val="8959"/>
              </a:lnSpc>
            </a:pPr>
            <a:r>
              <a:rPr lang="en-US" sz="6399" b="1">
                <a:solidFill>
                  <a:srgbClr val="F7FBFF"/>
                </a:solidFill>
                <a:latin typeface="Arimo Bold"/>
                <a:ea typeface="Arimo Bold"/>
                <a:cs typeface="Arimo Bold"/>
                <a:sym typeface="Arimo Bold"/>
              </a:rPr>
              <a:t>Chia dữ liệu &amp; đánh giá hiệu năng</a:t>
            </a:r>
          </a:p>
        </p:txBody>
      </p:sp>
      <p:grpSp>
        <p:nvGrpSpPr>
          <p:cNvPr id="7" name="Group 7"/>
          <p:cNvGrpSpPr/>
          <p:nvPr/>
        </p:nvGrpSpPr>
        <p:grpSpPr>
          <a:xfrm>
            <a:off x="1047750" y="1504950"/>
            <a:ext cx="857250" cy="66675"/>
            <a:chOff x="0" y="0"/>
            <a:chExt cx="1143000" cy="88900"/>
          </a:xfrm>
        </p:grpSpPr>
        <p:sp>
          <p:nvSpPr>
            <p:cNvPr id="8" name="Freeform 8"/>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p:spPr>
          <p:txBody>
            <a:bodyPr/>
            <a:lstStyle/>
            <a:p>
              <a:endParaRPr lang="en-US"/>
            </a:p>
          </p:txBody>
        </p:sp>
        <p:sp>
          <p:nvSpPr>
            <p:cNvPr id="9" name="TextBox 9"/>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10" name="Group 10"/>
          <p:cNvGrpSpPr/>
          <p:nvPr/>
        </p:nvGrpSpPr>
        <p:grpSpPr>
          <a:xfrm>
            <a:off x="1047750" y="2095500"/>
            <a:ext cx="3714750" cy="1809750"/>
            <a:chOff x="0" y="0"/>
            <a:chExt cx="4953000" cy="2413000"/>
          </a:xfrm>
        </p:grpSpPr>
        <p:sp>
          <p:nvSpPr>
            <p:cNvPr id="11" name="Freeform 11"/>
            <p:cNvSpPr/>
            <p:nvPr/>
          </p:nvSpPr>
          <p:spPr>
            <a:xfrm>
              <a:off x="0" y="0"/>
              <a:ext cx="4953000" cy="2413000"/>
            </a:xfrm>
            <a:custGeom>
              <a:avLst/>
              <a:gdLst/>
              <a:ahLst/>
              <a:cxnLst/>
              <a:rect l="l" t="t" r="r" b="b"/>
              <a:pathLst>
                <a:path w="4953000" h="2413000">
                  <a:moveTo>
                    <a:pt x="228600" y="0"/>
                  </a:moveTo>
                  <a:lnTo>
                    <a:pt x="4724400" y="0"/>
                  </a:lnTo>
                  <a:cubicBezTo>
                    <a:pt x="4850652" y="0"/>
                    <a:pt x="4953000" y="102348"/>
                    <a:pt x="4953000" y="228600"/>
                  </a:cubicBezTo>
                  <a:lnTo>
                    <a:pt x="4953000" y="2184400"/>
                  </a:lnTo>
                  <a:cubicBezTo>
                    <a:pt x="4953000" y="2310652"/>
                    <a:pt x="4850652" y="2413000"/>
                    <a:pt x="4724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12" name="TextBox 12"/>
            <p:cNvSpPr txBox="1"/>
            <p:nvPr/>
          </p:nvSpPr>
          <p:spPr>
            <a:xfrm>
              <a:off x="0" y="-38100"/>
              <a:ext cx="4953000" cy="2451100"/>
            </a:xfrm>
            <a:prstGeom prst="rect">
              <a:avLst/>
            </a:prstGeom>
          </p:spPr>
          <p:txBody>
            <a:bodyPr lIns="50800" tIns="50800" rIns="50800" bIns="50800" rtlCol="0" anchor="ctr"/>
            <a:lstStyle/>
            <a:p>
              <a:pPr algn="l">
                <a:lnSpc>
                  <a:spcPts val="1679"/>
                </a:lnSpc>
              </a:pPr>
              <a:endParaRPr/>
            </a:p>
          </p:txBody>
        </p:sp>
      </p:grpSp>
      <p:grpSp>
        <p:nvGrpSpPr>
          <p:cNvPr id="13" name="Group 13"/>
          <p:cNvGrpSpPr/>
          <p:nvPr/>
        </p:nvGrpSpPr>
        <p:grpSpPr>
          <a:xfrm>
            <a:off x="5048250" y="2095500"/>
            <a:ext cx="3714750" cy="1809750"/>
            <a:chOff x="0" y="0"/>
            <a:chExt cx="4953000" cy="2413000"/>
          </a:xfrm>
        </p:grpSpPr>
        <p:sp>
          <p:nvSpPr>
            <p:cNvPr id="14" name="Freeform 14"/>
            <p:cNvSpPr/>
            <p:nvPr/>
          </p:nvSpPr>
          <p:spPr>
            <a:xfrm>
              <a:off x="0" y="0"/>
              <a:ext cx="4953000" cy="2413000"/>
            </a:xfrm>
            <a:custGeom>
              <a:avLst/>
              <a:gdLst/>
              <a:ahLst/>
              <a:cxnLst/>
              <a:rect l="l" t="t" r="r" b="b"/>
              <a:pathLst>
                <a:path w="4953000" h="2413000">
                  <a:moveTo>
                    <a:pt x="228600" y="0"/>
                  </a:moveTo>
                  <a:lnTo>
                    <a:pt x="4724400" y="0"/>
                  </a:lnTo>
                  <a:cubicBezTo>
                    <a:pt x="4850652" y="0"/>
                    <a:pt x="4953000" y="102348"/>
                    <a:pt x="4953000" y="228600"/>
                  </a:cubicBezTo>
                  <a:lnTo>
                    <a:pt x="4953000" y="2184400"/>
                  </a:lnTo>
                  <a:cubicBezTo>
                    <a:pt x="4953000" y="2310652"/>
                    <a:pt x="4850652" y="2413000"/>
                    <a:pt x="4724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15" name="TextBox 15"/>
            <p:cNvSpPr txBox="1"/>
            <p:nvPr/>
          </p:nvSpPr>
          <p:spPr>
            <a:xfrm>
              <a:off x="0" y="-38100"/>
              <a:ext cx="4953000" cy="2451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1333500" y="2200275"/>
            <a:ext cx="3143250" cy="1024255"/>
          </a:xfrm>
          <a:prstGeom prst="rect">
            <a:avLst/>
          </a:prstGeom>
        </p:spPr>
        <p:txBody>
          <a:bodyPr lIns="0" tIns="0" rIns="0" bIns="0" rtlCol="0" anchor="t">
            <a:spAutoFit/>
          </a:bodyPr>
          <a:lstStyle/>
          <a:p>
            <a:pPr algn="l">
              <a:lnSpc>
                <a:spcPts val="8119"/>
              </a:lnSpc>
            </a:pPr>
            <a:r>
              <a:rPr lang="en-US" sz="5799" b="1">
                <a:solidFill>
                  <a:srgbClr val="64E8FF"/>
                </a:solidFill>
                <a:latin typeface="Arimo Bold"/>
                <a:ea typeface="Arimo Bold"/>
                <a:cs typeface="Arimo Bold"/>
                <a:sym typeface="Arimo Bold"/>
              </a:rPr>
              <a:t>80 / 20</a:t>
            </a:r>
          </a:p>
        </p:txBody>
      </p:sp>
      <p:sp>
        <p:nvSpPr>
          <p:cNvPr id="17" name="TextBox 17"/>
          <p:cNvSpPr txBox="1"/>
          <p:nvPr/>
        </p:nvSpPr>
        <p:spPr>
          <a:xfrm>
            <a:off x="5334000" y="2330000"/>
            <a:ext cx="3143250" cy="533400"/>
          </a:xfrm>
          <a:prstGeom prst="rect">
            <a:avLst/>
          </a:prstGeom>
        </p:spPr>
        <p:txBody>
          <a:bodyPr wrap="none" lIns="0" tIns="0" rIns="0" bIns="0" rtlCol="0" anchor="t">
            <a:spAutoFit/>
          </a:bodyPr>
          <a:lstStyle/>
          <a:p>
            <a:pPr algn="l">
              <a:lnSpc>
                <a:spcPts val="4200"/>
              </a:lnSpc>
            </a:pPr>
            <a:r>
              <a:rPr lang="en-US" sz="2400" b="1">
                <a:solidFill>
                  <a:srgbClr val="F7FBFF"/>
                </a:solidFill>
                <a:latin typeface="Arimo Bold"/>
                <a:ea typeface="Arimo Bold"/>
                <a:cs typeface="Arimo Bold"/>
                <a:sym typeface="Arimo Bold"/>
              </a:rPr>
              <a:t>2.904 huấn luyện</a:t>
            </a:r>
          </a:p>
        </p:txBody>
      </p:sp>
      <p:sp>
        <p:nvSpPr>
          <p:cNvPr id="18" name="TextBox 18"/>
          <p:cNvSpPr txBox="1"/>
          <p:nvPr/>
        </p:nvSpPr>
        <p:spPr>
          <a:xfrm>
            <a:off x="5334000" y="3020000"/>
            <a:ext cx="3143250" cy="533400"/>
          </a:xfrm>
          <a:prstGeom prst="rect">
            <a:avLst/>
          </a:prstGeom>
        </p:spPr>
        <p:txBody>
          <a:bodyPr wrap="none" lIns="0" tIns="0" rIns="0" bIns="0" rtlCol="0" anchor="t">
            <a:spAutoFit/>
          </a:bodyPr>
          <a:lstStyle/>
          <a:p>
            <a:pPr algn="l">
              <a:lnSpc>
                <a:spcPts val="4200"/>
              </a:lnSpc>
            </a:pPr>
            <a:r>
              <a:rPr lang="en-US" sz="2400" b="1">
                <a:solidFill>
                  <a:srgbClr val="28C7C2"/>
                </a:solidFill>
                <a:latin typeface="Arimo Bold"/>
                <a:ea typeface="Arimo Bold"/>
                <a:cs typeface="Arimo Bold"/>
                <a:sym typeface="Arimo Bold"/>
              </a:rPr>
              <a:t>726 kiểm tra</a:t>
            </a:r>
          </a:p>
        </p:txBody>
      </p:sp>
      <p:grpSp>
        <p:nvGrpSpPr>
          <p:cNvPr id="19" name="Group 19"/>
          <p:cNvGrpSpPr/>
          <p:nvPr/>
        </p:nvGrpSpPr>
        <p:grpSpPr>
          <a:xfrm>
            <a:off x="1047750" y="4238625"/>
            <a:ext cx="7715250" cy="2333625"/>
            <a:chOff x="0" y="0"/>
            <a:chExt cx="10287000" cy="3111500"/>
          </a:xfrm>
        </p:grpSpPr>
        <p:sp>
          <p:nvSpPr>
            <p:cNvPr id="20" name="Freeform 20"/>
            <p:cNvSpPr/>
            <p:nvPr/>
          </p:nvSpPr>
          <p:spPr>
            <a:xfrm>
              <a:off x="0" y="0"/>
              <a:ext cx="10287000" cy="3111500"/>
            </a:xfrm>
            <a:custGeom>
              <a:avLst/>
              <a:gdLst/>
              <a:ahLst/>
              <a:cxnLst/>
              <a:rect l="l" t="t" r="r" b="b"/>
              <a:pathLst>
                <a:path w="10287000" h="3111500">
                  <a:moveTo>
                    <a:pt x="228600" y="0"/>
                  </a:moveTo>
                  <a:lnTo>
                    <a:pt x="10058400" y="0"/>
                  </a:lnTo>
                  <a:cubicBezTo>
                    <a:pt x="10184652" y="0"/>
                    <a:pt x="10287000" y="102348"/>
                    <a:pt x="10287000" y="228600"/>
                  </a:cubicBezTo>
                  <a:lnTo>
                    <a:pt x="10287000" y="2882900"/>
                  </a:lnTo>
                  <a:cubicBezTo>
                    <a:pt x="10287000" y="3009152"/>
                    <a:pt x="10184652" y="3111500"/>
                    <a:pt x="10058400" y="3111500"/>
                  </a:cubicBezTo>
                  <a:lnTo>
                    <a:pt x="228600" y="3111500"/>
                  </a:lnTo>
                  <a:cubicBezTo>
                    <a:pt x="102348" y="3111500"/>
                    <a:pt x="0" y="3009152"/>
                    <a:pt x="0" y="28829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21" name="TextBox 21"/>
            <p:cNvSpPr txBox="1"/>
            <p:nvPr/>
          </p:nvSpPr>
          <p:spPr>
            <a:xfrm>
              <a:off x="0" y="-38100"/>
              <a:ext cx="10287000" cy="31496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1381125" y="4476750"/>
            <a:ext cx="6953250" cy="533400"/>
          </a:xfrm>
          <a:prstGeom prst="rect">
            <a:avLst/>
          </a:prstGeom>
        </p:spPr>
        <p:txBody>
          <a:bodyPr lIns="0" tIns="0" rIns="0" bIns="0" rtlCol="0" anchor="t">
            <a:spAutoFit/>
          </a:bodyPr>
          <a:lstStyle/>
          <a:p>
            <a:pPr algn="l">
              <a:lnSpc>
                <a:spcPts val="4200"/>
              </a:lnSpc>
            </a:pPr>
            <a:r>
              <a:rPr lang="en-US" sz="3000" b="1">
                <a:solidFill>
                  <a:srgbClr val="F7FBFF"/>
                </a:solidFill>
                <a:latin typeface="Arimo Bold"/>
                <a:ea typeface="Arimo Bold"/>
                <a:cs typeface="Arimo Bold"/>
                <a:sym typeface="Arimo Bold"/>
              </a:rPr>
              <a:t>Phân tầng · seed 42</a:t>
            </a:r>
          </a:p>
        </p:txBody>
      </p:sp>
      <p:sp>
        <p:nvSpPr>
          <p:cNvPr id="23" name="TextBox 23"/>
          <p:cNvSpPr txBox="1"/>
          <p:nvPr/>
        </p:nvSpPr>
        <p:spPr>
          <a:xfrm>
            <a:off x="1381125" y="5067300"/>
            <a:ext cx="6953250" cy="533400"/>
          </a:xfrm>
          <a:prstGeom prst="rect">
            <a:avLst/>
          </a:prstGeom>
        </p:spPr>
        <p:txBody>
          <a:bodyPr lIns="0" tIns="0" rIns="0" bIns="0" rtlCol="0" anchor="t">
            <a:spAutoFit/>
          </a:bodyPr>
          <a:lstStyle/>
          <a:p>
            <a:pPr algn="l">
              <a:lnSpc>
                <a:spcPts val="4200"/>
              </a:lnSpc>
            </a:pPr>
            <a:r>
              <a:rPr lang="en-US" sz="3000" b="1">
                <a:solidFill>
                  <a:srgbClr val="64E8FF"/>
                </a:solidFill>
                <a:latin typeface="Arimo Bold"/>
                <a:ea typeface="Arimo Bold"/>
                <a:cs typeface="Arimo Bold"/>
                <a:sym typeface="Arimo Bold"/>
              </a:rPr>
              <a:t>SE ≈ 1,1 điểm %</a:t>
            </a:r>
          </a:p>
        </p:txBody>
      </p:sp>
      <p:sp>
        <p:nvSpPr>
          <p:cNvPr id="24" name="TextBox 24"/>
          <p:cNvSpPr txBox="1"/>
          <p:nvPr/>
        </p:nvSpPr>
        <p:spPr>
          <a:xfrm>
            <a:off x="1381125" y="5638800"/>
            <a:ext cx="6953250" cy="533400"/>
          </a:xfrm>
          <a:prstGeom prst="rect">
            <a:avLst/>
          </a:prstGeom>
        </p:spPr>
        <p:txBody>
          <a:bodyPr lIns="0" tIns="0" rIns="0" bIns="0" rtlCol="0" anchor="t">
            <a:spAutoFit/>
          </a:bodyPr>
          <a:lstStyle/>
          <a:p>
            <a:pPr algn="l">
              <a:lnSpc>
                <a:spcPts val="4200"/>
              </a:lnSpc>
            </a:pPr>
            <a:r>
              <a:rPr lang="en-US" sz="3000" b="1">
                <a:solidFill>
                  <a:srgbClr val="F7FBFF"/>
                </a:solidFill>
                <a:latin typeface="Arimo Bold"/>
                <a:ea typeface="Arimo Bold"/>
                <a:cs typeface="Arimo Bold"/>
                <a:sym typeface="Arimo Bold"/>
              </a:rPr>
              <a:t>CI 95%: ±2,2 điểm %</a:t>
            </a:r>
          </a:p>
        </p:txBody>
      </p:sp>
      <p:sp>
        <p:nvSpPr>
          <p:cNvPr id="25" name="TextBox 24"/>
          <p:cNvSpPr txBox="1"/>
          <p:nvPr/>
        </p:nvSpPr>
        <p:spPr>
          <a:xfrm>
            <a:off x="9334500" y="9000000"/>
            <a:ext cx="8001000" cy="1000000"/>
          </a:xfrm>
          <a:prstGeom prst="rect">
            <a:avLst/>
          </a:prstGeom>
          <a:noFill/>
        </p:spPr>
        <p:txBody>
          <a:bodyPr wrap="square">
            <a:spAutoFit/>
          </a:bodyPr>
          <a:lstStyle/>
          <a:p>
            <a:r>
              <a:rPr sz="2000">
                <a:solidFill>
                  <a:srgbClr val="F7FBFF"/>
                </a:solidFill>
                <a:latin typeface="Arimo"/>
              </a:rPr>
              <a:t>Accuracy: cột trái huấn luyện 87,9%, cột phải kiểm tra 89,9%. Hai điểm gần nhau nên không thấy dấu hiệu học vẹt.</a:t>
            </a:r>
          </a:p>
        </p:txBody>
      </p:sp>
    </p:spTree>
    <p:extLst>
      <p:ext uri="{BB962C8B-B14F-4D97-AF65-F5344CB8AC3E}">
        <p14:creationId xmlns:p14="http://schemas.microsoft.com/office/powerpoint/2010/main" val="69846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TabICLv2 học ngay trong ngữ cảnh</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428750" y="6477000"/>
            <a:ext cx="3714750" cy="1524000"/>
            <a:chOff x="0" y="0"/>
            <a:chExt cx="4953000" cy="2032000"/>
          </a:xfrm>
        </p:grpSpPr>
        <p:sp>
          <p:nvSpPr>
            <p:cNvPr id="7" name="Freeform 7"/>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7C5CFF"/>
            </a:solidFill>
            <a:ln cap="rnd">
              <a:noFill/>
              <a:prstDash val="solid"/>
              <a:round/>
            </a:ln>
          </p:spPr>
          <p:txBody>
            <a:bodyPr/>
            <a:lstStyle/>
            <a:p>
              <a:endParaRPr lang="en-US"/>
            </a:p>
          </p:txBody>
        </p:sp>
        <p:sp>
          <p:nvSpPr>
            <p:cNvPr id="8" name="TextBox 8"/>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NHÚNG</a:t>
              </a:r>
            </a:p>
            <a:p>
              <a:pPr algn="ctr">
                <a:lnSpc>
                  <a:spcPts val="2940"/>
                </a:lnSpc>
              </a:pPr>
              <a:r>
                <a:rPr lang="en-US" sz="2100" b="1">
                  <a:solidFill>
                    <a:srgbClr val="071A2B"/>
                  </a:solidFill>
                  <a:latin typeface="Be Vietnam Ultra-Bold"/>
                  <a:ea typeface="Be Vietnam Ultra-Bold"/>
                  <a:cs typeface="Be Vietnam Ultra-Bold"/>
                  <a:sym typeface="Be Vietnam Ultra-Bold"/>
                </a:rPr>
                <a:t>THEO CỘT</a:t>
              </a:r>
            </a:p>
          </p:txBody>
        </p:sp>
      </p:grpSp>
      <p:sp>
        <p:nvSpPr>
          <p:cNvPr id="9" name="AutoShape 9"/>
          <p:cNvSpPr/>
          <p:nvPr/>
        </p:nvSpPr>
        <p:spPr>
          <a:xfrm>
            <a:off x="5334000" y="7239000"/>
            <a:ext cx="1143000" cy="0"/>
          </a:xfrm>
          <a:prstGeom prst="line">
            <a:avLst/>
          </a:prstGeom>
          <a:ln w="47625" cap="flat">
            <a:solidFill>
              <a:srgbClr val="FFFFFF"/>
            </a:solidFill>
            <a:prstDash val="solid"/>
            <a:headEnd type="none" w="sm" len="sm"/>
            <a:tailEnd type="none" w="sm" len="sm"/>
          </a:ln>
        </p:spPr>
        <p:txBody>
          <a:bodyPr/>
          <a:lstStyle/>
          <a:p>
            <a:endParaRPr/>
          </a:p>
        </p:txBody>
      </p:sp>
      <p:grpSp>
        <p:nvGrpSpPr>
          <p:cNvPr id="10" name="Group 10"/>
          <p:cNvGrpSpPr/>
          <p:nvPr/>
        </p:nvGrpSpPr>
        <p:grpSpPr>
          <a:xfrm>
            <a:off x="6858000" y="6477000"/>
            <a:ext cx="3714750" cy="1524000"/>
            <a:chOff x="0" y="0"/>
            <a:chExt cx="4953000" cy="2032000"/>
          </a:xfrm>
        </p:grpSpPr>
        <p:sp>
          <p:nvSpPr>
            <p:cNvPr id="11" name="Freeform 11"/>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7C5CFF"/>
            </a:solidFill>
            <a:ln cap="rnd">
              <a:noFill/>
              <a:prstDash val="solid"/>
              <a:round/>
            </a:ln>
          </p:spPr>
          <p:txBody>
            <a:bodyPr/>
            <a:lstStyle/>
            <a:p>
              <a:endParaRPr lang="en-US"/>
            </a:p>
          </p:txBody>
        </p:sp>
        <p:sp>
          <p:nvSpPr>
            <p:cNvPr id="12" name="TextBox 12"/>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GỘP</a:t>
              </a:r>
            </a:p>
            <a:p>
              <a:pPr algn="ctr">
                <a:lnSpc>
                  <a:spcPts val="2940"/>
                </a:lnSpc>
              </a:pPr>
              <a:r>
                <a:rPr lang="en-US" sz="2100" b="1">
                  <a:solidFill>
                    <a:srgbClr val="071A2B"/>
                  </a:solidFill>
                  <a:latin typeface="Be Vietnam Ultra-Bold"/>
                  <a:ea typeface="Be Vietnam Ultra-Bold"/>
                  <a:cs typeface="Be Vietnam Ultra-Bold"/>
                  <a:sym typeface="Be Vietnam Ultra-Bold"/>
                </a:rPr>
                <a:t>THEO HÀNG</a:t>
              </a:r>
            </a:p>
          </p:txBody>
        </p:sp>
      </p:grpSp>
      <p:sp>
        <p:nvSpPr>
          <p:cNvPr id="13" name="AutoShape 13"/>
          <p:cNvSpPr/>
          <p:nvPr/>
        </p:nvSpPr>
        <p:spPr>
          <a:xfrm>
            <a:off x="10763250" y="7239000"/>
            <a:ext cx="1143000" cy="0"/>
          </a:xfrm>
          <a:prstGeom prst="line">
            <a:avLst/>
          </a:prstGeom>
          <a:ln w="47625" cap="flat">
            <a:solidFill>
              <a:srgbClr val="FFFFFF"/>
            </a:solidFill>
            <a:prstDash val="solid"/>
            <a:headEnd type="none" w="sm" len="sm"/>
            <a:tailEnd type="none" w="sm" len="sm"/>
          </a:ln>
        </p:spPr>
        <p:txBody>
          <a:bodyPr/>
          <a:lstStyle/>
          <a:p>
            <a:endParaRPr/>
          </a:p>
        </p:txBody>
      </p:sp>
      <p:grpSp>
        <p:nvGrpSpPr>
          <p:cNvPr id="14" name="Group 14"/>
          <p:cNvGrpSpPr/>
          <p:nvPr/>
        </p:nvGrpSpPr>
        <p:grpSpPr>
          <a:xfrm>
            <a:off x="12287250" y="6477000"/>
            <a:ext cx="3714750" cy="1524000"/>
            <a:chOff x="0" y="0"/>
            <a:chExt cx="4953000" cy="2032000"/>
          </a:xfrm>
        </p:grpSpPr>
        <p:sp>
          <p:nvSpPr>
            <p:cNvPr id="15" name="Freeform 15"/>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28C7C2"/>
            </a:solidFill>
            <a:ln cap="rnd">
              <a:noFill/>
              <a:prstDash val="solid"/>
              <a:round/>
            </a:ln>
          </p:spPr>
          <p:txBody>
            <a:bodyPr/>
            <a:lstStyle/>
            <a:p>
              <a:endParaRPr lang="en-US"/>
            </a:p>
          </p:txBody>
        </p:sp>
        <p:sp>
          <p:nvSpPr>
            <p:cNvPr id="16" name="TextBox 16"/>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ATTENTION</a:t>
              </a:r>
            </a:p>
            <a:p>
              <a:pPr algn="ctr">
                <a:lnSpc>
                  <a:spcPts val="2940"/>
                </a:lnSpc>
              </a:pPr>
              <a:r>
                <a:rPr lang="en-US" sz="2100" b="1">
                  <a:solidFill>
                    <a:srgbClr val="071A2B"/>
                  </a:solidFill>
                  <a:latin typeface="Be Vietnam Ultra-Bold"/>
                  <a:ea typeface="Be Vietnam Ultra-Bold"/>
                  <a:cs typeface="Be Vietnam Ultra-Bold"/>
                  <a:sym typeface="Be Vietnam Ultra-Bold"/>
                </a:rPr>
                <a:t>TOÀN BẢNG</a:t>
              </a:r>
            </a:p>
          </p:txBody>
        </p:sp>
      </p:grpSp>
      <p:sp>
        <p:nvSpPr>
          <p:cNvPr id="17" name="TextBox 17"/>
          <p:cNvSpPr txBox="1"/>
          <p:nvPr/>
        </p:nvSpPr>
        <p:spPr>
          <a:xfrm>
            <a:off x="1047750" y="1914525"/>
            <a:ext cx="7620000" cy="331470"/>
          </a:xfrm>
          <a:prstGeom prst="rect">
            <a:avLst/>
          </a:prstGeom>
        </p:spPr>
        <p:txBody>
          <a:bodyPr lIns="0" tIns="0" rIns="0" bIns="0" rtlCol="0" anchor="t">
            <a:spAutoFit/>
          </a:bodyPr>
          <a:lstStyle/>
          <a:p>
            <a:pPr algn="l">
              <a:lnSpc>
                <a:spcPts val="2729"/>
              </a:lnSpc>
            </a:pPr>
            <a:r>
              <a:rPr lang="en-US" sz="1950">
                <a:solidFill>
                  <a:srgbClr val="64E8FF"/>
                </a:solidFill>
                <a:latin typeface="IBM Plex Sans"/>
                <a:ea typeface="IBM Plex Sans"/>
                <a:cs typeface="IBM Plex Sans"/>
                <a:sym typeface="IBM Plex Sans"/>
              </a:rPr>
              <a:t>Qu và cộng sự · ICML 2026</a:t>
            </a:r>
          </a:p>
        </p:txBody>
      </p:sp>
      <p:sp>
        <p:nvSpPr>
          <p:cNvPr id="18" name="TextBox 18"/>
          <p:cNvSpPr txBox="1"/>
          <p:nvPr/>
        </p:nvSpPr>
        <p:spPr>
          <a:xfrm>
            <a:off x="1047750" y="2705100"/>
            <a:ext cx="14287500" cy="514350"/>
          </a:xfrm>
          <a:prstGeom prst="rect">
            <a:avLst/>
          </a:prstGeom>
        </p:spPr>
        <p:txBody>
          <a:bodyPr lIns="0" tIns="0" rIns="0" bIns="0" rtlCol="0" anchor="t">
            <a:spAutoFit/>
          </a:bodyPr>
          <a:lstStyle/>
          <a:p>
            <a:pPr algn="l">
              <a:lnSpc>
                <a:spcPts val="4200"/>
              </a:lnSpc>
            </a:pPr>
            <a:r>
              <a:rPr lang="en-US" sz="3000">
                <a:solidFill>
                  <a:srgbClr val="FFFFFF"/>
                </a:solidFill>
                <a:latin typeface="IBM Plex Mono"/>
                <a:ea typeface="IBM Plex Mono"/>
                <a:cs typeface="IBM Plex Mono"/>
                <a:sym typeface="IBM Plex Mono"/>
              </a:rPr>
              <a:t>Attention(Q,K,V) = softmax(QKᵀ/√d)·V</a:t>
            </a:r>
          </a:p>
        </p:txBody>
      </p:sp>
      <p:sp>
        <p:nvSpPr>
          <p:cNvPr id="19" name="TextBox 19"/>
          <p:cNvSpPr txBox="1"/>
          <p:nvPr/>
        </p:nvSpPr>
        <p:spPr>
          <a:xfrm>
            <a:off x="1047750" y="3676650"/>
            <a:ext cx="1000125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Sinh viên mới được so sánh với các ví dụ đã biết — không chỉ qua một đường biên cố định.</a:t>
            </a:r>
          </a:p>
        </p:txBody>
      </p:sp>
    </p:spTree>
    <p:extLst>
      <p:ext uri="{BB962C8B-B14F-4D97-AF65-F5344CB8AC3E}">
        <p14:creationId xmlns:p14="http://schemas.microsoft.com/office/powerpoint/2010/main" val="2147395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Attention: giống ai thì lắng nghe người đó</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Freeform 6"/>
          <p:cNvSpPr/>
          <p:nvPr/>
        </p:nvSpPr>
        <p:spPr>
          <a:xfrm>
            <a:off x="8953500" y="1809750"/>
            <a:ext cx="8096250" cy="6667500"/>
          </a:xfrm>
          <a:custGeom>
            <a:avLst/>
            <a:gdLst/>
            <a:ahLst/>
            <a:cxnLst/>
            <a:rect l="l" t="t" r="r" b="b"/>
            <a:pathLst>
              <a:path w="8096250" h="6667500">
                <a:moveTo>
                  <a:pt x="0" y="0"/>
                </a:moveTo>
                <a:lnTo>
                  <a:pt x="8096250" y="0"/>
                </a:lnTo>
                <a:lnTo>
                  <a:pt x="8096250" y="6667500"/>
                </a:lnTo>
                <a:lnTo>
                  <a:pt x="0" y="6667500"/>
                </a:lnTo>
                <a:lnTo>
                  <a:pt x="0" y="0"/>
                </a:lnTo>
                <a:close/>
              </a:path>
            </a:pathLst>
          </a:custGeom>
          <a:blipFill>
            <a:blip r:embed="rId3"/>
            <a:stretch>
              <a:fillRect l="-62" r="-62"/>
            </a:stretch>
          </a:blipFill>
          <a:ln cap="sq">
            <a:noFill/>
            <a:prstDash val="solid"/>
            <a:miter/>
          </a:ln>
        </p:spPr>
        <p:txBody>
          <a:bodyPr/>
          <a:lstStyle/>
          <a:p>
            <a:endParaRPr/>
          </a:p>
        </p:txBody>
      </p:sp>
      <p:sp>
        <p:nvSpPr>
          <p:cNvPr id="7" name="TextBox 7"/>
          <p:cNvSpPr txBox="1"/>
          <p:nvPr/>
        </p:nvSpPr>
        <p:spPr>
          <a:xfrm>
            <a:off x="1047750" y="2457450"/>
            <a:ext cx="6191250" cy="2282190"/>
          </a:xfrm>
          <a:prstGeom prst="rect">
            <a:avLst/>
          </a:prstGeom>
        </p:spPr>
        <p:txBody>
          <a:bodyPr lIns="0" tIns="0" rIns="0" bIns="0" rtlCol="0" anchor="t">
            <a:spAutoFit/>
          </a:bodyPr>
          <a:lstStyle/>
          <a:p>
            <a:pPr algn="l">
              <a:lnSpc>
                <a:spcPts val="4500"/>
              </a:lnSpc>
            </a:pPr>
            <a:r>
              <a:rPr lang="en-US" sz="3600" b="1">
                <a:solidFill>
                  <a:srgbClr val="F7FBFF"/>
                </a:solidFill>
                <a:latin typeface="Be Vietnam Ultra-Bold"/>
                <a:ea typeface="Be Vietnam Ultra-Bold"/>
                <a:cs typeface="Be Vietnam Ultra-Bold"/>
                <a:sym typeface="Be Vietnam Ultra-Bold"/>
              </a:rPr>
              <a:t>Điểm tương đồng</a:t>
            </a:r>
          </a:p>
          <a:p>
            <a:pPr algn="l">
              <a:lnSpc>
                <a:spcPts val="4500"/>
              </a:lnSpc>
            </a:pPr>
            <a:r>
              <a:rPr lang="en-US" sz="3600" b="1">
                <a:solidFill>
                  <a:srgbClr val="F7FBFF"/>
                </a:solidFill>
                <a:latin typeface="Be Vietnam Ultra-Bold"/>
                <a:ea typeface="Be Vietnam Ultra-Bold"/>
                <a:cs typeface="Be Vietnam Ultra-Bold"/>
                <a:sym typeface="Be Vietnam Ultra-Bold"/>
              </a:rPr>
              <a:t>→ softmax</a:t>
            </a:r>
          </a:p>
          <a:p>
            <a:pPr algn="l">
              <a:lnSpc>
                <a:spcPts val="4500"/>
              </a:lnSpc>
            </a:pPr>
            <a:r>
              <a:rPr lang="en-US" sz="3600" b="1">
                <a:solidFill>
                  <a:srgbClr val="F7FBFF"/>
                </a:solidFill>
                <a:latin typeface="Be Vietnam Ultra-Bold"/>
                <a:ea typeface="Be Vietnam Ultra-Bold"/>
                <a:cs typeface="Be Vietnam Ultra-Bold"/>
                <a:sym typeface="Be Vietnam Ultra-Bold"/>
              </a:rPr>
              <a:t>→ trọng số attention</a:t>
            </a:r>
          </a:p>
          <a:p>
            <a:pPr algn="l">
              <a:lnSpc>
                <a:spcPts val="4500"/>
              </a:lnSpc>
            </a:pPr>
            <a:r>
              <a:rPr lang="en-US" sz="3600" b="1">
                <a:solidFill>
                  <a:srgbClr val="F7FBFF"/>
                </a:solidFill>
                <a:latin typeface="Be Vietnam Ultra-Bold"/>
                <a:ea typeface="Be Vietnam Ultra-Bold"/>
                <a:cs typeface="Be Vietnam Ultra-Bold"/>
                <a:sym typeface="Be Vietnam Ultra-Bold"/>
              </a:rPr>
              <a:t>→ xác suất bỏ học</a:t>
            </a:r>
          </a:p>
        </p:txBody>
      </p:sp>
      <p:sp>
        <p:nvSpPr>
          <p:cNvPr id="8" name="TextBox 8"/>
          <p:cNvSpPr txBox="1"/>
          <p:nvPr/>
        </p:nvSpPr>
        <p:spPr>
          <a:xfrm>
            <a:off x="1047750" y="6819900"/>
            <a:ext cx="6600000" cy="702945"/>
          </a:xfrm>
          <a:prstGeom prst="rect">
            <a:avLst/>
          </a:prstGeom>
        </p:spPr>
        <p:txBody>
          <a:bodyPr lIns="0" tIns="0" rIns="0" bIns="0" rtlCol="0" anchor="t">
            <a:spAutoFit/>
          </a:bodyPr>
          <a:lstStyle/>
          <a:p>
            <a:pPr algn="l">
              <a:lnSpc>
                <a:spcPts val="2835"/>
              </a:lnSpc>
            </a:pPr>
            <a:r>
              <a:rPr lang="en-US" sz="2100">
                <a:solidFill>
                  <a:srgbClr val="28C7C2"/>
                </a:solidFill>
                <a:latin typeface="IBM Plex Sans"/>
                <a:ea typeface="IBM Plex Sans"/>
                <a:cs typeface="IBM Plex Sans"/>
                <a:sym typeface="IBM Plex Sans"/>
              </a:rPr>
              <a:t>Ví dụ số: điểm 2, 1, 0, 0 → trọng số 0,61 · 0,22 · 0,08 · 0,08. Hai em đầu bỏ học nên xác suất bỏ học là 0,83.</a:t>
            </a:r>
          </a:p>
        </p:txBody>
      </p:sp>
    </p:spTree>
    <p:extLst>
      <p:ext uri="{BB962C8B-B14F-4D97-AF65-F5344CB8AC3E}">
        <p14:creationId xmlns:p14="http://schemas.microsoft.com/office/powerpoint/2010/main" val="379974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2"/>
          <p:cNvSpPr txBox="1"/>
          <p:nvPr/>
        </p:nvSpPr>
        <p:spPr>
          <a:xfrm>
            <a:off x="1047750" y="781050"/>
            <a:ext cx="14287500" cy="995553"/>
          </a:xfrm>
          <a:prstGeom prst="rect">
            <a:avLst/>
          </a:prstGeom>
        </p:spPr>
        <p:txBody>
          <a:bodyPr lIns="0" tIns="0" rIns="0" bIns="0" rtlCol="0" anchor="t">
            <a:spAutoFit/>
          </a:bodyPr>
          <a:lstStyle/>
          <a:p>
            <a:pPr algn="l">
              <a:lnSpc>
                <a:spcPts val="7776"/>
              </a:lnSpc>
            </a:pPr>
            <a:r>
              <a:rPr lang="en-US" sz="7200" b="1">
                <a:solidFill>
                  <a:srgbClr val="F7FBFF"/>
                </a:solidFill>
                <a:latin typeface="Be Vietnam Ultra-Bold"/>
                <a:ea typeface="Be Vietnam Ultra-Bold"/>
                <a:cs typeface="Be Vietnam Ultra-Bold"/>
                <a:sym typeface="Be Vietnam Ultra-Bold"/>
              </a:rPr>
              <a:t>Đối chứng: Logistic Regression</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000125" y="1952625"/>
            <a:ext cx="16287750" cy="7239000"/>
            <a:chOff x="0" y="0"/>
            <a:chExt cx="21717000" cy="9652000"/>
          </a:xfrm>
        </p:grpSpPr>
        <p:sp>
          <p:nvSpPr>
            <p:cNvPr id="7" name="Freeform 7"/>
            <p:cNvSpPr/>
            <p:nvPr/>
          </p:nvSpPr>
          <p:spPr>
            <a:xfrm>
              <a:off x="0" y="0"/>
              <a:ext cx="21717000" cy="9652000"/>
            </a:xfrm>
            <a:custGeom>
              <a:avLst/>
              <a:gdLst/>
              <a:ahLst/>
              <a:cxnLst/>
              <a:rect l="l" t="t" r="r" b="b"/>
              <a:pathLst>
                <a:path w="21717000" h="9652000">
                  <a:moveTo>
                    <a:pt x="228600" y="0"/>
                  </a:moveTo>
                  <a:lnTo>
                    <a:pt x="21488400" y="0"/>
                  </a:lnTo>
                  <a:cubicBezTo>
                    <a:pt x="21614653" y="0"/>
                    <a:pt x="21717000" y="102348"/>
                    <a:pt x="21717000" y="228600"/>
                  </a:cubicBezTo>
                  <a:lnTo>
                    <a:pt x="21717000" y="9423400"/>
                  </a:lnTo>
                  <a:cubicBezTo>
                    <a:pt x="21717000" y="9549652"/>
                    <a:pt x="21614653" y="9652000"/>
                    <a:pt x="21488400" y="9652000"/>
                  </a:cubicBezTo>
                  <a:lnTo>
                    <a:pt x="228600" y="9652000"/>
                  </a:lnTo>
                  <a:cubicBezTo>
                    <a:pt x="102348" y="9652000"/>
                    <a:pt x="0" y="9549652"/>
                    <a:pt x="0" y="9423400"/>
                  </a:cubicBezTo>
                  <a:lnTo>
                    <a:pt x="0" y="228600"/>
                  </a:lnTo>
                  <a:cubicBezTo>
                    <a:pt x="0" y="102348"/>
                    <a:pt x="102348" y="0"/>
                    <a:pt x="228600" y="0"/>
                  </a:cubicBezTo>
                  <a:close/>
                </a:path>
              </a:pathLst>
            </a:custGeom>
            <a:solidFill>
              <a:srgbClr val="EAF7FB"/>
            </a:solidFill>
          </p:spPr>
          <p:txBody>
            <a:bodyPr/>
            <a:lstStyle/>
            <a:p>
              <a:endParaRPr lang="en-US"/>
            </a:p>
          </p:txBody>
        </p:sp>
        <p:sp>
          <p:nvSpPr>
            <p:cNvPr id="8" name="TextBox 8"/>
            <p:cNvSpPr txBox="1"/>
            <p:nvPr/>
          </p:nvSpPr>
          <p:spPr>
            <a:xfrm>
              <a:off x="0" y="-38100"/>
              <a:ext cx="21717000" cy="9690100"/>
            </a:xfrm>
            <a:prstGeom prst="rect">
              <a:avLst/>
            </a:prstGeom>
          </p:spPr>
          <p:txBody>
            <a:bodyPr lIns="50800" tIns="50800" rIns="50800" bIns="50800" rtlCol="0" anchor="ctr"/>
            <a:lstStyle/>
            <a:p>
              <a:pPr algn="l">
                <a:lnSpc>
                  <a:spcPts val="1679"/>
                </a:lnSpc>
              </a:pPr>
              <a:endParaRPr/>
            </a:p>
          </p:txBody>
        </p:sp>
      </p:grpSp>
      <p:pic>
        <p:nvPicPr>
          <p:cNvPr id="9" name="Picture 9"/>
          <p:cNvPicPr>
            <a:picLocks noChangeAspect="1"/>
          </p:cNvPicPr>
          <p:nvPr/>
        </p:nvPicPr>
        <p:blipFill>
          <a:blip r:embed="rId3"/>
          <a:stretch>
            <a:fillRect/>
          </a:stretch>
        </p:blipFill>
        <p:spPr>
          <a:xfrm>
            <a:off x="-291070" y="718989"/>
            <a:ext cx="18870139" cy="9611022"/>
          </a:xfrm>
          <a:prstGeom prst="rect">
            <a:avLst/>
          </a:prstGeom>
        </p:spPr>
      </p:pic>
    </p:spTree>
    <p:extLst>
      <p:ext uri="{BB962C8B-B14F-4D97-AF65-F5344CB8AC3E}">
        <p14:creationId xmlns:p14="http://schemas.microsoft.com/office/powerpoint/2010/main" val="3547176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1"/>
          <p:cNvSpPr txBox="1"/>
          <p:nvPr/>
        </p:nvSpPr>
        <p:spPr>
          <a:xfrm>
            <a:off x="1047750" y="781050"/>
            <a:ext cx="16000000" cy="995553"/>
          </a:xfrm>
          <a:prstGeom prst="rect">
            <a:avLst/>
          </a:prstGeom>
          <a:noFill/>
        </p:spPr>
        <p:txBody>
          <a:bodyPr wrap="square">
            <a:spAutoFit/>
          </a:bodyPr>
          <a:lstStyle/>
          <a:p>
            <a:r>
              <a:rPr sz="6000" b="1">
                <a:solidFill>
                  <a:srgbClr val="F7FBFF"/>
                </a:solidFill>
                <a:latin typeface="Be Vietnam Ultra-Bold"/>
              </a:rPr>
              <a:t>TabICLv2 so với Logistic Regression</a:t>
            </a:r>
          </a:p>
        </p:txBody>
      </p:sp>
      <p:graphicFrame>
        <p:nvGraphicFramePr>
          <p:cNvPr id="3" name="Table 2"/>
          <p:cNvGraphicFramePr>
            <a:graphicFrameLocks noGrp="1"/>
          </p:cNvGraphicFramePr>
          <p:nvPr/>
        </p:nvGraphicFramePr>
        <p:xfrm>
          <a:off x="1047750" y="2200000"/>
          <a:ext cx="16100000" cy="4200000"/>
        </p:xfrm>
        <a:graphic>
          <a:graphicData uri="http://schemas.openxmlformats.org/drawingml/2006/table">
            <a:tbl>
              <a:tblPr firstRow="1" bandRow="1">
                <a:tableStyleId>{5C22544A-7EE6-4342-B048-85BDC9FD1C3A}</a:tableStyleId>
              </a:tblPr>
              <a:tblGrid>
                <a:gridCol w="4600000">
                  <a:extLst>
                    <a:ext uri="{9D8B030D-6E8A-4147-A177-3AD203B41FA5}">
                      <a16:colId xmlns:a16="http://schemas.microsoft.com/office/drawing/2014/main" val="20000"/>
                    </a:ext>
                  </a:extLst>
                </a:gridCol>
                <a:gridCol w="3800000">
                  <a:extLst>
                    <a:ext uri="{9D8B030D-6E8A-4147-A177-3AD203B41FA5}">
                      <a16:colId xmlns:a16="http://schemas.microsoft.com/office/drawing/2014/main" val="20001"/>
                    </a:ext>
                  </a:extLst>
                </a:gridCol>
                <a:gridCol w="3900000">
                  <a:extLst>
                    <a:ext uri="{9D8B030D-6E8A-4147-A177-3AD203B41FA5}">
                      <a16:colId xmlns:a16="http://schemas.microsoft.com/office/drawing/2014/main" val="20002"/>
                    </a:ext>
                  </a:extLst>
                </a:gridCol>
                <a:gridCol w="3800000">
                  <a:extLst>
                    <a:ext uri="{9D8B030D-6E8A-4147-A177-3AD203B41FA5}">
                      <a16:colId xmlns:a16="http://schemas.microsoft.com/office/drawing/2014/main" val="20003"/>
                    </a:ext>
                  </a:extLst>
                </a:gridCol>
              </a:tblGrid>
              <a:tr h="840000">
                <a:tc>
                  <a:txBody>
                    <a:bodyPr/>
                    <a:lstStyle/>
                    <a:p>
                      <a:pPr algn="l"/>
                      <a:r>
                        <a:rPr sz="2800" b="1">
                          <a:solidFill>
                            <a:srgbClr val="28C7C2"/>
                          </a:solidFill>
                          <a:latin typeface="Arimo"/>
                        </a:rPr>
                        <a:t>Cấu hình</a:t>
                      </a:r>
                    </a:p>
                  </a:txBody>
                  <a:tcPr>
                    <a:solidFill>
                      <a:srgbClr val="123A63"/>
                    </a:solidFill>
                  </a:tcPr>
                </a:tc>
                <a:tc>
                  <a:txBody>
                    <a:bodyPr/>
                    <a:lstStyle/>
                    <a:p>
                      <a:pPr algn="r"/>
                      <a:r>
                        <a:rPr sz="2800" b="1">
                          <a:solidFill>
                            <a:srgbClr val="28C7C2"/>
                          </a:solidFill>
                          <a:latin typeface="Arimo"/>
                        </a:rPr>
                        <a:t>Accuracy</a:t>
                      </a:r>
                    </a:p>
                  </a:txBody>
                  <a:tcPr>
                    <a:solidFill>
                      <a:srgbClr val="123A63"/>
                    </a:solidFill>
                  </a:tcPr>
                </a:tc>
                <a:tc>
                  <a:txBody>
                    <a:bodyPr/>
                    <a:lstStyle/>
                    <a:p>
                      <a:pPr algn="r"/>
                      <a:r>
                        <a:rPr sz="2800" b="1">
                          <a:solidFill>
                            <a:srgbClr val="28C7C2"/>
                          </a:solidFill>
                          <a:latin typeface="Arimo"/>
                        </a:rPr>
                        <a:t>Recall (bỏ học)</a:t>
                      </a:r>
                    </a:p>
                  </a:txBody>
                  <a:tcPr>
                    <a:solidFill>
                      <a:srgbClr val="123A63"/>
                    </a:solidFill>
                  </a:tcPr>
                </a:tc>
                <a:tc>
                  <a:txBody>
                    <a:bodyPr/>
                    <a:lstStyle/>
                    <a:p>
                      <a:pPr algn="r"/>
                      <a:r>
                        <a:rPr sz="2800" b="1">
                          <a:solidFill>
                            <a:srgbClr val="28C7C2"/>
                          </a:solidFill>
                          <a:latin typeface="Arimo"/>
                        </a:rPr>
                        <a:t>AUC</a:t>
                      </a:r>
                    </a:p>
                  </a:txBody>
                  <a:tcPr>
                    <a:solidFill>
                      <a:srgbClr val="123A63"/>
                    </a:solidFill>
                  </a:tcPr>
                </a:tc>
                <a:extLst>
                  <a:ext uri="{0D108BD9-81ED-4DB2-BD59-A6C34878D82A}">
                    <a16:rowId xmlns:a16="http://schemas.microsoft.com/office/drawing/2014/main" val="10000"/>
                  </a:ext>
                </a:extLst>
              </a:tr>
              <a:tr h="840000">
                <a:tc>
                  <a:txBody>
                    <a:bodyPr/>
                    <a:lstStyle/>
                    <a:p>
                      <a:pPr algn="l"/>
                      <a:r>
                        <a:rPr sz="2800" b="0">
                          <a:solidFill>
                            <a:srgbClr val="F7FBFF"/>
                          </a:solidFill>
                          <a:latin typeface="Arimo"/>
                        </a:rPr>
                        <a:t>A · nhập học</a:t>
                      </a:r>
                    </a:p>
                  </a:txBody>
                  <a:tcPr>
                    <a:solidFill>
                      <a:srgbClr val="0F2D52"/>
                    </a:solidFill>
                  </a:tcPr>
                </a:tc>
                <a:tc>
                  <a:txBody>
                    <a:bodyPr/>
                    <a:lstStyle/>
                    <a:p>
                      <a:pPr algn="r"/>
                      <a:r>
                        <a:rPr sz="2800" b="0">
                          <a:solidFill>
                            <a:srgbClr val="F7FBFF"/>
                          </a:solidFill>
                          <a:latin typeface="Arimo"/>
                        </a:rPr>
                        <a:t>75,1% → 75,6%</a:t>
                      </a:r>
                    </a:p>
                  </a:txBody>
                  <a:tcPr>
                    <a:solidFill>
                      <a:srgbClr val="0F2D52"/>
                    </a:solidFill>
                  </a:tcPr>
                </a:tc>
                <a:tc>
                  <a:txBody>
                    <a:bodyPr/>
                    <a:lstStyle/>
                    <a:p>
                      <a:pPr algn="r"/>
                      <a:r>
                        <a:rPr sz="2800" b="0">
                          <a:solidFill>
                            <a:srgbClr val="F7FBFF"/>
                          </a:solidFill>
                          <a:latin typeface="Arimo"/>
                        </a:rPr>
                        <a:t>58,1% → 62,7%</a:t>
                      </a:r>
                    </a:p>
                  </a:txBody>
                  <a:tcPr>
                    <a:solidFill>
                      <a:srgbClr val="0F2D52"/>
                    </a:solidFill>
                  </a:tcPr>
                </a:tc>
                <a:tc>
                  <a:txBody>
                    <a:bodyPr/>
                    <a:lstStyle/>
                    <a:p>
                      <a:pPr algn="r"/>
                      <a:r>
                        <a:rPr sz="2800" b="0">
                          <a:solidFill>
                            <a:srgbClr val="F7FBFF"/>
                          </a:solidFill>
                          <a:latin typeface="Arimo"/>
                        </a:rPr>
                        <a:t>0,815 → 0,823</a:t>
                      </a:r>
                    </a:p>
                  </a:txBody>
                  <a:tcPr>
                    <a:solidFill>
                      <a:srgbClr val="0F2D52"/>
                    </a:solidFill>
                  </a:tcPr>
                </a:tc>
                <a:extLst>
                  <a:ext uri="{0D108BD9-81ED-4DB2-BD59-A6C34878D82A}">
                    <a16:rowId xmlns:a16="http://schemas.microsoft.com/office/drawing/2014/main" val="10001"/>
                  </a:ext>
                </a:extLst>
              </a:tr>
              <a:tr h="840000">
                <a:tc>
                  <a:txBody>
                    <a:bodyPr/>
                    <a:lstStyle/>
                    <a:p>
                      <a:pPr algn="l"/>
                      <a:r>
                        <a:rPr sz="2800" b="0">
                          <a:solidFill>
                            <a:srgbClr val="F7FBFF"/>
                          </a:solidFill>
                          <a:latin typeface="Arimo"/>
                        </a:rPr>
                        <a:t>B1 · hết HK1</a:t>
                      </a:r>
                    </a:p>
                  </a:txBody>
                  <a:tcPr>
                    <a:solidFill>
                      <a:srgbClr val="0F2D52"/>
                    </a:solidFill>
                  </a:tcPr>
                </a:tc>
                <a:tc>
                  <a:txBody>
                    <a:bodyPr/>
                    <a:lstStyle/>
                    <a:p>
                      <a:pPr algn="r"/>
                      <a:r>
                        <a:rPr sz="2800" b="0">
                          <a:solidFill>
                            <a:srgbClr val="F7FBFF"/>
                          </a:solidFill>
                          <a:latin typeface="Arimo"/>
                        </a:rPr>
                        <a:t>87,5% → 87,9%</a:t>
                      </a:r>
                    </a:p>
                  </a:txBody>
                  <a:tcPr>
                    <a:solidFill>
                      <a:srgbClr val="0F2D52"/>
                    </a:solidFill>
                  </a:tcPr>
                </a:tc>
                <a:tc>
                  <a:txBody>
                    <a:bodyPr/>
                    <a:lstStyle/>
                    <a:p>
                      <a:pPr algn="r"/>
                      <a:r>
                        <a:rPr sz="2800" b="0">
                          <a:solidFill>
                            <a:srgbClr val="F7FBFF"/>
                          </a:solidFill>
                          <a:latin typeface="Arimo"/>
                        </a:rPr>
                        <a:t>80,6% → 82,0%</a:t>
                      </a:r>
                    </a:p>
                  </a:txBody>
                  <a:tcPr>
                    <a:solidFill>
                      <a:srgbClr val="0F2D52"/>
                    </a:solidFill>
                  </a:tcPr>
                </a:tc>
                <a:tc>
                  <a:txBody>
                    <a:bodyPr/>
                    <a:lstStyle/>
                    <a:p>
                      <a:pPr algn="r"/>
                      <a:r>
                        <a:rPr sz="2800" b="0">
                          <a:solidFill>
                            <a:srgbClr val="F7FBFF"/>
                          </a:solidFill>
                          <a:latin typeface="Arimo"/>
                        </a:rPr>
                        <a:t>0,914 → 0,934</a:t>
                      </a:r>
                    </a:p>
                  </a:txBody>
                  <a:tcPr>
                    <a:solidFill>
                      <a:srgbClr val="0F2D52"/>
                    </a:solidFill>
                  </a:tcPr>
                </a:tc>
                <a:extLst>
                  <a:ext uri="{0D108BD9-81ED-4DB2-BD59-A6C34878D82A}">
                    <a16:rowId xmlns:a16="http://schemas.microsoft.com/office/drawing/2014/main" val="10002"/>
                  </a:ext>
                </a:extLst>
              </a:tr>
              <a:tr h="840000">
                <a:tc>
                  <a:txBody>
                    <a:bodyPr/>
                    <a:lstStyle/>
                    <a:p>
                      <a:pPr algn="l"/>
                      <a:r>
                        <a:rPr sz="2800" b="0">
                          <a:solidFill>
                            <a:srgbClr val="F7FBFF"/>
                          </a:solidFill>
                          <a:latin typeface="Arimo"/>
                        </a:rPr>
                        <a:t>B · hết HK2</a:t>
                      </a:r>
                    </a:p>
                  </a:txBody>
                  <a:tcPr>
                    <a:solidFill>
                      <a:srgbClr val="0F2D52"/>
                    </a:solidFill>
                  </a:tcPr>
                </a:tc>
                <a:tc>
                  <a:txBody>
                    <a:bodyPr/>
                    <a:lstStyle/>
                    <a:p>
                      <a:pPr algn="r"/>
                      <a:r>
                        <a:rPr sz="2800" b="0">
                          <a:solidFill>
                            <a:srgbClr val="F7FBFF"/>
                          </a:solidFill>
                          <a:latin typeface="Arimo"/>
                        </a:rPr>
                        <a:t>89,9% → 91,3%</a:t>
                      </a:r>
                    </a:p>
                  </a:txBody>
                  <a:tcPr>
                    <a:solidFill>
                      <a:srgbClr val="0F2D52"/>
                    </a:solidFill>
                  </a:tcPr>
                </a:tc>
                <a:tc>
                  <a:txBody>
                    <a:bodyPr/>
                    <a:lstStyle/>
                    <a:p>
                      <a:pPr algn="r"/>
                      <a:r>
                        <a:rPr sz="2800" b="0">
                          <a:solidFill>
                            <a:srgbClr val="F7FBFF"/>
                          </a:solidFill>
                          <a:latin typeface="Arimo"/>
                        </a:rPr>
                        <a:t>85,6% → 86,6%</a:t>
                      </a:r>
                    </a:p>
                  </a:txBody>
                  <a:tcPr>
                    <a:solidFill>
                      <a:srgbClr val="0F2D52"/>
                    </a:solidFill>
                  </a:tcPr>
                </a:tc>
                <a:tc>
                  <a:txBody>
                    <a:bodyPr/>
                    <a:lstStyle/>
                    <a:p>
                      <a:pPr algn="r"/>
                      <a:r>
                        <a:rPr sz="2800" b="0">
                          <a:solidFill>
                            <a:srgbClr val="F7FBFF"/>
                          </a:solidFill>
                          <a:latin typeface="Arimo"/>
                        </a:rPr>
                        <a:t>0,940 → 0,955</a:t>
                      </a:r>
                    </a:p>
                  </a:txBody>
                  <a:tcPr>
                    <a:solidFill>
                      <a:srgbClr val="0F2D52"/>
                    </a:solidFill>
                  </a:tcPr>
                </a:tc>
                <a:extLst>
                  <a:ext uri="{0D108BD9-81ED-4DB2-BD59-A6C34878D82A}">
                    <a16:rowId xmlns:a16="http://schemas.microsoft.com/office/drawing/2014/main" val="10003"/>
                  </a:ext>
                </a:extLst>
              </a:tr>
              <a:tr h="840000">
                <a:tc>
                  <a:txBody>
                    <a:bodyPr/>
                    <a:lstStyle/>
                    <a:p>
                      <a:pPr algn="l"/>
                      <a:r>
                        <a:rPr sz="2800" b="0">
                          <a:solidFill>
                            <a:srgbClr val="F7FBFF"/>
                          </a:solidFill>
                          <a:latin typeface="Arimo"/>
                        </a:rPr>
                        <a:t>C · đầy đủ 35 biến</a:t>
                      </a:r>
                    </a:p>
                  </a:txBody>
                  <a:tcPr>
                    <a:solidFill>
                      <a:srgbClr val="0F2D52"/>
                    </a:solidFill>
                  </a:tcPr>
                </a:tc>
                <a:tc>
                  <a:txBody>
                    <a:bodyPr/>
                    <a:lstStyle/>
                    <a:p>
                      <a:pPr algn="r"/>
                      <a:r>
                        <a:rPr sz="2800" b="0">
                          <a:solidFill>
                            <a:srgbClr val="F7FBFF"/>
                          </a:solidFill>
                          <a:latin typeface="Arimo"/>
                        </a:rPr>
                        <a:t>94,5% → 94,6%</a:t>
                      </a:r>
                    </a:p>
                  </a:txBody>
                  <a:tcPr>
                    <a:solidFill>
                      <a:srgbClr val="0F2D52"/>
                    </a:solidFill>
                  </a:tcPr>
                </a:tc>
                <a:tc>
                  <a:txBody>
                    <a:bodyPr/>
                    <a:lstStyle/>
                    <a:p>
                      <a:pPr algn="r"/>
                      <a:r>
                        <a:rPr sz="2800" b="0">
                          <a:solidFill>
                            <a:srgbClr val="F7FBFF"/>
                          </a:solidFill>
                          <a:latin typeface="Arimo"/>
                        </a:rPr>
                        <a:t>92,3% → 91,9%</a:t>
                      </a:r>
                    </a:p>
                  </a:txBody>
                  <a:tcPr>
                    <a:solidFill>
                      <a:srgbClr val="0F2D52"/>
                    </a:solidFill>
                  </a:tcPr>
                </a:tc>
                <a:tc>
                  <a:txBody>
                    <a:bodyPr/>
                    <a:lstStyle/>
                    <a:p>
                      <a:pPr algn="r"/>
                      <a:r>
                        <a:rPr sz="2800" b="0">
                          <a:solidFill>
                            <a:srgbClr val="F7FBFF"/>
                          </a:solidFill>
                          <a:latin typeface="Arimo"/>
                        </a:rPr>
                        <a:t>0,973 → 0,977</a:t>
                      </a:r>
                    </a:p>
                  </a:txBody>
                  <a:tcPr>
                    <a:solidFill>
                      <a:srgbClr val="0F2D5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1047750" y="6700000"/>
            <a:ext cx="16100000" cy="900000"/>
          </a:xfrm>
          <a:prstGeom prst="rect">
            <a:avLst/>
          </a:prstGeom>
          <a:noFill/>
        </p:spPr>
        <p:txBody>
          <a:bodyPr wrap="square">
            <a:spAutoFit/>
          </a:bodyPr>
          <a:lstStyle/>
          <a:p>
            <a:r>
              <a:rPr sz="3000" b="0">
                <a:solidFill>
                  <a:srgbClr val="F7FBFF"/>
                </a:solidFill>
                <a:latin typeface="Be Vietnam Ultra-Bold"/>
              </a:rPr>
              <a:t>Trái → phải: Hồi quy Logistic → TabICLv2. TabICLv2 có AUC cao hơn ở cả bốn cấu hình.</a:t>
            </a:r>
          </a:p>
        </p:txBody>
      </p:sp>
      <p:sp>
        <p:nvSpPr>
          <p:cNvPr id="5" name="TextBox 4"/>
          <p:cNvSpPr txBox="1"/>
          <p:nvPr/>
        </p:nvSpPr>
        <p:spPr>
          <a:xfrm>
            <a:off x="1047750" y="7650000"/>
            <a:ext cx="16100000" cy="1500000"/>
          </a:xfrm>
          <a:prstGeom prst="rect">
            <a:avLst/>
          </a:prstGeom>
          <a:noFill/>
        </p:spPr>
        <p:txBody>
          <a:bodyPr wrap="square">
            <a:spAutoFit/>
          </a:bodyPr>
          <a:lstStyle/>
          <a:p>
            <a:r>
              <a:rPr sz="2400" b="0">
                <a:solidFill>
                  <a:srgbClr val="28C7C2"/>
                </a:solidFill>
                <a:latin typeface="IBM Plex Sans"/>
              </a:rPr>
              <a:t>Nhưng Accuracy chỉ chênh 0,1 đến 1,4 điểm, nhỏ hơn sai số ±2,2 điểm. Mới chạy một lần, cấu hình mặc định, một lần chia dữ liệu: chưa kết luận được TabICLv2 chính xác hơn.</a:t>
            </a:r>
          </a:p>
        </p:txBody>
      </p:sp>
    </p:spTree>
    <p:extLst>
      <p:ext uri="{BB962C8B-B14F-4D97-AF65-F5344CB8AC3E}">
        <p14:creationId xmlns:p14="http://schemas.microsoft.com/office/powerpoint/2010/main" val="177577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Ngưỡng cảnh báo là một quyết định</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438400"/>
            <a:ext cx="4762500" cy="281940"/>
          </a:xfrm>
          <a:prstGeom prst="rect">
            <a:avLst/>
          </a:prstGeom>
        </p:spPr>
        <p:txBody>
          <a:bodyPr lIns="0" tIns="0" rIns="0" bIns="0" rtlCol="0" anchor="t">
            <a:spAutoFit/>
          </a:bodyPr>
          <a:lstStyle/>
          <a:p>
            <a:pPr algn="l">
              <a:lnSpc>
                <a:spcPts val="2310"/>
              </a:lnSpc>
            </a:pPr>
            <a:r>
              <a:rPr lang="en-US" sz="1650" b="1" spc="99">
                <a:solidFill>
                  <a:srgbClr val="64E8FF"/>
                </a:solidFill>
                <a:latin typeface="IBM Plex Sans Bold"/>
                <a:ea typeface="IBM Plex Sans Bold"/>
                <a:cs typeface="IBM Plex Sans Bold"/>
                <a:sym typeface="IBM Plex Sans Bold"/>
              </a:rPr>
              <a:t>NGƯỠNG 0,5</a:t>
            </a:r>
          </a:p>
        </p:txBody>
      </p:sp>
      <p:sp>
        <p:nvSpPr>
          <p:cNvPr id="7" name="TextBox 7"/>
          <p:cNvSpPr txBox="1"/>
          <p:nvPr/>
        </p:nvSpPr>
        <p:spPr>
          <a:xfrm>
            <a:off x="1047750" y="2952750"/>
            <a:ext cx="4953000" cy="1533525"/>
          </a:xfrm>
          <a:prstGeom prst="rect">
            <a:avLst/>
          </a:prstGeom>
        </p:spPr>
        <p:txBody>
          <a:bodyPr lIns="0" tIns="0" rIns="0" bIns="0" rtlCol="0" anchor="t">
            <a:spAutoFit/>
          </a:bodyPr>
          <a:lstStyle/>
          <a:p>
            <a:pPr algn="l">
              <a:lnSpc>
                <a:spcPts val="4050"/>
              </a:lnSpc>
            </a:pPr>
            <a:r>
              <a:rPr lang="en-US" sz="3000" b="1">
                <a:solidFill>
                  <a:srgbClr val="FFFFFF"/>
                </a:solidFill>
                <a:latin typeface="Be Vietnam Ultra-Bold"/>
                <a:ea typeface="Be Vietnam Ultra-Bold"/>
                <a:cs typeface="Be Vietnam Ultra-Bold"/>
                <a:sym typeface="Be Vietnam Ultra-Bold"/>
              </a:rPr>
              <a:t>41 bỏ sót</a:t>
            </a:r>
          </a:p>
          <a:p>
            <a:pPr algn="l">
              <a:lnSpc>
                <a:spcPts val="4050"/>
              </a:lnSpc>
            </a:pPr>
            <a:r>
              <a:rPr lang="en-US" sz="3000" b="1">
                <a:solidFill>
                  <a:srgbClr val="FFFFFF"/>
                </a:solidFill>
                <a:latin typeface="Be Vietnam Ultra-Bold"/>
                <a:ea typeface="Be Vietnam Ultra-Bold"/>
                <a:cs typeface="Be Vietnam Ultra-Bold"/>
                <a:sym typeface="Be Vietnam Ultra-Bold"/>
              </a:rPr>
              <a:t>32 báo nhầm</a:t>
            </a:r>
          </a:p>
          <a:p>
            <a:pPr algn="l">
              <a:lnSpc>
                <a:spcPts val="4050"/>
              </a:lnSpc>
            </a:pPr>
            <a:r>
              <a:rPr lang="en-US" sz="3000" b="1">
                <a:solidFill>
                  <a:srgbClr val="FFFFFF"/>
                </a:solidFill>
                <a:latin typeface="Be Vietnam Ultra-Bold"/>
                <a:ea typeface="Be Vietnam Ultra-Bold"/>
                <a:cs typeface="Be Vietnam Ultra-Bold"/>
                <a:sym typeface="Be Vietnam Ultra-Bold"/>
              </a:rPr>
              <a:t>Recall 85,6%</a:t>
            </a:r>
          </a:p>
        </p:txBody>
      </p:sp>
      <p:sp>
        <p:nvSpPr>
          <p:cNvPr id="8" name="TextBox 8"/>
          <p:cNvSpPr txBox="1"/>
          <p:nvPr/>
        </p:nvSpPr>
        <p:spPr>
          <a:xfrm>
            <a:off x="1047750" y="5391150"/>
            <a:ext cx="4762500" cy="281940"/>
          </a:xfrm>
          <a:prstGeom prst="rect">
            <a:avLst/>
          </a:prstGeom>
        </p:spPr>
        <p:txBody>
          <a:bodyPr lIns="0" tIns="0" rIns="0" bIns="0" rtlCol="0" anchor="t">
            <a:spAutoFit/>
          </a:bodyPr>
          <a:lstStyle/>
          <a:p>
            <a:pPr algn="l">
              <a:lnSpc>
                <a:spcPts val="2310"/>
              </a:lnSpc>
            </a:pPr>
            <a:r>
              <a:rPr lang="en-US" sz="1650" b="1" spc="99">
                <a:solidFill>
                  <a:srgbClr val="28C7C2"/>
                </a:solidFill>
                <a:latin typeface="IBM Plex Sans Bold"/>
                <a:ea typeface="IBM Plex Sans Bold"/>
                <a:cs typeface="IBM Plex Sans Bold"/>
                <a:sym typeface="IBM Plex Sans Bold"/>
              </a:rPr>
              <a:t>NGƯỠNG 0,3</a:t>
            </a:r>
          </a:p>
        </p:txBody>
      </p:sp>
      <p:sp>
        <p:nvSpPr>
          <p:cNvPr id="9" name="TextBox 9"/>
          <p:cNvSpPr txBox="1"/>
          <p:nvPr/>
        </p:nvSpPr>
        <p:spPr>
          <a:xfrm>
            <a:off x="1047750" y="5905500"/>
            <a:ext cx="4953000" cy="1533525"/>
          </a:xfrm>
          <a:prstGeom prst="rect">
            <a:avLst/>
          </a:prstGeom>
        </p:spPr>
        <p:txBody>
          <a:bodyPr lIns="0" tIns="0" rIns="0" bIns="0" rtlCol="0" anchor="t">
            <a:spAutoFit/>
          </a:bodyPr>
          <a:lstStyle/>
          <a:p>
            <a:pPr algn="l">
              <a:lnSpc>
                <a:spcPts val="4050"/>
              </a:lnSpc>
            </a:pPr>
            <a:r>
              <a:rPr lang="en-US" sz="3000" b="1">
                <a:solidFill>
                  <a:srgbClr val="FFFFFF"/>
                </a:solidFill>
                <a:latin typeface="Be Vietnam Ultra-Bold"/>
                <a:ea typeface="Be Vietnam Ultra-Bold"/>
                <a:cs typeface="Be Vietnam Ultra-Bold"/>
                <a:sym typeface="Be Vietnam Ultra-Bold"/>
              </a:rPr>
              <a:t>24 bỏ sót</a:t>
            </a:r>
          </a:p>
          <a:p>
            <a:pPr algn="l">
              <a:lnSpc>
                <a:spcPts val="4050"/>
              </a:lnSpc>
            </a:pPr>
            <a:r>
              <a:rPr lang="en-US" sz="3000" b="1">
                <a:solidFill>
                  <a:srgbClr val="FFFFFF"/>
                </a:solidFill>
                <a:latin typeface="Be Vietnam Ultra-Bold"/>
                <a:ea typeface="Be Vietnam Ultra-Bold"/>
                <a:cs typeface="Be Vietnam Ultra-Bold"/>
                <a:sym typeface="Be Vietnam Ultra-Bold"/>
              </a:rPr>
              <a:t>71 báo nhầm</a:t>
            </a:r>
          </a:p>
          <a:p>
            <a:pPr algn="l">
              <a:lnSpc>
                <a:spcPts val="4050"/>
              </a:lnSpc>
            </a:pPr>
            <a:r>
              <a:rPr lang="en-US" sz="3000" b="1">
                <a:solidFill>
                  <a:srgbClr val="FFFFFF"/>
                </a:solidFill>
                <a:latin typeface="Be Vietnam Ultra-Bold"/>
                <a:ea typeface="Be Vietnam Ultra-Bold"/>
                <a:cs typeface="Be Vietnam Ultra-Bold"/>
                <a:sym typeface="Be Vietnam Ultra-Bold"/>
              </a:rPr>
              <a:t>Recall 91,5%</a:t>
            </a:r>
          </a:p>
        </p:txBody>
      </p:sp>
      <p:pic>
        <p:nvPicPr>
          <p:cNvPr id="10" name="Picture 10"/>
          <p:cNvPicPr>
            <a:picLocks noChangeAspect="1"/>
          </p:cNvPicPr>
          <p:nvPr/>
        </p:nvPicPr>
        <p:blipFill>
          <a:blip r:embed="rId3"/>
          <a:stretch>
            <a:fillRect/>
          </a:stretch>
        </p:blipFill>
        <p:spPr>
          <a:xfrm>
            <a:off x="6555752" y="1146600"/>
            <a:ext cx="11272494" cy="8374799"/>
          </a:xfrm>
          <a:prstGeom prst="rect">
            <a:avLst/>
          </a:prstGeom>
        </p:spPr>
      </p:pic>
    </p:spTree>
    <p:extLst>
      <p:ext uri="{BB962C8B-B14F-4D97-AF65-F5344CB8AC3E}">
        <p14:creationId xmlns:p14="http://schemas.microsoft.com/office/powerpoint/2010/main" val="3322214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13925550" y="2095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4"/>
            <a:stretch>
              <a:fillRect/>
            </a:stretch>
          </a:blipFill>
        </p:spPr>
        <p:txBody>
          <a:bodyPr/>
          <a:lstStyle/>
          <a:p>
            <a:endParaRPr/>
          </a:p>
        </p:txBody>
      </p:sp>
      <p:sp>
        <p:nvSpPr>
          <p:cNvPr id="4" name="TextBox 4"/>
          <p:cNvSpPr txBox="1"/>
          <p:nvPr/>
        </p:nvSpPr>
        <p:spPr>
          <a:xfrm>
            <a:off x="790291" y="563091"/>
            <a:ext cx="12053761" cy="955912"/>
          </a:xfrm>
          <a:prstGeom prst="rect">
            <a:avLst/>
          </a:prstGeom>
        </p:spPr>
        <p:txBody>
          <a:bodyPr lIns="0" tIns="0" rIns="0" bIns="0" rtlCol="0" anchor="t">
            <a:spAutoFit/>
          </a:bodyPr>
          <a:lstStyle/>
          <a:p>
            <a:pPr algn="l">
              <a:lnSpc>
                <a:spcPts val="7546"/>
              </a:lnSpc>
            </a:pPr>
            <a:r>
              <a:rPr lang="en-US" sz="6287" b="1">
                <a:solidFill>
                  <a:srgbClr val="F6F6F6"/>
                </a:solidFill>
                <a:latin typeface="Roboto Bold"/>
                <a:ea typeface="Roboto Bold"/>
                <a:cs typeface="Roboto Bold"/>
                <a:sym typeface="Roboto Bold"/>
              </a:rPr>
              <a:t>TabICLv2 và Logistic Regression</a:t>
            </a:r>
          </a:p>
        </p:txBody>
      </p:sp>
      <p:sp>
        <p:nvSpPr>
          <p:cNvPr id="5" name="Freeform 5"/>
          <p:cNvSpPr/>
          <p:nvPr/>
        </p:nvSpPr>
        <p:spPr>
          <a:xfrm>
            <a:off x="866775" y="1495425"/>
            <a:ext cx="1095375" cy="438150"/>
          </a:xfrm>
          <a:custGeom>
            <a:avLst/>
            <a:gdLst/>
            <a:ahLst/>
            <a:cxnLst/>
            <a:rect l="l" t="t" r="r" b="b"/>
            <a:pathLst>
              <a:path w="1095375" h="438150">
                <a:moveTo>
                  <a:pt x="0" y="0"/>
                </a:moveTo>
                <a:lnTo>
                  <a:pt x="1095375" y="0"/>
                </a:lnTo>
                <a:lnTo>
                  <a:pt x="1095375" y="438150"/>
                </a:lnTo>
                <a:lnTo>
                  <a:pt x="0" y="438150"/>
                </a:lnTo>
                <a:lnTo>
                  <a:pt x="0" y="0"/>
                </a:lnTo>
                <a:close/>
              </a:path>
            </a:pathLst>
          </a:custGeom>
          <a:blipFill>
            <a:blip r:embed="rId5"/>
            <a:stretch>
              <a:fillRect/>
            </a:stretch>
          </a:blipFill>
        </p:spPr>
        <p:txBody>
          <a:bodyPr/>
          <a:lstStyle/>
          <a:p>
            <a:endParaRPr/>
          </a:p>
        </p:txBody>
      </p:sp>
      <p:sp>
        <p:nvSpPr>
          <p:cNvPr id="6" name="Freeform 6"/>
          <p:cNvSpPr/>
          <p:nvPr/>
        </p:nvSpPr>
        <p:spPr>
          <a:xfrm>
            <a:off x="866775" y="2571750"/>
            <a:ext cx="7848600" cy="7077075"/>
          </a:xfrm>
          <a:custGeom>
            <a:avLst/>
            <a:gdLst/>
            <a:ahLst/>
            <a:cxnLst/>
            <a:rect l="l" t="t" r="r" b="b"/>
            <a:pathLst>
              <a:path w="7848600" h="7077075">
                <a:moveTo>
                  <a:pt x="0" y="0"/>
                </a:moveTo>
                <a:lnTo>
                  <a:pt x="7848600" y="0"/>
                </a:lnTo>
                <a:lnTo>
                  <a:pt x="7848600" y="7077075"/>
                </a:lnTo>
                <a:lnTo>
                  <a:pt x="0" y="7077075"/>
                </a:lnTo>
                <a:lnTo>
                  <a:pt x="0" y="0"/>
                </a:lnTo>
                <a:close/>
              </a:path>
            </a:pathLst>
          </a:custGeom>
          <a:blipFill>
            <a:blip r:embed="rId6"/>
            <a:stretch>
              <a:fillRect/>
            </a:stretch>
          </a:blipFill>
        </p:spPr>
        <p:txBody>
          <a:bodyPr/>
          <a:lstStyle/>
          <a:p>
            <a:endParaRPr/>
          </a:p>
        </p:txBody>
      </p:sp>
      <p:sp>
        <p:nvSpPr>
          <p:cNvPr id="7" name="Freeform 7"/>
          <p:cNvSpPr/>
          <p:nvPr/>
        </p:nvSpPr>
        <p:spPr>
          <a:xfrm>
            <a:off x="2390775" y="2143125"/>
            <a:ext cx="5019675" cy="857250"/>
          </a:xfrm>
          <a:custGeom>
            <a:avLst/>
            <a:gdLst/>
            <a:ahLst/>
            <a:cxnLst/>
            <a:rect l="l" t="t" r="r" b="b"/>
            <a:pathLst>
              <a:path w="5019675" h="857250">
                <a:moveTo>
                  <a:pt x="0" y="0"/>
                </a:moveTo>
                <a:lnTo>
                  <a:pt x="5019675" y="0"/>
                </a:lnTo>
                <a:lnTo>
                  <a:pt x="5019675" y="857250"/>
                </a:lnTo>
                <a:lnTo>
                  <a:pt x="0" y="857250"/>
                </a:lnTo>
                <a:lnTo>
                  <a:pt x="0" y="0"/>
                </a:lnTo>
                <a:close/>
              </a:path>
            </a:pathLst>
          </a:custGeom>
          <a:blipFill>
            <a:blip r:embed="rId7"/>
            <a:stretch>
              <a:fillRect/>
            </a:stretch>
          </a:blipFill>
        </p:spPr>
        <p:txBody>
          <a:bodyPr/>
          <a:lstStyle/>
          <a:p>
            <a:endParaRPr/>
          </a:p>
        </p:txBody>
      </p:sp>
      <p:sp>
        <p:nvSpPr>
          <p:cNvPr id="8" name="TextBox 8"/>
          <p:cNvSpPr txBox="1"/>
          <p:nvPr/>
        </p:nvSpPr>
        <p:spPr>
          <a:xfrm>
            <a:off x="2796631" y="2196355"/>
            <a:ext cx="4301000" cy="631962"/>
          </a:xfrm>
          <a:prstGeom prst="rect">
            <a:avLst/>
          </a:prstGeom>
        </p:spPr>
        <p:txBody>
          <a:bodyPr lIns="0" tIns="0" rIns="0" bIns="0" rtlCol="0" anchor="t">
            <a:spAutoFit/>
          </a:bodyPr>
          <a:lstStyle/>
          <a:p>
            <a:pPr algn="l">
              <a:lnSpc>
                <a:spcPts val="5229"/>
              </a:lnSpc>
            </a:pPr>
            <a:r>
              <a:rPr lang="en-US" sz="3168" b="1" spc="-63">
                <a:solidFill>
                  <a:srgbClr val="F6F6F6"/>
                </a:solidFill>
                <a:latin typeface="Roboto Bold"/>
                <a:ea typeface="Roboto Bold"/>
                <a:cs typeface="Roboto Bold"/>
                <a:sym typeface="Roboto Bold"/>
              </a:rPr>
              <a:t>LOGISTIC REGRESSION</a:t>
            </a:r>
          </a:p>
        </p:txBody>
      </p:sp>
      <p:sp>
        <p:nvSpPr>
          <p:cNvPr id="9" name="Freeform 9"/>
          <p:cNvSpPr/>
          <p:nvPr/>
        </p:nvSpPr>
        <p:spPr>
          <a:xfrm>
            <a:off x="1304925" y="3429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txBody>
          <a:bodyPr/>
          <a:lstStyle/>
          <a:p>
            <a:endParaRPr/>
          </a:p>
        </p:txBody>
      </p:sp>
      <p:sp>
        <p:nvSpPr>
          <p:cNvPr id="10" name="TextBox 10"/>
          <p:cNvSpPr txBox="1"/>
          <p:nvPr/>
        </p:nvSpPr>
        <p:spPr>
          <a:xfrm>
            <a:off x="2771096" y="3382905"/>
            <a:ext cx="1496694" cy="580171"/>
          </a:xfrm>
          <a:prstGeom prst="rect">
            <a:avLst/>
          </a:prstGeom>
        </p:spPr>
        <p:txBody>
          <a:bodyPr lIns="0" tIns="0" rIns="0" bIns="0" rtlCol="0" anchor="t">
            <a:spAutoFit/>
          </a:bodyPr>
          <a:lstStyle/>
          <a:p>
            <a:pPr algn="l">
              <a:lnSpc>
                <a:spcPts val="4902"/>
              </a:lnSpc>
            </a:pPr>
            <a:r>
              <a:rPr lang="en-US" sz="2970" b="1" spc="-59">
                <a:solidFill>
                  <a:srgbClr val="12B4CF"/>
                </a:solidFill>
                <a:latin typeface="Roboto Bold"/>
                <a:ea typeface="Roboto Bold"/>
                <a:cs typeface="Roboto Bold"/>
                <a:sym typeface="Roboto Bold"/>
              </a:rPr>
              <a:t>ƯU ĐIỂM</a:t>
            </a:r>
          </a:p>
        </p:txBody>
      </p:sp>
      <p:sp>
        <p:nvSpPr>
          <p:cNvPr id="11" name="Freeform 11"/>
          <p:cNvSpPr/>
          <p:nvPr/>
        </p:nvSpPr>
        <p:spPr>
          <a:xfrm>
            <a:off x="2609850" y="3857625"/>
            <a:ext cx="5448300" cy="428625"/>
          </a:xfrm>
          <a:custGeom>
            <a:avLst/>
            <a:gdLst/>
            <a:ahLst/>
            <a:cxnLst/>
            <a:rect l="l" t="t" r="r" b="b"/>
            <a:pathLst>
              <a:path w="5448300" h="428625">
                <a:moveTo>
                  <a:pt x="0" y="0"/>
                </a:moveTo>
                <a:lnTo>
                  <a:pt x="5448300" y="0"/>
                </a:lnTo>
                <a:lnTo>
                  <a:pt x="5448300" y="428625"/>
                </a:lnTo>
                <a:lnTo>
                  <a:pt x="0" y="428625"/>
                </a:lnTo>
                <a:lnTo>
                  <a:pt x="0" y="0"/>
                </a:lnTo>
                <a:close/>
              </a:path>
            </a:pathLst>
          </a:custGeom>
          <a:blipFill>
            <a:blip r:embed="rId9"/>
            <a:stretch>
              <a:fillRect/>
            </a:stretch>
          </a:blipFill>
        </p:spPr>
        <p:txBody>
          <a:bodyPr/>
          <a:lstStyle/>
          <a:p>
            <a:endParaRPr/>
          </a:p>
        </p:txBody>
      </p:sp>
      <p:sp>
        <p:nvSpPr>
          <p:cNvPr id="12" name="Freeform 12"/>
          <p:cNvSpPr/>
          <p:nvPr/>
        </p:nvSpPr>
        <p:spPr>
          <a:xfrm>
            <a:off x="2609850" y="4286250"/>
            <a:ext cx="438150" cy="1933575"/>
          </a:xfrm>
          <a:custGeom>
            <a:avLst/>
            <a:gdLst/>
            <a:ahLst/>
            <a:cxnLst/>
            <a:rect l="l" t="t" r="r" b="b"/>
            <a:pathLst>
              <a:path w="438150" h="1933575">
                <a:moveTo>
                  <a:pt x="0" y="0"/>
                </a:moveTo>
                <a:lnTo>
                  <a:pt x="438150" y="0"/>
                </a:lnTo>
                <a:lnTo>
                  <a:pt x="438150" y="1933575"/>
                </a:lnTo>
                <a:lnTo>
                  <a:pt x="0" y="1933575"/>
                </a:lnTo>
                <a:lnTo>
                  <a:pt x="0" y="0"/>
                </a:lnTo>
                <a:close/>
              </a:path>
            </a:pathLst>
          </a:custGeom>
          <a:blipFill>
            <a:blip r:embed="rId10"/>
            <a:stretch>
              <a:fillRect/>
            </a:stretch>
          </a:blipFill>
        </p:spPr>
        <p:txBody>
          <a:bodyPr/>
          <a:lstStyle/>
          <a:p>
            <a:endParaRPr/>
          </a:p>
        </p:txBody>
      </p:sp>
      <p:sp>
        <p:nvSpPr>
          <p:cNvPr id="13" name="TextBox 13"/>
          <p:cNvSpPr txBox="1"/>
          <p:nvPr/>
        </p:nvSpPr>
        <p:spPr>
          <a:xfrm>
            <a:off x="3063787" y="4194398"/>
            <a:ext cx="4374394" cy="1908632"/>
          </a:xfrm>
          <a:prstGeom prst="rect">
            <a:avLst/>
          </a:prstGeom>
        </p:spPr>
        <p:txBody>
          <a:bodyPr lIns="0" tIns="0" rIns="0" bIns="0" rtlCol="0" anchor="t">
            <a:spAutoFit/>
          </a:bodyPr>
          <a:lstStyle/>
          <a:p>
            <a:pPr algn="l">
              <a:lnSpc>
                <a:spcPts val="3880"/>
              </a:lnSpc>
            </a:pPr>
            <a:r>
              <a:rPr lang="en-US" sz="2351" spc="-47">
                <a:solidFill>
                  <a:srgbClr val="F6F6F6"/>
                </a:solidFill>
                <a:latin typeface="Roboto"/>
                <a:ea typeface="Roboto"/>
                <a:cs typeface="Roboto"/>
                <a:sym typeface="Roboto"/>
              </a:rPr>
              <a:t>Minh bạch, nhanh, baseline mạnh</a:t>
            </a:r>
          </a:p>
          <a:p>
            <a:pPr algn="l">
              <a:lnSpc>
                <a:spcPts val="3880"/>
              </a:lnSpc>
            </a:pPr>
            <a:r>
              <a:rPr lang="en-US" sz="2351" spc="-47">
                <a:solidFill>
                  <a:srgbClr val="F6F6F6"/>
                </a:solidFill>
                <a:latin typeface="Roboto"/>
                <a:ea typeface="Roboto"/>
                <a:cs typeface="Roboto"/>
                <a:sym typeface="Roboto"/>
              </a:rPr>
              <a:t>Đã đạt AUC 0,940 ở cấu hình B</a:t>
            </a:r>
          </a:p>
        </p:txBody>
      </p:sp>
      <p:sp>
        <p:nvSpPr>
          <p:cNvPr id="14" name="Freeform 14"/>
          <p:cNvSpPr/>
          <p:nvPr/>
        </p:nvSpPr>
        <p:spPr>
          <a:xfrm>
            <a:off x="1304925" y="6858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1"/>
            <a:stretch>
              <a:fillRect/>
            </a:stretch>
          </a:blipFill>
        </p:spPr>
        <p:txBody>
          <a:bodyPr/>
          <a:lstStyle/>
          <a:p>
            <a:endParaRPr/>
          </a:p>
        </p:txBody>
      </p:sp>
      <p:sp>
        <p:nvSpPr>
          <p:cNvPr id="15" name="TextBox 15"/>
          <p:cNvSpPr txBox="1"/>
          <p:nvPr/>
        </p:nvSpPr>
        <p:spPr>
          <a:xfrm>
            <a:off x="2770154" y="6939153"/>
            <a:ext cx="1590828" cy="580171"/>
          </a:xfrm>
          <a:prstGeom prst="rect">
            <a:avLst/>
          </a:prstGeom>
        </p:spPr>
        <p:txBody>
          <a:bodyPr lIns="0" tIns="0" rIns="0" bIns="0" rtlCol="0" anchor="t">
            <a:spAutoFit/>
          </a:bodyPr>
          <a:lstStyle/>
          <a:p>
            <a:pPr algn="l">
              <a:lnSpc>
                <a:spcPts val="4902"/>
              </a:lnSpc>
            </a:pPr>
            <a:r>
              <a:rPr lang="en-US" sz="2970" b="1" spc="-59">
                <a:solidFill>
                  <a:srgbClr val="D659E1"/>
                </a:solidFill>
                <a:latin typeface="Roboto Bold"/>
                <a:ea typeface="Roboto Bold"/>
                <a:cs typeface="Roboto Bold"/>
                <a:sym typeface="Roboto Bold"/>
              </a:rPr>
              <a:t>HẠN CHẾ</a:t>
            </a:r>
          </a:p>
        </p:txBody>
      </p:sp>
      <p:sp>
        <p:nvSpPr>
          <p:cNvPr id="16" name="Freeform 16"/>
          <p:cNvSpPr/>
          <p:nvPr/>
        </p:nvSpPr>
        <p:spPr>
          <a:xfrm>
            <a:off x="2609850" y="7496175"/>
            <a:ext cx="5448300" cy="219075"/>
          </a:xfrm>
          <a:custGeom>
            <a:avLst/>
            <a:gdLst/>
            <a:ahLst/>
            <a:cxnLst/>
            <a:rect l="l" t="t" r="r" b="b"/>
            <a:pathLst>
              <a:path w="5448300" h="219075">
                <a:moveTo>
                  <a:pt x="0" y="0"/>
                </a:moveTo>
                <a:lnTo>
                  <a:pt x="5448300" y="0"/>
                </a:lnTo>
                <a:lnTo>
                  <a:pt x="5448300" y="219075"/>
                </a:lnTo>
                <a:lnTo>
                  <a:pt x="0" y="219075"/>
                </a:lnTo>
                <a:lnTo>
                  <a:pt x="0" y="0"/>
                </a:lnTo>
                <a:close/>
              </a:path>
            </a:pathLst>
          </a:custGeom>
          <a:blipFill>
            <a:blip r:embed="rId12"/>
            <a:stretch>
              <a:fillRect/>
            </a:stretch>
          </a:blipFill>
        </p:spPr>
        <p:txBody>
          <a:bodyPr/>
          <a:lstStyle/>
          <a:p>
            <a:endParaRPr/>
          </a:p>
        </p:txBody>
      </p:sp>
      <p:sp>
        <p:nvSpPr>
          <p:cNvPr id="17" name="TextBox 17"/>
          <p:cNvSpPr txBox="1"/>
          <p:nvPr/>
        </p:nvSpPr>
        <p:spPr>
          <a:xfrm>
            <a:off x="2769182" y="7741323"/>
            <a:ext cx="4366990" cy="984191"/>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 Đường biên tuyến tính</a:t>
            </a:r>
          </a:p>
          <a:p>
            <a:pPr algn="l">
              <a:lnSpc>
                <a:spcPts val="4032"/>
              </a:lnSpc>
            </a:pPr>
            <a:r>
              <a:rPr lang="en-US" sz="2443" spc="-48">
                <a:solidFill>
                  <a:srgbClr val="F6F6F6"/>
                </a:solidFill>
                <a:latin typeface="Roboto"/>
                <a:ea typeface="Roboto"/>
                <a:cs typeface="Roboto"/>
                <a:sym typeface="Roboto"/>
              </a:rPr>
              <a:t>– Phụ thuộc feature engineering</a:t>
            </a:r>
          </a:p>
        </p:txBody>
      </p:sp>
      <p:sp>
        <p:nvSpPr>
          <p:cNvPr id="18" name="Freeform 18"/>
          <p:cNvSpPr/>
          <p:nvPr/>
        </p:nvSpPr>
        <p:spPr>
          <a:xfrm>
            <a:off x="9353550" y="2571750"/>
            <a:ext cx="8067675" cy="7077075"/>
          </a:xfrm>
          <a:custGeom>
            <a:avLst/>
            <a:gdLst/>
            <a:ahLst/>
            <a:cxnLst/>
            <a:rect l="l" t="t" r="r" b="b"/>
            <a:pathLst>
              <a:path w="8067675" h="7077075">
                <a:moveTo>
                  <a:pt x="0" y="0"/>
                </a:moveTo>
                <a:lnTo>
                  <a:pt x="8067675" y="0"/>
                </a:lnTo>
                <a:lnTo>
                  <a:pt x="8067675" y="7077075"/>
                </a:lnTo>
                <a:lnTo>
                  <a:pt x="0" y="7077075"/>
                </a:lnTo>
                <a:lnTo>
                  <a:pt x="0" y="0"/>
                </a:lnTo>
                <a:close/>
              </a:path>
            </a:pathLst>
          </a:custGeom>
          <a:blipFill>
            <a:blip r:embed="rId13"/>
            <a:stretch>
              <a:fillRect/>
            </a:stretch>
          </a:blipFill>
        </p:spPr>
        <p:txBody>
          <a:bodyPr/>
          <a:lstStyle/>
          <a:p>
            <a:endParaRPr/>
          </a:p>
        </p:txBody>
      </p:sp>
      <p:sp>
        <p:nvSpPr>
          <p:cNvPr id="19" name="Freeform 19"/>
          <p:cNvSpPr/>
          <p:nvPr/>
        </p:nvSpPr>
        <p:spPr>
          <a:xfrm>
            <a:off x="10877550" y="2143125"/>
            <a:ext cx="4800600" cy="857250"/>
          </a:xfrm>
          <a:custGeom>
            <a:avLst/>
            <a:gdLst/>
            <a:ahLst/>
            <a:cxnLst/>
            <a:rect l="l" t="t" r="r" b="b"/>
            <a:pathLst>
              <a:path w="4800600" h="857250">
                <a:moveTo>
                  <a:pt x="0" y="0"/>
                </a:moveTo>
                <a:lnTo>
                  <a:pt x="4800600" y="0"/>
                </a:lnTo>
                <a:lnTo>
                  <a:pt x="4800600" y="857250"/>
                </a:lnTo>
                <a:lnTo>
                  <a:pt x="0" y="857250"/>
                </a:lnTo>
                <a:lnTo>
                  <a:pt x="0" y="0"/>
                </a:lnTo>
                <a:close/>
              </a:path>
            </a:pathLst>
          </a:custGeom>
          <a:blipFill>
            <a:blip r:embed="rId14"/>
            <a:stretch>
              <a:fillRect/>
            </a:stretch>
          </a:blipFill>
        </p:spPr>
        <p:txBody>
          <a:bodyPr/>
          <a:lstStyle/>
          <a:p>
            <a:endParaRPr/>
          </a:p>
        </p:txBody>
      </p:sp>
      <p:sp>
        <p:nvSpPr>
          <p:cNvPr id="20" name="TextBox 20"/>
          <p:cNvSpPr txBox="1"/>
          <p:nvPr/>
        </p:nvSpPr>
        <p:spPr>
          <a:xfrm>
            <a:off x="12480646" y="2196355"/>
            <a:ext cx="1719006" cy="631962"/>
          </a:xfrm>
          <a:prstGeom prst="rect">
            <a:avLst/>
          </a:prstGeom>
        </p:spPr>
        <p:txBody>
          <a:bodyPr lIns="0" tIns="0" rIns="0" bIns="0" rtlCol="0" anchor="t">
            <a:spAutoFit/>
          </a:bodyPr>
          <a:lstStyle/>
          <a:p>
            <a:pPr algn="ctr">
              <a:lnSpc>
                <a:spcPts val="5229"/>
              </a:lnSpc>
            </a:pPr>
            <a:r>
              <a:rPr lang="en-US" sz="3168" b="1" spc="-63">
                <a:solidFill>
                  <a:srgbClr val="F6F6F6"/>
                </a:solidFill>
                <a:latin typeface="Roboto Bold"/>
                <a:ea typeface="Roboto Bold"/>
                <a:cs typeface="Roboto Bold"/>
                <a:sym typeface="Roboto Bold"/>
              </a:rPr>
              <a:t>TabICLv2</a:t>
            </a:r>
          </a:p>
        </p:txBody>
      </p:sp>
      <p:sp>
        <p:nvSpPr>
          <p:cNvPr id="21" name="Freeform 21"/>
          <p:cNvSpPr/>
          <p:nvPr/>
        </p:nvSpPr>
        <p:spPr>
          <a:xfrm>
            <a:off x="9791700" y="3429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5"/>
            <a:stretch>
              <a:fillRect/>
            </a:stretch>
          </a:blipFill>
        </p:spPr>
        <p:txBody>
          <a:bodyPr/>
          <a:lstStyle/>
          <a:p>
            <a:endParaRPr/>
          </a:p>
        </p:txBody>
      </p:sp>
      <p:sp>
        <p:nvSpPr>
          <p:cNvPr id="22" name="TextBox 22"/>
          <p:cNvSpPr txBox="1"/>
          <p:nvPr/>
        </p:nvSpPr>
        <p:spPr>
          <a:xfrm>
            <a:off x="11316806" y="3382905"/>
            <a:ext cx="1496694" cy="580171"/>
          </a:xfrm>
          <a:prstGeom prst="rect">
            <a:avLst/>
          </a:prstGeom>
        </p:spPr>
        <p:txBody>
          <a:bodyPr lIns="0" tIns="0" rIns="0" bIns="0" rtlCol="0" anchor="t">
            <a:spAutoFit/>
          </a:bodyPr>
          <a:lstStyle/>
          <a:p>
            <a:pPr algn="l">
              <a:lnSpc>
                <a:spcPts val="4902"/>
              </a:lnSpc>
            </a:pPr>
            <a:r>
              <a:rPr lang="en-US" sz="2970" b="1" spc="-59">
                <a:solidFill>
                  <a:srgbClr val="6048DD"/>
                </a:solidFill>
                <a:latin typeface="Roboto Bold"/>
                <a:ea typeface="Roboto Bold"/>
                <a:cs typeface="Roboto Bold"/>
                <a:sym typeface="Roboto Bold"/>
              </a:rPr>
              <a:t>ƯU ĐIỂM</a:t>
            </a:r>
          </a:p>
        </p:txBody>
      </p:sp>
      <p:sp>
        <p:nvSpPr>
          <p:cNvPr id="23" name="Freeform 23"/>
          <p:cNvSpPr/>
          <p:nvPr/>
        </p:nvSpPr>
        <p:spPr>
          <a:xfrm>
            <a:off x="11315700" y="3857625"/>
            <a:ext cx="5448300" cy="428625"/>
          </a:xfrm>
          <a:custGeom>
            <a:avLst/>
            <a:gdLst/>
            <a:ahLst/>
            <a:cxnLst/>
            <a:rect l="l" t="t" r="r" b="b"/>
            <a:pathLst>
              <a:path w="5448300" h="428625">
                <a:moveTo>
                  <a:pt x="0" y="0"/>
                </a:moveTo>
                <a:lnTo>
                  <a:pt x="5448300" y="0"/>
                </a:lnTo>
                <a:lnTo>
                  <a:pt x="5448300" y="428625"/>
                </a:lnTo>
                <a:lnTo>
                  <a:pt x="0" y="428625"/>
                </a:lnTo>
                <a:lnTo>
                  <a:pt x="0" y="0"/>
                </a:lnTo>
                <a:close/>
              </a:path>
            </a:pathLst>
          </a:custGeom>
          <a:blipFill>
            <a:blip r:embed="rId16"/>
            <a:stretch>
              <a:fillRect/>
            </a:stretch>
          </a:blipFill>
        </p:spPr>
        <p:txBody>
          <a:bodyPr/>
          <a:lstStyle/>
          <a:p>
            <a:endParaRPr/>
          </a:p>
        </p:txBody>
      </p:sp>
      <p:sp>
        <p:nvSpPr>
          <p:cNvPr id="24" name="Freeform 24"/>
          <p:cNvSpPr/>
          <p:nvPr/>
        </p:nvSpPr>
        <p:spPr>
          <a:xfrm>
            <a:off x="11315700" y="4286250"/>
            <a:ext cx="447675" cy="1504950"/>
          </a:xfrm>
          <a:custGeom>
            <a:avLst/>
            <a:gdLst/>
            <a:ahLst/>
            <a:cxnLst/>
            <a:rect l="l" t="t" r="r" b="b"/>
            <a:pathLst>
              <a:path w="447675" h="1504950">
                <a:moveTo>
                  <a:pt x="0" y="0"/>
                </a:moveTo>
                <a:lnTo>
                  <a:pt x="447675" y="0"/>
                </a:lnTo>
                <a:lnTo>
                  <a:pt x="447675" y="1504950"/>
                </a:lnTo>
                <a:lnTo>
                  <a:pt x="0" y="1504950"/>
                </a:lnTo>
                <a:lnTo>
                  <a:pt x="0" y="0"/>
                </a:lnTo>
                <a:close/>
              </a:path>
            </a:pathLst>
          </a:custGeom>
          <a:blipFill>
            <a:blip r:embed="rId17"/>
            <a:stretch>
              <a:fillRect/>
            </a:stretch>
          </a:blipFill>
        </p:spPr>
        <p:txBody>
          <a:bodyPr/>
          <a:lstStyle/>
          <a:p>
            <a:endParaRPr/>
          </a:p>
        </p:txBody>
      </p:sp>
      <p:sp>
        <p:nvSpPr>
          <p:cNvPr id="25" name="TextBox 25"/>
          <p:cNvSpPr txBox="1"/>
          <p:nvPr/>
        </p:nvSpPr>
        <p:spPr>
          <a:xfrm>
            <a:off x="11609768" y="4185075"/>
            <a:ext cx="4347447" cy="1484253"/>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Học trong ngữ cảnh</a:t>
            </a:r>
          </a:p>
          <a:p>
            <a:pPr algn="l">
              <a:lnSpc>
                <a:spcPts val="4032"/>
              </a:lnSpc>
            </a:pPr>
            <a:r>
              <a:rPr lang="en-US" sz="2443" spc="-48">
                <a:solidFill>
                  <a:srgbClr val="F6F6F6"/>
                </a:solidFill>
                <a:latin typeface="Roboto"/>
                <a:ea typeface="Roboto"/>
                <a:cs typeface="Roboto"/>
                <a:sym typeface="Roboto"/>
              </a:rPr>
              <a:t>Attention so sánh ví dụ linh hoạt</a:t>
            </a:r>
          </a:p>
          <a:p>
            <a:pPr algn="l">
              <a:lnSpc>
                <a:spcPts val="4032"/>
              </a:lnSpc>
            </a:pPr>
            <a:r>
              <a:rPr lang="en-US" sz="2443" spc="-48">
                <a:solidFill>
                  <a:srgbClr val="F6F6F6"/>
                </a:solidFill>
                <a:latin typeface="Roboto"/>
                <a:ea typeface="Roboto"/>
                <a:cs typeface="Roboto"/>
                <a:sym typeface="Roboto"/>
              </a:rPr>
              <a:t>AUC 0,955 ở cấu hình B</a:t>
            </a:r>
          </a:p>
        </p:txBody>
      </p:sp>
      <p:sp>
        <p:nvSpPr>
          <p:cNvPr id="26" name="Freeform 26"/>
          <p:cNvSpPr/>
          <p:nvPr/>
        </p:nvSpPr>
        <p:spPr>
          <a:xfrm>
            <a:off x="9791700" y="6858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8"/>
            <a:stretch>
              <a:fillRect/>
            </a:stretch>
          </a:blipFill>
        </p:spPr>
        <p:txBody>
          <a:bodyPr/>
          <a:lstStyle/>
          <a:p>
            <a:endParaRPr/>
          </a:p>
        </p:txBody>
      </p:sp>
      <p:sp>
        <p:nvSpPr>
          <p:cNvPr id="27" name="TextBox 27"/>
          <p:cNvSpPr txBox="1"/>
          <p:nvPr/>
        </p:nvSpPr>
        <p:spPr>
          <a:xfrm>
            <a:off x="11315865" y="6939153"/>
            <a:ext cx="1590828" cy="580171"/>
          </a:xfrm>
          <a:prstGeom prst="rect">
            <a:avLst/>
          </a:prstGeom>
        </p:spPr>
        <p:txBody>
          <a:bodyPr lIns="0" tIns="0" rIns="0" bIns="0" rtlCol="0" anchor="t">
            <a:spAutoFit/>
          </a:bodyPr>
          <a:lstStyle/>
          <a:p>
            <a:pPr algn="l">
              <a:lnSpc>
                <a:spcPts val="4902"/>
              </a:lnSpc>
            </a:pPr>
            <a:r>
              <a:rPr lang="en-US" sz="2970" b="1" spc="-59">
                <a:solidFill>
                  <a:srgbClr val="D659E1"/>
                </a:solidFill>
                <a:latin typeface="Roboto Bold"/>
                <a:ea typeface="Roboto Bold"/>
                <a:cs typeface="Roboto Bold"/>
                <a:sym typeface="Roboto Bold"/>
              </a:rPr>
              <a:t>HẠN CHẾ</a:t>
            </a:r>
          </a:p>
        </p:txBody>
      </p:sp>
      <p:sp>
        <p:nvSpPr>
          <p:cNvPr id="28" name="Freeform 28"/>
          <p:cNvSpPr/>
          <p:nvPr/>
        </p:nvSpPr>
        <p:spPr>
          <a:xfrm>
            <a:off x="11315700" y="7496175"/>
            <a:ext cx="5448300" cy="219075"/>
          </a:xfrm>
          <a:custGeom>
            <a:avLst/>
            <a:gdLst/>
            <a:ahLst/>
            <a:cxnLst/>
            <a:rect l="l" t="t" r="r" b="b"/>
            <a:pathLst>
              <a:path w="5448300" h="219075">
                <a:moveTo>
                  <a:pt x="0" y="0"/>
                </a:moveTo>
                <a:lnTo>
                  <a:pt x="5448300" y="0"/>
                </a:lnTo>
                <a:lnTo>
                  <a:pt x="5448300" y="219075"/>
                </a:lnTo>
                <a:lnTo>
                  <a:pt x="0" y="219075"/>
                </a:lnTo>
                <a:lnTo>
                  <a:pt x="0" y="0"/>
                </a:lnTo>
                <a:close/>
              </a:path>
            </a:pathLst>
          </a:custGeom>
          <a:blipFill>
            <a:blip r:embed="rId19"/>
            <a:stretch>
              <a:fillRect/>
            </a:stretch>
          </a:blipFill>
        </p:spPr>
        <p:txBody>
          <a:bodyPr/>
          <a:lstStyle/>
          <a:p>
            <a:endParaRPr/>
          </a:p>
        </p:txBody>
      </p:sp>
      <p:sp>
        <p:nvSpPr>
          <p:cNvPr id="29" name="TextBox 29"/>
          <p:cNvSpPr txBox="1"/>
          <p:nvPr/>
        </p:nvSpPr>
        <p:spPr>
          <a:xfrm>
            <a:off x="11316741" y="7741323"/>
            <a:ext cx="4182193" cy="984191"/>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 Mới chạy một lần</a:t>
            </a:r>
          </a:p>
          <a:p>
            <a:pPr algn="l">
              <a:lnSpc>
                <a:spcPts val="4032"/>
              </a:lnSpc>
            </a:pPr>
            <a:r>
              <a:rPr lang="en-US" sz="2443" spc="-48">
                <a:solidFill>
                  <a:srgbClr val="F6F6F6"/>
                </a:solidFill>
                <a:latin typeface="Roboto"/>
                <a:ea typeface="Roboto"/>
                <a:cs typeface="Roboto"/>
                <a:sym typeface="Roboto"/>
              </a:rPr>
              <a:t>– Accuracy hơn chưa rõ rệt</a:t>
            </a:r>
          </a:p>
        </p:txBody>
      </p:sp>
      <p:sp>
        <p:nvSpPr>
          <p:cNvPr id="30" name="Freeform 30"/>
          <p:cNvSpPr/>
          <p:nvPr/>
        </p:nvSpPr>
        <p:spPr>
          <a:xfrm>
            <a:off x="8267700" y="4924425"/>
            <a:ext cx="1533525" cy="1724025"/>
          </a:xfrm>
          <a:custGeom>
            <a:avLst/>
            <a:gdLst/>
            <a:ahLst/>
            <a:cxnLst/>
            <a:rect l="l" t="t" r="r" b="b"/>
            <a:pathLst>
              <a:path w="1533525" h="1724025">
                <a:moveTo>
                  <a:pt x="0" y="0"/>
                </a:moveTo>
                <a:lnTo>
                  <a:pt x="1533525" y="0"/>
                </a:lnTo>
                <a:lnTo>
                  <a:pt x="1533525" y="1724025"/>
                </a:lnTo>
                <a:lnTo>
                  <a:pt x="0" y="1724025"/>
                </a:lnTo>
                <a:lnTo>
                  <a:pt x="0" y="0"/>
                </a:lnTo>
                <a:close/>
              </a:path>
            </a:pathLst>
          </a:custGeom>
          <a:blipFill>
            <a:blip r:embed="rId20"/>
            <a:stretch>
              <a:fillRect/>
            </a:stretch>
          </a:blipFill>
        </p:spPr>
        <p:txBody>
          <a:bodyPr/>
          <a:lstStyle/>
          <a:p>
            <a:endParaRPr/>
          </a:p>
        </p:txBody>
      </p:sp>
      <p:sp>
        <p:nvSpPr>
          <p:cNvPr id="31" name="TextBox 31"/>
          <p:cNvSpPr txBox="1"/>
          <p:nvPr/>
        </p:nvSpPr>
        <p:spPr>
          <a:xfrm>
            <a:off x="8673544" y="5209248"/>
            <a:ext cx="732314" cy="884272"/>
          </a:xfrm>
          <a:prstGeom prst="rect">
            <a:avLst/>
          </a:prstGeom>
        </p:spPr>
        <p:txBody>
          <a:bodyPr lIns="0" tIns="0" rIns="0" bIns="0" rtlCol="0" anchor="t">
            <a:spAutoFit/>
          </a:bodyPr>
          <a:lstStyle/>
          <a:p>
            <a:pPr algn="ctr">
              <a:lnSpc>
                <a:spcPts val="7568"/>
              </a:lnSpc>
            </a:pPr>
            <a:r>
              <a:rPr lang="en-US" sz="4585" b="1" spc="-91">
                <a:solidFill>
                  <a:srgbClr val="F6F6F6"/>
                </a:solidFill>
                <a:latin typeface="Roboto Bold"/>
                <a:ea typeface="Roboto Bold"/>
                <a:cs typeface="Roboto Bold"/>
                <a:sym typeface="Roboto Bold"/>
              </a:rPr>
              <a:t>VS</a:t>
            </a:r>
          </a:p>
        </p:txBody>
      </p:sp>
    </p:spTree>
    <p:extLst>
      <p:ext uri="{BB962C8B-B14F-4D97-AF65-F5344CB8AC3E}">
        <p14:creationId xmlns:p14="http://schemas.microsoft.com/office/powerpoint/2010/main" val="2221796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12839700" y="0"/>
            <a:ext cx="5448300" cy="3000375"/>
          </a:xfrm>
          <a:custGeom>
            <a:avLst/>
            <a:gdLst/>
            <a:ahLst/>
            <a:cxnLst/>
            <a:rect l="l" t="t" r="r" b="b"/>
            <a:pathLst>
              <a:path w="5448300" h="3000375">
                <a:moveTo>
                  <a:pt x="0" y="0"/>
                </a:moveTo>
                <a:lnTo>
                  <a:pt x="5448300" y="0"/>
                </a:lnTo>
                <a:lnTo>
                  <a:pt x="5448300" y="3000375"/>
                </a:lnTo>
                <a:lnTo>
                  <a:pt x="0" y="3000375"/>
                </a:lnTo>
                <a:lnTo>
                  <a:pt x="0" y="0"/>
                </a:lnTo>
                <a:close/>
              </a:path>
            </a:pathLst>
          </a:custGeom>
          <a:blipFill>
            <a:blip r:embed="rId4"/>
            <a:stretch>
              <a:fillRect/>
            </a:stretch>
          </a:blipFill>
        </p:spPr>
        <p:txBody>
          <a:bodyPr/>
          <a:lstStyle/>
          <a:p>
            <a:endParaRPr/>
          </a:p>
        </p:txBody>
      </p:sp>
      <p:sp>
        <p:nvSpPr>
          <p:cNvPr id="4" name="TextBox 4"/>
          <p:cNvSpPr txBox="1"/>
          <p:nvPr/>
        </p:nvSpPr>
        <p:spPr>
          <a:xfrm>
            <a:off x="554863" y="548022"/>
            <a:ext cx="6128494" cy="1116619"/>
          </a:xfrm>
          <a:prstGeom prst="rect">
            <a:avLst/>
          </a:prstGeom>
        </p:spPr>
        <p:txBody>
          <a:bodyPr lIns="0" tIns="0" rIns="0" bIns="0" rtlCol="0" anchor="t">
            <a:spAutoFit/>
          </a:bodyPr>
          <a:lstStyle/>
          <a:p>
            <a:pPr algn="l">
              <a:lnSpc>
                <a:spcPts val="8826"/>
              </a:lnSpc>
            </a:pPr>
            <a:r>
              <a:rPr lang="en-US" sz="7354" b="1">
                <a:solidFill>
                  <a:srgbClr val="F6F6F6"/>
                </a:solidFill>
                <a:latin typeface="Roboto Bold"/>
                <a:ea typeface="Roboto Bold"/>
                <a:cs typeface="Roboto Bold"/>
                <a:sym typeface="Roboto Bold"/>
              </a:rPr>
              <a:t>Kết luận chính</a:t>
            </a:r>
          </a:p>
        </p:txBody>
      </p:sp>
      <p:sp>
        <p:nvSpPr>
          <p:cNvPr id="5" name="Freeform 5"/>
          <p:cNvSpPr/>
          <p:nvPr/>
        </p:nvSpPr>
        <p:spPr>
          <a:xfrm>
            <a:off x="647700" y="1714500"/>
            <a:ext cx="1314450" cy="428625"/>
          </a:xfrm>
          <a:custGeom>
            <a:avLst/>
            <a:gdLst/>
            <a:ahLst/>
            <a:cxnLst/>
            <a:rect l="l" t="t" r="r" b="b"/>
            <a:pathLst>
              <a:path w="1314450" h="428625">
                <a:moveTo>
                  <a:pt x="0" y="0"/>
                </a:moveTo>
                <a:lnTo>
                  <a:pt x="1314450" y="0"/>
                </a:lnTo>
                <a:lnTo>
                  <a:pt x="1314450" y="428625"/>
                </a:lnTo>
                <a:lnTo>
                  <a:pt x="0" y="428625"/>
                </a:lnTo>
                <a:lnTo>
                  <a:pt x="0" y="0"/>
                </a:lnTo>
                <a:close/>
              </a:path>
            </a:pathLst>
          </a:custGeom>
          <a:blipFill>
            <a:blip r:embed="rId5"/>
            <a:stretch>
              <a:fillRect/>
            </a:stretch>
          </a:blipFill>
        </p:spPr>
        <p:txBody>
          <a:bodyPr/>
          <a:lstStyle/>
          <a:p>
            <a:endParaRPr/>
          </a:p>
        </p:txBody>
      </p:sp>
      <p:sp>
        <p:nvSpPr>
          <p:cNvPr id="6" name="Freeform 6"/>
          <p:cNvSpPr/>
          <p:nvPr/>
        </p:nvSpPr>
        <p:spPr>
          <a:xfrm>
            <a:off x="1085850" y="2571750"/>
            <a:ext cx="5010150" cy="6219825"/>
          </a:xfrm>
          <a:custGeom>
            <a:avLst/>
            <a:gdLst/>
            <a:ahLst/>
            <a:cxnLst/>
            <a:rect l="l" t="t" r="r" b="b"/>
            <a:pathLst>
              <a:path w="5010150" h="6219825">
                <a:moveTo>
                  <a:pt x="0" y="0"/>
                </a:moveTo>
                <a:lnTo>
                  <a:pt x="5010150" y="0"/>
                </a:lnTo>
                <a:lnTo>
                  <a:pt x="5010150" y="6219825"/>
                </a:lnTo>
                <a:lnTo>
                  <a:pt x="0" y="6219825"/>
                </a:lnTo>
                <a:lnTo>
                  <a:pt x="0" y="0"/>
                </a:lnTo>
                <a:close/>
              </a:path>
            </a:pathLst>
          </a:custGeom>
          <a:blipFill>
            <a:blip r:embed="rId6"/>
            <a:stretch>
              <a:fillRect/>
            </a:stretch>
          </a:blipFill>
        </p:spPr>
        <p:txBody>
          <a:bodyPr/>
          <a:lstStyle/>
          <a:p>
            <a:endParaRPr/>
          </a:p>
        </p:txBody>
      </p:sp>
      <p:sp>
        <p:nvSpPr>
          <p:cNvPr id="7" name="Freeform 7"/>
          <p:cNvSpPr/>
          <p:nvPr/>
        </p:nvSpPr>
        <p:spPr>
          <a:xfrm>
            <a:off x="2609850" y="2143125"/>
            <a:ext cx="1752600" cy="1714500"/>
          </a:xfrm>
          <a:custGeom>
            <a:avLst/>
            <a:gdLst/>
            <a:ahLst/>
            <a:cxnLst/>
            <a:rect l="l" t="t" r="r" b="b"/>
            <a:pathLst>
              <a:path w="1752600" h="1714500">
                <a:moveTo>
                  <a:pt x="0" y="0"/>
                </a:moveTo>
                <a:lnTo>
                  <a:pt x="1752600" y="0"/>
                </a:lnTo>
                <a:lnTo>
                  <a:pt x="1752600" y="1714500"/>
                </a:lnTo>
                <a:lnTo>
                  <a:pt x="0" y="1714500"/>
                </a:lnTo>
                <a:lnTo>
                  <a:pt x="0" y="0"/>
                </a:lnTo>
                <a:close/>
              </a:path>
            </a:pathLst>
          </a:custGeom>
          <a:blipFill>
            <a:blip r:embed="rId7"/>
            <a:stretch>
              <a:fillRect/>
            </a:stretch>
          </a:blipFill>
        </p:spPr>
        <p:txBody>
          <a:bodyPr/>
          <a:lstStyle/>
          <a:p>
            <a:endParaRPr/>
          </a:p>
        </p:txBody>
      </p:sp>
      <p:sp>
        <p:nvSpPr>
          <p:cNvPr id="8" name="Freeform 8"/>
          <p:cNvSpPr/>
          <p:nvPr/>
        </p:nvSpPr>
        <p:spPr>
          <a:xfrm>
            <a:off x="3048000" y="2571750"/>
            <a:ext cx="876300" cy="857250"/>
          </a:xfrm>
          <a:custGeom>
            <a:avLst/>
            <a:gdLst/>
            <a:ahLst/>
            <a:cxnLst/>
            <a:rect l="l" t="t" r="r" b="b"/>
            <a:pathLst>
              <a:path w="876300" h="857250">
                <a:moveTo>
                  <a:pt x="0" y="0"/>
                </a:moveTo>
                <a:lnTo>
                  <a:pt x="876300" y="0"/>
                </a:lnTo>
                <a:lnTo>
                  <a:pt x="876300" y="857250"/>
                </a:lnTo>
                <a:lnTo>
                  <a:pt x="0" y="857250"/>
                </a:lnTo>
                <a:lnTo>
                  <a:pt x="0" y="0"/>
                </a:lnTo>
                <a:close/>
              </a:path>
            </a:pathLst>
          </a:custGeom>
          <a:blipFill>
            <a:blip r:embed="rId8"/>
            <a:stretch>
              <a:fillRect/>
            </a:stretch>
          </a:blipFill>
        </p:spPr>
        <p:txBody>
          <a:bodyPr/>
          <a:lstStyle/>
          <a:p>
            <a:endParaRPr/>
          </a:p>
        </p:txBody>
      </p:sp>
      <p:sp>
        <p:nvSpPr>
          <p:cNvPr id="9" name="TextBox 9"/>
          <p:cNvSpPr txBox="1"/>
          <p:nvPr/>
        </p:nvSpPr>
        <p:spPr>
          <a:xfrm>
            <a:off x="2460307" y="3652204"/>
            <a:ext cx="1986142" cy="2027296"/>
          </a:xfrm>
          <a:prstGeom prst="rect">
            <a:avLst/>
          </a:prstGeom>
        </p:spPr>
        <p:txBody>
          <a:bodyPr lIns="0" tIns="0" rIns="0" bIns="0" rtlCol="0" anchor="t">
            <a:spAutoFit/>
          </a:bodyPr>
          <a:lstStyle/>
          <a:p>
            <a:pPr algn="ctr">
              <a:lnSpc>
                <a:spcPts val="15976"/>
              </a:lnSpc>
            </a:pPr>
            <a:r>
              <a:rPr lang="en-US" sz="13311" b="1">
                <a:solidFill>
                  <a:srgbClr val="3AE1FA"/>
                </a:solidFill>
                <a:latin typeface="Roboto Bold"/>
                <a:ea typeface="Roboto Bold"/>
                <a:cs typeface="Roboto Bold"/>
                <a:sym typeface="Roboto Bold"/>
              </a:rPr>
              <a:t>01</a:t>
            </a:r>
          </a:p>
        </p:txBody>
      </p:sp>
      <p:sp>
        <p:nvSpPr>
          <p:cNvPr id="10" name="TextBox 10"/>
          <p:cNvSpPr txBox="1"/>
          <p:nvPr/>
        </p:nvSpPr>
        <p:spPr>
          <a:xfrm>
            <a:off x="1980715" y="5671430"/>
            <a:ext cx="2945327"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VECTOR 8 CHIỀU</a:t>
            </a:r>
          </a:p>
        </p:txBody>
      </p:sp>
      <p:sp>
        <p:nvSpPr>
          <p:cNvPr id="11" name="Freeform 11"/>
          <p:cNvSpPr/>
          <p:nvPr/>
        </p:nvSpPr>
        <p:spPr>
          <a:xfrm>
            <a:off x="2828925" y="6429375"/>
            <a:ext cx="1314450" cy="219075"/>
          </a:xfrm>
          <a:custGeom>
            <a:avLst/>
            <a:gdLst/>
            <a:ahLst/>
            <a:cxnLst/>
            <a:rect l="l" t="t" r="r" b="b"/>
            <a:pathLst>
              <a:path w="1314450" h="219075">
                <a:moveTo>
                  <a:pt x="0" y="0"/>
                </a:moveTo>
                <a:lnTo>
                  <a:pt x="1314450" y="0"/>
                </a:lnTo>
                <a:lnTo>
                  <a:pt x="1314450" y="219075"/>
                </a:lnTo>
                <a:lnTo>
                  <a:pt x="0" y="219075"/>
                </a:lnTo>
                <a:lnTo>
                  <a:pt x="0" y="0"/>
                </a:lnTo>
                <a:close/>
              </a:path>
            </a:pathLst>
          </a:custGeom>
          <a:blipFill>
            <a:blip r:embed="rId9"/>
            <a:stretch>
              <a:fillRect/>
            </a:stretch>
          </a:blipFill>
        </p:spPr>
        <p:txBody>
          <a:bodyPr/>
          <a:lstStyle/>
          <a:p>
            <a:endParaRPr/>
          </a:p>
        </p:txBody>
      </p:sp>
      <p:sp>
        <p:nvSpPr>
          <p:cNvPr id="12" name="TextBox 12"/>
          <p:cNvSpPr txBox="1"/>
          <p:nvPr/>
        </p:nvSpPr>
        <p:spPr>
          <a:xfrm>
            <a:off x="1557304" y="6954946"/>
            <a:ext cx="3792147" cy="447749"/>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Đầu ra là xác suất bỏ học.</a:t>
            </a:r>
          </a:p>
        </p:txBody>
      </p:sp>
      <p:sp>
        <p:nvSpPr>
          <p:cNvPr id="13" name="Freeform 13"/>
          <p:cNvSpPr/>
          <p:nvPr/>
        </p:nvSpPr>
        <p:spPr>
          <a:xfrm>
            <a:off x="5657850" y="55721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10"/>
            <a:stretch>
              <a:fillRect/>
            </a:stretch>
          </a:blipFill>
        </p:spPr>
        <p:txBody>
          <a:bodyPr/>
          <a:lstStyle/>
          <a:p>
            <a:endParaRPr/>
          </a:p>
        </p:txBody>
      </p:sp>
      <p:sp>
        <p:nvSpPr>
          <p:cNvPr id="14" name="Freeform 14"/>
          <p:cNvSpPr/>
          <p:nvPr/>
        </p:nvSpPr>
        <p:spPr>
          <a:xfrm>
            <a:off x="6524625" y="2781300"/>
            <a:ext cx="5019675" cy="6010275"/>
          </a:xfrm>
          <a:custGeom>
            <a:avLst/>
            <a:gdLst/>
            <a:ahLst/>
            <a:cxnLst/>
            <a:rect l="l" t="t" r="r" b="b"/>
            <a:pathLst>
              <a:path w="5019675" h="6010275">
                <a:moveTo>
                  <a:pt x="0" y="0"/>
                </a:moveTo>
                <a:lnTo>
                  <a:pt x="5019675" y="0"/>
                </a:lnTo>
                <a:lnTo>
                  <a:pt x="5019675" y="6010275"/>
                </a:lnTo>
                <a:lnTo>
                  <a:pt x="0" y="6010275"/>
                </a:lnTo>
                <a:lnTo>
                  <a:pt x="0" y="0"/>
                </a:lnTo>
                <a:close/>
              </a:path>
            </a:pathLst>
          </a:custGeom>
          <a:blipFill>
            <a:blip r:embed="rId11"/>
            <a:stretch>
              <a:fillRect/>
            </a:stretch>
          </a:blipFill>
        </p:spPr>
        <p:txBody>
          <a:bodyPr/>
          <a:lstStyle/>
          <a:p>
            <a:endParaRPr/>
          </a:p>
        </p:txBody>
      </p:sp>
      <p:sp>
        <p:nvSpPr>
          <p:cNvPr id="15" name="Freeform 15"/>
          <p:cNvSpPr/>
          <p:nvPr/>
        </p:nvSpPr>
        <p:spPr>
          <a:xfrm>
            <a:off x="8267700" y="2143125"/>
            <a:ext cx="1752600" cy="1714500"/>
          </a:xfrm>
          <a:custGeom>
            <a:avLst/>
            <a:gdLst/>
            <a:ahLst/>
            <a:cxnLst/>
            <a:rect l="l" t="t" r="r" b="b"/>
            <a:pathLst>
              <a:path w="1752600" h="1714500">
                <a:moveTo>
                  <a:pt x="0" y="0"/>
                </a:moveTo>
                <a:lnTo>
                  <a:pt x="1752600" y="0"/>
                </a:lnTo>
                <a:lnTo>
                  <a:pt x="1752600" y="1714500"/>
                </a:lnTo>
                <a:lnTo>
                  <a:pt x="0" y="1714500"/>
                </a:lnTo>
                <a:lnTo>
                  <a:pt x="0" y="0"/>
                </a:lnTo>
                <a:close/>
              </a:path>
            </a:pathLst>
          </a:custGeom>
          <a:blipFill>
            <a:blip r:embed="rId12"/>
            <a:stretch>
              <a:fillRect/>
            </a:stretch>
          </a:blipFill>
        </p:spPr>
        <p:txBody>
          <a:bodyPr/>
          <a:lstStyle/>
          <a:p>
            <a:endParaRPr/>
          </a:p>
        </p:txBody>
      </p:sp>
      <p:sp>
        <p:nvSpPr>
          <p:cNvPr id="16" name="Freeform 16"/>
          <p:cNvSpPr/>
          <p:nvPr/>
        </p:nvSpPr>
        <p:spPr>
          <a:xfrm>
            <a:off x="8705850" y="2571750"/>
            <a:ext cx="876300" cy="857250"/>
          </a:xfrm>
          <a:custGeom>
            <a:avLst/>
            <a:gdLst/>
            <a:ahLst/>
            <a:cxnLst/>
            <a:rect l="l" t="t" r="r" b="b"/>
            <a:pathLst>
              <a:path w="876300" h="857250">
                <a:moveTo>
                  <a:pt x="0" y="0"/>
                </a:moveTo>
                <a:lnTo>
                  <a:pt x="876300" y="0"/>
                </a:lnTo>
                <a:lnTo>
                  <a:pt x="876300" y="857250"/>
                </a:lnTo>
                <a:lnTo>
                  <a:pt x="0" y="857250"/>
                </a:lnTo>
                <a:lnTo>
                  <a:pt x="0" y="0"/>
                </a:lnTo>
                <a:close/>
              </a:path>
            </a:pathLst>
          </a:custGeom>
          <a:blipFill>
            <a:blip r:embed="rId13"/>
            <a:stretch>
              <a:fillRect/>
            </a:stretch>
          </a:blipFill>
        </p:spPr>
        <p:txBody>
          <a:bodyPr/>
          <a:lstStyle/>
          <a:p>
            <a:endParaRPr/>
          </a:p>
        </p:txBody>
      </p:sp>
      <p:sp>
        <p:nvSpPr>
          <p:cNvPr id="17" name="TextBox 17"/>
          <p:cNvSpPr txBox="1"/>
          <p:nvPr/>
        </p:nvSpPr>
        <p:spPr>
          <a:xfrm>
            <a:off x="8086010" y="3652204"/>
            <a:ext cx="1986142" cy="2027296"/>
          </a:xfrm>
          <a:prstGeom prst="rect">
            <a:avLst/>
          </a:prstGeom>
        </p:spPr>
        <p:txBody>
          <a:bodyPr lIns="0" tIns="0" rIns="0" bIns="0" rtlCol="0" anchor="t">
            <a:spAutoFit/>
          </a:bodyPr>
          <a:lstStyle/>
          <a:p>
            <a:pPr algn="ctr">
              <a:lnSpc>
                <a:spcPts val="15976"/>
              </a:lnSpc>
            </a:pPr>
            <a:r>
              <a:rPr lang="en-US" sz="13311" b="1">
                <a:solidFill>
                  <a:srgbClr val="30C4FD"/>
                </a:solidFill>
                <a:latin typeface="Roboto Bold"/>
                <a:ea typeface="Roboto Bold"/>
                <a:cs typeface="Roboto Bold"/>
                <a:sym typeface="Roboto Bold"/>
              </a:rPr>
              <a:t>02</a:t>
            </a:r>
          </a:p>
        </p:txBody>
      </p:sp>
      <p:sp>
        <p:nvSpPr>
          <p:cNvPr id="18" name="TextBox 18"/>
          <p:cNvSpPr txBox="1"/>
          <p:nvPr/>
        </p:nvSpPr>
        <p:spPr>
          <a:xfrm>
            <a:off x="7376783" y="5671430"/>
            <a:ext cx="3404595"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TOÁN HỌC CỐT LÕI</a:t>
            </a:r>
          </a:p>
        </p:txBody>
      </p:sp>
      <p:sp>
        <p:nvSpPr>
          <p:cNvPr id="19" name="Freeform 19"/>
          <p:cNvSpPr/>
          <p:nvPr/>
        </p:nvSpPr>
        <p:spPr>
          <a:xfrm>
            <a:off x="8486775" y="6429375"/>
            <a:ext cx="1314450" cy="219075"/>
          </a:xfrm>
          <a:custGeom>
            <a:avLst/>
            <a:gdLst/>
            <a:ahLst/>
            <a:cxnLst/>
            <a:rect l="l" t="t" r="r" b="b"/>
            <a:pathLst>
              <a:path w="1314450" h="219075">
                <a:moveTo>
                  <a:pt x="0" y="0"/>
                </a:moveTo>
                <a:lnTo>
                  <a:pt x="1314450" y="0"/>
                </a:lnTo>
                <a:lnTo>
                  <a:pt x="1314450" y="219075"/>
                </a:lnTo>
                <a:lnTo>
                  <a:pt x="0" y="219075"/>
                </a:lnTo>
                <a:lnTo>
                  <a:pt x="0" y="0"/>
                </a:lnTo>
                <a:close/>
              </a:path>
            </a:pathLst>
          </a:custGeom>
          <a:blipFill>
            <a:blip r:embed="rId14"/>
            <a:stretch>
              <a:fillRect/>
            </a:stretch>
          </a:blipFill>
        </p:spPr>
        <p:txBody>
          <a:bodyPr/>
          <a:lstStyle/>
          <a:p>
            <a:endParaRPr/>
          </a:p>
        </p:txBody>
      </p:sp>
      <p:sp>
        <p:nvSpPr>
          <p:cNvPr id="20" name="TextBox 20"/>
          <p:cNvSpPr txBox="1"/>
          <p:nvPr/>
        </p:nvSpPr>
        <p:spPr>
          <a:xfrm>
            <a:off x="7489697" y="6759051"/>
            <a:ext cx="3178768" cy="1340718"/>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Chuẩn hóa · sigmoid ·</a:t>
            </a:r>
          </a:p>
          <a:p>
            <a:pPr algn="ctr">
              <a:lnSpc>
                <a:spcPts val="3605"/>
              </a:lnSpc>
            </a:pPr>
            <a:r>
              <a:rPr lang="en-US" sz="2575" spc="-25">
                <a:solidFill>
                  <a:srgbClr val="F6F6F6"/>
                </a:solidFill>
                <a:latin typeface="Roboto"/>
                <a:ea typeface="Roboto"/>
                <a:cs typeface="Roboto"/>
                <a:sym typeface="Roboto"/>
              </a:rPr>
              <a:t>cross-entropy ·</a:t>
            </a:r>
          </a:p>
          <a:p>
            <a:pPr algn="ctr">
              <a:lnSpc>
                <a:spcPts val="3605"/>
              </a:lnSpc>
            </a:pPr>
            <a:r>
              <a:rPr lang="en-US" sz="2575" spc="-25">
                <a:solidFill>
                  <a:srgbClr val="F6F6F6"/>
                </a:solidFill>
                <a:latin typeface="Roboto"/>
                <a:ea typeface="Roboto"/>
                <a:cs typeface="Roboto"/>
                <a:sym typeface="Roboto"/>
              </a:rPr>
              <a:t>gradient descent.</a:t>
            </a:r>
          </a:p>
        </p:txBody>
      </p:sp>
      <p:sp>
        <p:nvSpPr>
          <p:cNvPr id="21" name="Freeform 21"/>
          <p:cNvSpPr/>
          <p:nvPr/>
        </p:nvSpPr>
        <p:spPr>
          <a:xfrm>
            <a:off x="11315700" y="55721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15"/>
            <a:stretch>
              <a:fillRect/>
            </a:stretch>
          </a:blipFill>
        </p:spPr>
        <p:txBody>
          <a:bodyPr/>
          <a:lstStyle/>
          <a:p>
            <a:endParaRPr/>
          </a:p>
        </p:txBody>
      </p:sp>
      <p:sp>
        <p:nvSpPr>
          <p:cNvPr id="22" name="Freeform 22"/>
          <p:cNvSpPr/>
          <p:nvPr/>
        </p:nvSpPr>
        <p:spPr>
          <a:xfrm>
            <a:off x="12192000" y="2781300"/>
            <a:ext cx="5010150" cy="6010275"/>
          </a:xfrm>
          <a:custGeom>
            <a:avLst/>
            <a:gdLst/>
            <a:ahLst/>
            <a:cxnLst/>
            <a:rect l="l" t="t" r="r" b="b"/>
            <a:pathLst>
              <a:path w="5010150" h="6010275">
                <a:moveTo>
                  <a:pt x="0" y="0"/>
                </a:moveTo>
                <a:lnTo>
                  <a:pt x="5010150" y="0"/>
                </a:lnTo>
                <a:lnTo>
                  <a:pt x="5010150" y="6010275"/>
                </a:lnTo>
                <a:lnTo>
                  <a:pt x="0" y="6010275"/>
                </a:lnTo>
                <a:lnTo>
                  <a:pt x="0" y="0"/>
                </a:lnTo>
                <a:close/>
              </a:path>
            </a:pathLst>
          </a:custGeom>
          <a:blipFill>
            <a:blip r:embed="rId16"/>
            <a:stretch>
              <a:fillRect/>
            </a:stretch>
          </a:blipFill>
        </p:spPr>
        <p:txBody>
          <a:bodyPr/>
          <a:lstStyle/>
          <a:p>
            <a:endParaRPr/>
          </a:p>
        </p:txBody>
      </p:sp>
      <p:sp>
        <p:nvSpPr>
          <p:cNvPr id="23" name="Freeform 23"/>
          <p:cNvSpPr/>
          <p:nvPr/>
        </p:nvSpPr>
        <p:spPr>
          <a:xfrm>
            <a:off x="13925550" y="2143125"/>
            <a:ext cx="1533525" cy="1714500"/>
          </a:xfrm>
          <a:custGeom>
            <a:avLst/>
            <a:gdLst/>
            <a:ahLst/>
            <a:cxnLst/>
            <a:rect l="l" t="t" r="r" b="b"/>
            <a:pathLst>
              <a:path w="1533525" h="1714500">
                <a:moveTo>
                  <a:pt x="0" y="0"/>
                </a:moveTo>
                <a:lnTo>
                  <a:pt x="1533525" y="0"/>
                </a:lnTo>
                <a:lnTo>
                  <a:pt x="1533525" y="1714500"/>
                </a:lnTo>
                <a:lnTo>
                  <a:pt x="0" y="1714500"/>
                </a:lnTo>
                <a:lnTo>
                  <a:pt x="0" y="0"/>
                </a:lnTo>
                <a:close/>
              </a:path>
            </a:pathLst>
          </a:custGeom>
          <a:blipFill>
            <a:blip r:embed="rId17"/>
            <a:stretch>
              <a:fillRect/>
            </a:stretch>
          </a:blipFill>
        </p:spPr>
        <p:txBody>
          <a:bodyPr/>
          <a:lstStyle/>
          <a:p>
            <a:endParaRPr/>
          </a:p>
        </p:txBody>
      </p:sp>
      <p:sp>
        <p:nvSpPr>
          <p:cNvPr id="24" name="Freeform 24"/>
          <p:cNvSpPr/>
          <p:nvPr/>
        </p:nvSpPr>
        <p:spPr>
          <a:xfrm>
            <a:off x="14144625" y="257175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18"/>
            <a:stretch>
              <a:fillRect/>
            </a:stretch>
          </a:blipFill>
        </p:spPr>
        <p:txBody>
          <a:bodyPr/>
          <a:lstStyle/>
          <a:p>
            <a:endParaRPr/>
          </a:p>
        </p:txBody>
      </p:sp>
      <p:sp>
        <p:nvSpPr>
          <p:cNvPr id="25" name="TextBox 25"/>
          <p:cNvSpPr txBox="1"/>
          <p:nvPr/>
        </p:nvSpPr>
        <p:spPr>
          <a:xfrm>
            <a:off x="13681174" y="3652204"/>
            <a:ext cx="1986142" cy="2027296"/>
          </a:xfrm>
          <a:prstGeom prst="rect">
            <a:avLst/>
          </a:prstGeom>
        </p:spPr>
        <p:txBody>
          <a:bodyPr lIns="0" tIns="0" rIns="0" bIns="0" rtlCol="0" anchor="t">
            <a:spAutoFit/>
          </a:bodyPr>
          <a:lstStyle/>
          <a:p>
            <a:pPr algn="ctr">
              <a:lnSpc>
                <a:spcPts val="15976"/>
              </a:lnSpc>
            </a:pPr>
            <a:r>
              <a:rPr lang="en-US" sz="13311" b="1">
                <a:solidFill>
                  <a:srgbClr val="3AE1FA"/>
                </a:solidFill>
                <a:latin typeface="Roboto Bold"/>
                <a:ea typeface="Roboto Bold"/>
                <a:cs typeface="Roboto Bold"/>
                <a:sym typeface="Roboto Bold"/>
              </a:rPr>
              <a:t>03</a:t>
            </a:r>
          </a:p>
        </p:txBody>
      </p:sp>
      <p:sp>
        <p:nvSpPr>
          <p:cNvPr id="26" name="TextBox 26"/>
          <p:cNvSpPr txBox="1"/>
          <p:nvPr/>
        </p:nvSpPr>
        <p:spPr>
          <a:xfrm>
            <a:off x="12795668" y="5671430"/>
            <a:ext cx="3757152"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HAI HƯỚNG MÔ HÌNH</a:t>
            </a:r>
          </a:p>
        </p:txBody>
      </p:sp>
      <p:sp>
        <p:nvSpPr>
          <p:cNvPr id="27" name="Freeform 27"/>
          <p:cNvSpPr/>
          <p:nvPr/>
        </p:nvSpPr>
        <p:spPr>
          <a:xfrm>
            <a:off x="14144625" y="6429375"/>
            <a:ext cx="1095375" cy="219075"/>
          </a:xfrm>
          <a:custGeom>
            <a:avLst/>
            <a:gdLst/>
            <a:ahLst/>
            <a:cxnLst/>
            <a:rect l="l" t="t" r="r" b="b"/>
            <a:pathLst>
              <a:path w="1095375" h="219075">
                <a:moveTo>
                  <a:pt x="0" y="0"/>
                </a:moveTo>
                <a:lnTo>
                  <a:pt x="1095375" y="0"/>
                </a:lnTo>
                <a:lnTo>
                  <a:pt x="1095375" y="219075"/>
                </a:lnTo>
                <a:lnTo>
                  <a:pt x="0" y="219075"/>
                </a:lnTo>
                <a:lnTo>
                  <a:pt x="0" y="0"/>
                </a:lnTo>
                <a:close/>
              </a:path>
            </a:pathLst>
          </a:custGeom>
          <a:blipFill>
            <a:blip r:embed="rId19"/>
            <a:stretch>
              <a:fillRect/>
            </a:stretch>
          </a:blipFill>
        </p:spPr>
        <p:txBody>
          <a:bodyPr/>
          <a:lstStyle/>
          <a:p>
            <a:endParaRPr/>
          </a:p>
        </p:txBody>
      </p:sp>
      <p:sp>
        <p:nvSpPr>
          <p:cNvPr id="28" name="TextBox 28"/>
          <p:cNvSpPr txBox="1"/>
          <p:nvPr/>
        </p:nvSpPr>
        <p:spPr>
          <a:xfrm>
            <a:off x="12564017" y="6819326"/>
            <a:ext cx="4220456" cy="894234"/>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Logistic là baseline mạnh; TabICLv2 nhỉnh hơn về AUC, chưa rõ về Accuracy.</a:t>
            </a:r>
          </a:p>
        </p:txBody>
      </p:sp>
    </p:spTree>
    <p:extLst>
      <p:ext uri="{BB962C8B-B14F-4D97-AF65-F5344CB8AC3E}">
        <p14:creationId xmlns:p14="http://schemas.microsoft.com/office/powerpoint/2010/main" val="2870643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0" y="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4"/>
            <a:stretch>
              <a:fillRect/>
            </a:stretch>
          </a:blipFill>
        </p:spPr>
        <p:txBody>
          <a:bodyPr/>
          <a:lstStyle/>
          <a:p>
            <a:endParaRPr/>
          </a:p>
        </p:txBody>
      </p:sp>
      <p:sp>
        <p:nvSpPr>
          <p:cNvPr id="4" name="Freeform 4"/>
          <p:cNvSpPr/>
          <p:nvPr/>
        </p:nvSpPr>
        <p:spPr>
          <a:xfrm>
            <a:off x="15020925" y="0"/>
            <a:ext cx="3267075" cy="2143125"/>
          </a:xfrm>
          <a:custGeom>
            <a:avLst/>
            <a:gdLst/>
            <a:ahLst/>
            <a:cxnLst/>
            <a:rect l="l" t="t" r="r" b="b"/>
            <a:pathLst>
              <a:path w="3267075" h="2143125">
                <a:moveTo>
                  <a:pt x="0" y="0"/>
                </a:moveTo>
                <a:lnTo>
                  <a:pt x="3267075" y="0"/>
                </a:lnTo>
                <a:lnTo>
                  <a:pt x="3267075" y="2143125"/>
                </a:lnTo>
                <a:lnTo>
                  <a:pt x="0" y="2143125"/>
                </a:lnTo>
                <a:lnTo>
                  <a:pt x="0" y="0"/>
                </a:lnTo>
                <a:close/>
              </a:path>
            </a:pathLst>
          </a:custGeom>
          <a:blipFill>
            <a:blip r:embed="rId5"/>
            <a:stretch>
              <a:fillRect/>
            </a:stretch>
          </a:blipFill>
        </p:spPr>
        <p:txBody>
          <a:bodyPr/>
          <a:lstStyle/>
          <a:p>
            <a:endParaRPr/>
          </a:p>
        </p:txBody>
      </p:sp>
      <p:sp>
        <p:nvSpPr>
          <p:cNvPr id="5" name="Freeform 5"/>
          <p:cNvSpPr/>
          <p:nvPr/>
        </p:nvSpPr>
        <p:spPr>
          <a:xfrm>
            <a:off x="647700" y="1495425"/>
            <a:ext cx="1314450" cy="438150"/>
          </a:xfrm>
          <a:custGeom>
            <a:avLst/>
            <a:gdLst/>
            <a:ahLst/>
            <a:cxnLst/>
            <a:rect l="l" t="t" r="r" b="b"/>
            <a:pathLst>
              <a:path w="1314450" h="438150">
                <a:moveTo>
                  <a:pt x="0" y="0"/>
                </a:moveTo>
                <a:lnTo>
                  <a:pt x="1314450" y="0"/>
                </a:lnTo>
                <a:lnTo>
                  <a:pt x="1314450" y="438150"/>
                </a:lnTo>
                <a:lnTo>
                  <a:pt x="0" y="438150"/>
                </a:lnTo>
                <a:lnTo>
                  <a:pt x="0" y="0"/>
                </a:lnTo>
                <a:close/>
              </a:path>
            </a:pathLst>
          </a:custGeom>
          <a:blipFill>
            <a:blip r:embed="rId6"/>
            <a:stretch>
              <a:fillRect/>
            </a:stretch>
          </a:blipFill>
        </p:spPr>
        <p:txBody>
          <a:bodyPr/>
          <a:lstStyle/>
          <a:p>
            <a:endParaRPr/>
          </a:p>
        </p:txBody>
      </p:sp>
      <p:sp>
        <p:nvSpPr>
          <p:cNvPr id="6" name="TextBox 6"/>
          <p:cNvSpPr txBox="1"/>
          <p:nvPr/>
        </p:nvSpPr>
        <p:spPr>
          <a:xfrm>
            <a:off x="635529" y="627347"/>
            <a:ext cx="11456510" cy="865436"/>
          </a:xfrm>
          <a:prstGeom prst="rect">
            <a:avLst/>
          </a:prstGeom>
        </p:spPr>
        <p:txBody>
          <a:bodyPr lIns="0" tIns="0" rIns="0" bIns="0" rtlCol="0" anchor="t">
            <a:spAutoFit/>
          </a:bodyPr>
          <a:lstStyle/>
          <a:p>
            <a:pPr algn="l">
              <a:lnSpc>
                <a:spcPts val="6999"/>
              </a:lnSpc>
            </a:pPr>
            <a:r>
              <a:rPr lang="en-US" sz="5831" b="1">
                <a:solidFill>
                  <a:srgbClr val="F6F6F6"/>
                </a:solidFill>
                <a:latin typeface="Inter Bold"/>
                <a:ea typeface="Inter Bold"/>
                <a:cs typeface="Inter Bold"/>
                <a:sym typeface="Inter Bold"/>
              </a:rPr>
              <a:t>Hạn chế mở ra câu hỏi tiếp theo</a:t>
            </a:r>
          </a:p>
        </p:txBody>
      </p:sp>
      <p:sp>
        <p:nvSpPr>
          <p:cNvPr id="7" name="Freeform 7"/>
          <p:cNvSpPr/>
          <p:nvPr/>
        </p:nvSpPr>
        <p:spPr>
          <a:xfrm>
            <a:off x="647700" y="2781300"/>
            <a:ext cx="3924300" cy="3438525"/>
          </a:xfrm>
          <a:custGeom>
            <a:avLst/>
            <a:gdLst/>
            <a:ahLst/>
            <a:cxnLst/>
            <a:rect l="l" t="t" r="r" b="b"/>
            <a:pathLst>
              <a:path w="3924300" h="3438525">
                <a:moveTo>
                  <a:pt x="0" y="0"/>
                </a:moveTo>
                <a:lnTo>
                  <a:pt x="3924300" y="0"/>
                </a:lnTo>
                <a:lnTo>
                  <a:pt x="3924300" y="3438525"/>
                </a:lnTo>
                <a:lnTo>
                  <a:pt x="0" y="3438525"/>
                </a:lnTo>
                <a:lnTo>
                  <a:pt x="0" y="0"/>
                </a:lnTo>
                <a:close/>
              </a:path>
            </a:pathLst>
          </a:custGeom>
          <a:blipFill>
            <a:blip r:embed="rId7"/>
            <a:stretch>
              <a:fillRect/>
            </a:stretch>
          </a:blipFill>
        </p:spPr>
        <p:txBody>
          <a:bodyPr/>
          <a:lstStyle/>
          <a:p>
            <a:endParaRPr/>
          </a:p>
        </p:txBody>
      </p:sp>
      <p:sp>
        <p:nvSpPr>
          <p:cNvPr id="8" name="Freeform 8"/>
          <p:cNvSpPr/>
          <p:nvPr/>
        </p:nvSpPr>
        <p:spPr>
          <a:xfrm>
            <a:off x="1733550"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8"/>
            <a:stretch>
              <a:fillRect/>
            </a:stretch>
          </a:blipFill>
        </p:spPr>
        <p:txBody>
          <a:bodyPr/>
          <a:lstStyle/>
          <a:p>
            <a:endParaRPr/>
          </a:p>
        </p:txBody>
      </p:sp>
      <p:sp>
        <p:nvSpPr>
          <p:cNvPr id="9" name="TextBox 9"/>
          <p:cNvSpPr txBox="1"/>
          <p:nvPr/>
        </p:nvSpPr>
        <p:spPr>
          <a:xfrm>
            <a:off x="2239763" y="2441153"/>
            <a:ext cx="662367"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01</a:t>
            </a:r>
          </a:p>
        </p:txBody>
      </p:sp>
      <p:sp>
        <p:nvSpPr>
          <p:cNvPr id="10" name="Freeform 10"/>
          <p:cNvSpPr/>
          <p:nvPr/>
        </p:nvSpPr>
        <p:spPr>
          <a:xfrm>
            <a:off x="1733550" y="3429000"/>
            <a:ext cx="1752600" cy="1504950"/>
          </a:xfrm>
          <a:custGeom>
            <a:avLst/>
            <a:gdLst/>
            <a:ahLst/>
            <a:cxnLst/>
            <a:rect l="l" t="t" r="r" b="b"/>
            <a:pathLst>
              <a:path w="1752600" h="1504950">
                <a:moveTo>
                  <a:pt x="0" y="0"/>
                </a:moveTo>
                <a:lnTo>
                  <a:pt x="1752600" y="0"/>
                </a:lnTo>
                <a:lnTo>
                  <a:pt x="1752600" y="1504950"/>
                </a:lnTo>
                <a:lnTo>
                  <a:pt x="0" y="1504950"/>
                </a:lnTo>
                <a:lnTo>
                  <a:pt x="0" y="0"/>
                </a:lnTo>
                <a:close/>
              </a:path>
            </a:pathLst>
          </a:custGeom>
          <a:blipFill>
            <a:blip r:embed="rId9"/>
            <a:stretch>
              <a:fillRect/>
            </a:stretch>
          </a:blipFill>
        </p:spPr>
        <p:txBody>
          <a:bodyPr/>
          <a:lstStyle/>
          <a:p>
            <a:endParaRPr/>
          </a:p>
        </p:txBody>
      </p:sp>
      <p:sp>
        <p:nvSpPr>
          <p:cNvPr id="11" name="TextBox 11"/>
          <p:cNvSpPr txBox="1"/>
          <p:nvPr/>
        </p:nvSpPr>
        <p:spPr>
          <a:xfrm>
            <a:off x="1263528" y="5015364"/>
            <a:ext cx="2633053"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TabICLv2 mới chạy</a:t>
            </a:r>
          </a:p>
          <a:p>
            <a:pPr algn="ctr">
              <a:lnSpc>
                <a:spcPts val="3359"/>
              </a:lnSpc>
            </a:pPr>
            <a:r>
              <a:rPr lang="en-US" sz="2399" b="1" spc="-48">
                <a:solidFill>
                  <a:srgbClr val="F6F6F6"/>
                </a:solidFill>
                <a:latin typeface="Inter Semi-Bold"/>
                <a:ea typeface="Inter Semi-Bold"/>
                <a:cs typeface="Inter Semi-Bold"/>
                <a:sym typeface="Inter Semi-Bold"/>
              </a:rPr>
              <a:t>một lần</a:t>
            </a:r>
          </a:p>
        </p:txBody>
      </p:sp>
      <p:sp>
        <p:nvSpPr>
          <p:cNvPr id="12" name="Freeform 12"/>
          <p:cNvSpPr/>
          <p:nvPr/>
        </p:nvSpPr>
        <p:spPr>
          <a:xfrm>
            <a:off x="4572000" y="2781300"/>
            <a:ext cx="4362450" cy="3438525"/>
          </a:xfrm>
          <a:custGeom>
            <a:avLst/>
            <a:gdLst/>
            <a:ahLst/>
            <a:cxnLst/>
            <a:rect l="l" t="t" r="r" b="b"/>
            <a:pathLst>
              <a:path w="4362450" h="3438525">
                <a:moveTo>
                  <a:pt x="0" y="0"/>
                </a:moveTo>
                <a:lnTo>
                  <a:pt x="4362450" y="0"/>
                </a:lnTo>
                <a:lnTo>
                  <a:pt x="4362450" y="3438525"/>
                </a:lnTo>
                <a:lnTo>
                  <a:pt x="0" y="3438525"/>
                </a:lnTo>
                <a:lnTo>
                  <a:pt x="0" y="0"/>
                </a:lnTo>
                <a:close/>
              </a:path>
            </a:pathLst>
          </a:custGeom>
          <a:blipFill>
            <a:blip r:embed="rId10"/>
            <a:stretch>
              <a:fillRect/>
            </a:stretch>
          </a:blipFill>
        </p:spPr>
        <p:txBody>
          <a:bodyPr/>
          <a:lstStyle/>
          <a:p>
            <a:endParaRPr/>
          </a:p>
        </p:txBody>
      </p:sp>
      <p:sp>
        <p:nvSpPr>
          <p:cNvPr id="13" name="Freeform 13"/>
          <p:cNvSpPr/>
          <p:nvPr/>
        </p:nvSpPr>
        <p:spPr>
          <a:xfrm>
            <a:off x="6096000" y="2143125"/>
            <a:ext cx="1524000" cy="1285875"/>
          </a:xfrm>
          <a:custGeom>
            <a:avLst/>
            <a:gdLst/>
            <a:ahLst/>
            <a:cxnLst/>
            <a:rect l="l" t="t" r="r" b="b"/>
            <a:pathLst>
              <a:path w="1524000" h="1285875">
                <a:moveTo>
                  <a:pt x="0" y="0"/>
                </a:moveTo>
                <a:lnTo>
                  <a:pt x="1524000" y="0"/>
                </a:lnTo>
                <a:lnTo>
                  <a:pt x="1524000" y="1285875"/>
                </a:lnTo>
                <a:lnTo>
                  <a:pt x="0" y="1285875"/>
                </a:lnTo>
                <a:lnTo>
                  <a:pt x="0" y="0"/>
                </a:lnTo>
                <a:close/>
              </a:path>
            </a:pathLst>
          </a:custGeom>
          <a:blipFill>
            <a:blip r:embed="rId11"/>
            <a:stretch>
              <a:fillRect/>
            </a:stretch>
          </a:blipFill>
        </p:spPr>
        <p:txBody>
          <a:bodyPr/>
          <a:lstStyle/>
          <a:p>
            <a:endParaRPr/>
          </a:p>
        </p:txBody>
      </p:sp>
      <p:sp>
        <p:nvSpPr>
          <p:cNvPr id="14" name="TextBox 14"/>
          <p:cNvSpPr txBox="1"/>
          <p:nvPr/>
        </p:nvSpPr>
        <p:spPr>
          <a:xfrm>
            <a:off x="6411506" y="2441153"/>
            <a:ext cx="784225"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02</a:t>
            </a:r>
          </a:p>
        </p:txBody>
      </p:sp>
      <p:sp>
        <p:nvSpPr>
          <p:cNvPr id="15" name="Freeform 15"/>
          <p:cNvSpPr/>
          <p:nvPr/>
        </p:nvSpPr>
        <p:spPr>
          <a:xfrm>
            <a:off x="5876925" y="3429000"/>
            <a:ext cx="1743075" cy="1504950"/>
          </a:xfrm>
          <a:custGeom>
            <a:avLst/>
            <a:gdLst/>
            <a:ahLst/>
            <a:cxnLst/>
            <a:rect l="l" t="t" r="r" b="b"/>
            <a:pathLst>
              <a:path w="1743075" h="1504950">
                <a:moveTo>
                  <a:pt x="0" y="0"/>
                </a:moveTo>
                <a:lnTo>
                  <a:pt x="1743075" y="0"/>
                </a:lnTo>
                <a:lnTo>
                  <a:pt x="1743075" y="1504950"/>
                </a:lnTo>
                <a:lnTo>
                  <a:pt x="0" y="1504950"/>
                </a:lnTo>
                <a:lnTo>
                  <a:pt x="0" y="0"/>
                </a:lnTo>
                <a:close/>
              </a:path>
            </a:pathLst>
          </a:custGeom>
          <a:blipFill>
            <a:blip r:embed="rId12"/>
            <a:stretch>
              <a:fillRect/>
            </a:stretch>
          </a:blipFill>
        </p:spPr>
        <p:txBody>
          <a:bodyPr/>
          <a:lstStyle/>
          <a:p>
            <a:endParaRPr/>
          </a:p>
        </p:txBody>
      </p:sp>
      <p:sp>
        <p:nvSpPr>
          <p:cNvPr id="16" name="TextBox 16"/>
          <p:cNvSpPr txBox="1"/>
          <p:nvPr/>
        </p:nvSpPr>
        <p:spPr>
          <a:xfrm>
            <a:off x="4924973" y="5015364"/>
            <a:ext cx="3705856"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Tương quan cao; </a:t>
            </a:r>
          </a:p>
          <a:p>
            <a:pPr algn="ctr">
              <a:lnSpc>
                <a:spcPts val="3359"/>
              </a:lnSpc>
            </a:pPr>
            <a:r>
              <a:rPr lang="en-US" sz="2399" b="1" spc="-48">
                <a:solidFill>
                  <a:srgbClr val="F6F6F6"/>
                </a:solidFill>
                <a:latin typeface="Inter Semi-Bold"/>
                <a:ea typeface="Inter Semi-Bold"/>
                <a:cs typeface="Inter Semi-Bold"/>
                <a:sym typeface="Inter Semi-Bold"/>
              </a:rPr>
              <a:t>điểm HK2 gần với ‘đáp án’</a:t>
            </a:r>
          </a:p>
        </p:txBody>
      </p:sp>
      <p:sp>
        <p:nvSpPr>
          <p:cNvPr id="17" name="Freeform 17"/>
          <p:cNvSpPr/>
          <p:nvPr/>
        </p:nvSpPr>
        <p:spPr>
          <a:xfrm>
            <a:off x="8924925" y="2781300"/>
            <a:ext cx="4362450" cy="3438525"/>
          </a:xfrm>
          <a:custGeom>
            <a:avLst/>
            <a:gdLst/>
            <a:ahLst/>
            <a:cxnLst/>
            <a:rect l="l" t="t" r="r" b="b"/>
            <a:pathLst>
              <a:path w="4362450" h="3438525">
                <a:moveTo>
                  <a:pt x="0" y="0"/>
                </a:moveTo>
                <a:lnTo>
                  <a:pt x="4362450" y="0"/>
                </a:lnTo>
                <a:lnTo>
                  <a:pt x="4362450" y="3438525"/>
                </a:lnTo>
                <a:lnTo>
                  <a:pt x="0" y="3438525"/>
                </a:lnTo>
                <a:lnTo>
                  <a:pt x="0" y="0"/>
                </a:lnTo>
                <a:close/>
              </a:path>
            </a:pathLst>
          </a:custGeom>
          <a:blipFill>
            <a:blip r:embed="rId13"/>
            <a:stretch>
              <a:fillRect/>
            </a:stretch>
          </a:blipFill>
        </p:spPr>
        <p:txBody>
          <a:bodyPr/>
          <a:lstStyle/>
          <a:p>
            <a:endParaRPr/>
          </a:p>
        </p:txBody>
      </p:sp>
      <p:sp>
        <p:nvSpPr>
          <p:cNvPr id="18" name="Freeform 18"/>
          <p:cNvSpPr/>
          <p:nvPr/>
        </p:nvSpPr>
        <p:spPr>
          <a:xfrm>
            <a:off x="10229850"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14"/>
            <a:stretch>
              <a:fillRect/>
            </a:stretch>
          </a:blipFill>
        </p:spPr>
        <p:txBody>
          <a:bodyPr/>
          <a:lstStyle/>
          <a:p>
            <a:endParaRPr/>
          </a:p>
        </p:txBody>
      </p:sp>
      <p:sp>
        <p:nvSpPr>
          <p:cNvPr id="19" name="TextBox 19"/>
          <p:cNvSpPr txBox="1"/>
          <p:nvPr/>
        </p:nvSpPr>
        <p:spPr>
          <a:xfrm>
            <a:off x="10692567" y="2441153"/>
            <a:ext cx="794603"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03</a:t>
            </a:r>
          </a:p>
        </p:txBody>
      </p:sp>
      <p:sp>
        <p:nvSpPr>
          <p:cNvPr id="20" name="Freeform 20"/>
          <p:cNvSpPr/>
          <p:nvPr/>
        </p:nvSpPr>
        <p:spPr>
          <a:xfrm>
            <a:off x="10229850" y="3429000"/>
            <a:ext cx="1752600" cy="1504950"/>
          </a:xfrm>
          <a:custGeom>
            <a:avLst/>
            <a:gdLst/>
            <a:ahLst/>
            <a:cxnLst/>
            <a:rect l="l" t="t" r="r" b="b"/>
            <a:pathLst>
              <a:path w="1752600" h="1504950">
                <a:moveTo>
                  <a:pt x="0" y="0"/>
                </a:moveTo>
                <a:lnTo>
                  <a:pt x="1752600" y="0"/>
                </a:lnTo>
                <a:lnTo>
                  <a:pt x="1752600" y="1504950"/>
                </a:lnTo>
                <a:lnTo>
                  <a:pt x="0" y="1504950"/>
                </a:lnTo>
                <a:lnTo>
                  <a:pt x="0" y="0"/>
                </a:lnTo>
                <a:close/>
              </a:path>
            </a:pathLst>
          </a:custGeom>
          <a:blipFill>
            <a:blip r:embed="rId15"/>
            <a:stretch>
              <a:fillRect/>
            </a:stretch>
          </a:blipFill>
        </p:spPr>
        <p:txBody>
          <a:bodyPr/>
          <a:lstStyle/>
          <a:p>
            <a:endParaRPr/>
          </a:p>
        </p:txBody>
      </p:sp>
      <p:sp>
        <p:nvSpPr>
          <p:cNvPr id="21" name="TextBox 21"/>
          <p:cNvSpPr txBox="1"/>
          <p:nvPr/>
        </p:nvSpPr>
        <p:spPr>
          <a:xfrm>
            <a:off x="9357043" y="5015365"/>
            <a:ext cx="3442612"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Mới chia dữ liệu một lần, chưa kiểm tra chéo</a:t>
            </a:r>
          </a:p>
        </p:txBody>
      </p:sp>
      <p:sp>
        <p:nvSpPr>
          <p:cNvPr id="22" name="Freeform 22"/>
          <p:cNvSpPr/>
          <p:nvPr/>
        </p:nvSpPr>
        <p:spPr>
          <a:xfrm>
            <a:off x="13277850" y="2781300"/>
            <a:ext cx="4143375" cy="3438525"/>
          </a:xfrm>
          <a:custGeom>
            <a:avLst/>
            <a:gdLst/>
            <a:ahLst/>
            <a:cxnLst/>
            <a:rect l="l" t="t" r="r" b="b"/>
            <a:pathLst>
              <a:path w="4143375" h="3438525">
                <a:moveTo>
                  <a:pt x="0" y="0"/>
                </a:moveTo>
                <a:lnTo>
                  <a:pt x="4143375" y="0"/>
                </a:lnTo>
                <a:lnTo>
                  <a:pt x="4143375" y="3438525"/>
                </a:lnTo>
                <a:lnTo>
                  <a:pt x="0" y="3438525"/>
                </a:lnTo>
                <a:lnTo>
                  <a:pt x="0" y="0"/>
                </a:lnTo>
                <a:close/>
              </a:path>
            </a:pathLst>
          </a:custGeom>
          <a:blipFill>
            <a:blip r:embed="rId16"/>
            <a:stretch>
              <a:fillRect/>
            </a:stretch>
          </a:blipFill>
        </p:spPr>
        <p:txBody>
          <a:bodyPr/>
          <a:lstStyle/>
          <a:p>
            <a:endParaRPr/>
          </a:p>
        </p:txBody>
      </p:sp>
      <p:sp>
        <p:nvSpPr>
          <p:cNvPr id="23" name="Freeform 23"/>
          <p:cNvSpPr/>
          <p:nvPr/>
        </p:nvSpPr>
        <p:spPr>
          <a:xfrm>
            <a:off x="14582775"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17"/>
            <a:stretch>
              <a:fillRect/>
            </a:stretch>
          </a:blipFill>
        </p:spPr>
        <p:txBody>
          <a:bodyPr/>
          <a:lstStyle/>
          <a:p>
            <a:endParaRPr/>
          </a:p>
        </p:txBody>
      </p:sp>
      <p:sp>
        <p:nvSpPr>
          <p:cNvPr id="24" name="TextBox 24"/>
          <p:cNvSpPr txBox="1"/>
          <p:nvPr/>
        </p:nvSpPr>
        <p:spPr>
          <a:xfrm>
            <a:off x="14888665" y="2441153"/>
            <a:ext cx="814171"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04</a:t>
            </a:r>
          </a:p>
        </p:txBody>
      </p:sp>
      <p:sp>
        <p:nvSpPr>
          <p:cNvPr id="25" name="Freeform 25"/>
          <p:cNvSpPr/>
          <p:nvPr/>
        </p:nvSpPr>
        <p:spPr>
          <a:xfrm>
            <a:off x="14582775" y="3429000"/>
            <a:ext cx="1533525" cy="1504950"/>
          </a:xfrm>
          <a:custGeom>
            <a:avLst/>
            <a:gdLst/>
            <a:ahLst/>
            <a:cxnLst/>
            <a:rect l="l" t="t" r="r" b="b"/>
            <a:pathLst>
              <a:path w="1533525" h="1504950">
                <a:moveTo>
                  <a:pt x="0" y="0"/>
                </a:moveTo>
                <a:lnTo>
                  <a:pt x="1533525" y="0"/>
                </a:lnTo>
                <a:lnTo>
                  <a:pt x="1533525" y="1504950"/>
                </a:lnTo>
                <a:lnTo>
                  <a:pt x="0" y="1504950"/>
                </a:lnTo>
                <a:lnTo>
                  <a:pt x="0" y="0"/>
                </a:lnTo>
                <a:close/>
              </a:path>
            </a:pathLst>
          </a:custGeom>
          <a:blipFill>
            <a:blip r:embed="rId18"/>
            <a:stretch>
              <a:fillRect/>
            </a:stretch>
          </a:blipFill>
        </p:spPr>
        <p:txBody>
          <a:bodyPr/>
          <a:lstStyle/>
          <a:p>
            <a:endParaRPr/>
          </a:p>
        </p:txBody>
      </p:sp>
      <p:sp>
        <p:nvSpPr>
          <p:cNvPr id="26" name="TextBox 26"/>
          <p:cNvSpPr txBox="1"/>
          <p:nvPr/>
        </p:nvSpPr>
        <p:spPr>
          <a:xfrm>
            <a:off x="13528461" y="5015364"/>
            <a:ext cx="3513684"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Cần thêm dữ liệu hành vi</a:t>
            </a:r>
          </a:p>
          <a:p>
            <a:pPr algn="ctr">
              <a:lnSpc>
                <a:spcPts val="3359"/>
              </a:lnSpc>
            </a:pPr>
            <a:r>
              <a:rPr lang="en-US" sz="2399" b="1" spc="-48">
                <a:solidFill>
                  <a:srgbClr val="F6F6F6"/>
                </a:solidFill>
                <a:latin typeface="Inter Semi-Bold"/>
                <a:ea typeface="Inter Semi-Bold"/>
                <a:cs typeface="Inter Semi-Bold"/>
                <a:sym typeface="Inter Semi-Bold"/>
              </a:rPr>
              <a:t>và mô hình mới</a:t>
            </a:r>
          </a:p>
        </p:txBody>
      </p:sp>
      <p:sp>
        <p:nvSpPr>
          <p:cNvPr id="27" name="Freeform 27"/>
          <p:cNvSpPr/>
          <p:nvPr/>
        </p:nvSpPr>
        <p:spPr>
          <a:xfrm>
            <a:off x="1524000" y="6429375"/>
            <a:ext cx="15240000" cy="3429000"/>
          </a:xfrm>
          <a:custGeom>
            <a:avLst/>
            <a:gdLst/>
            <a:ahLst/>
            <a:cxnLst/>
            <a:rect l="l" t="t" r="r" b="b"/>
            <a:pathLst>
              <a:path w="15240000" h="3429000">
                <a:moveTo>
                  <a:pt x="0" y="0"/>
                </a:moveTo>
                <a:lnTo>
                  <a:pt x="15240000" y="0"/>
                </a:lnTo>
                <a:lnTo>
                  <a:pt x="15240000" y="3429000"/>
                </a:lnTo>
                <a:lnTo>
                  <a:pt x="0" y="3429000"/>
                </a:lnTo>
                <a:lnTo>
                  <a:pt x="0" y="0"/>
                </a:lnTo>
                <a:close/>
              </a:path>
            </a:pathLst>
          </a:custGeom>
          <a:blipFill>
            <a:blip r:embed="rId19"/>
            <a:stretch>
              <a:fillRect/>
            </a:stretch>
          </a:blipFill>
        </p:spPr>
        <p:txBody>
          <a:bodyPr/>
          <a:lstStyle/>
          <a:p>
            <a:endParaRPr/>
          </a:p>
        </p:txBody>
      </p:sp>
      <p:sp>
        <p:nvSpPr>
          <p:cNvPr id="28" name="Freeform 28"/>
          <p:cNvSpPr/>
          <p:nvPr/>
        </p:nvSpPr>
        <p:spPr>
          <a:xfrm>
            <a:off x="1952625" y="70675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20"/>
            <a:stretch>
              <a:fillRect/>
            </a:stretch>
          </a:blipFill>
        </p:spPr>
        <p:txBody>
          <a:bodyPr/>
          <a:lstStyle/>
          <a:p>
            <a:endParaRPr/>
          </a:p>
        </p:txBody>
      </p:sp>
      <p:sp>
        <p:nvSpPr>
          <p:cNvPr id="29" name="TextBox 29"/>
          <p:cNvSpPr txBox="1"/>
          <p:nvPr/>
        </p:nvSpPr>
        <p:spPr>
          <a:xfrm>
            <a:off x="4386105" y="6871394"/>
            <a:ext cx="9152352" cy="2518031"/>
          </a:xfrm>
          <a:prstGeom prst="rect">
            <a:avLst/>
          </a:prstGeom>
        </p:spPr>
        <p:txBody>
          <a:bodyPr lIns="0" tIns="0" rIns="0" bIns="0" rtlCol="0" anchor="t">
            <a:spAutoFit/>
          </a:bodyPr>
          <a:lstStyle/>
          <a:p>
            <a:pPr algn="ctr">
              <a:lnSpc>
                <a:spcPts val="6666"/>
              </a:lnSpc>
            </a:pPr>
            <a:r>
              <a:rPr lang="en-US" sz="5554" b="1" i="1">
                <a:solidFill>
                  <a:srgbClr val="10C6C9"/>
                </a:solidFill>
                <a:latin typeface="Inter Bold Italics"/>
                <a:ea typeface="Inter Bold Italics"/>
                <a:cs typeface="Inter Bold Italics"/>
                <a:sym typeface="Inter Bold Italics"/>
              </a:rPr>
              <a:t>“Đoán đúng hay sai chưa </a:t>
            </a:r>
          </a:p>
          <a:p>
            <a:pPr algn="ctr">
              <a:lnSpc>
                <a:spcPts val="6666"/>
              </a:lnSpc>
            </a:pPr>
            <a:r>
              <a:rPr lang="en-US" sz="5554" b="1" i="1">
                <a:solidFill>
                  <a:srgbClr val="10C6C9"/>
                </a:solidFill>
                <a:latin typeface="Inter Bold Italics"/>
                <a:ea typeface="Inter Bold Italics"/>
                <a:cs typeface="Inter Bold Italics"/>
                <a:sym typeface="Inter Bold Italics"/>
              </a:rPr>
              <a:t>đáng giá bằng việc biết </a:t>
            </a:r>
          </a:p>
          <a:p>
            <a:pPr algn="ctr">
              <a:lnSpc>
                <a:spcPts val="6666"/>
              </a:lnSpc>
            </a:pPr>
            <a:r>
              <a:rPr lang="en-US" sz="5554" b="1" i="1">
                <a:solidFill>
                  <a:srgbClr val="10C6C9"/>
                </a:solidFill>
                <a:latin typeface="Inter Bold Italics"/>
                <a:ea typeface="Inter Bold Italics"/>
                <a:cs typeface="Inter Bold Italics"/>
                <a:sym typeface="Inter Bold Italics"/>
              </a:rPr>
              <a:t>cái giá của từng kiểu sai.”</a:t>
            </a:r>
          </a:p>
        </p:txBody>
      </p:sp>
      <p:sp>
        <p:nvSpPr>
          <p:cNvPr id="30" name="Freeform 30"/>
          <p:cNvSpPr/>
          <p:nvPr/>
        </p:nvSpPr>
        <p:spPr>
          <a:xfrm>
            <a:off x="15449550" y="8572500"/>
            <a:ext cx="885825" cy="857250"/>
          </a:xfrm>
          <a:custGeom>
            <a:avLst/>
            <a:gdLst/>
            <a:ahLst/>
            <a:cxnLst/>
            <a:rect l="l" t="t" r="r" b="b"/>
            <a:pathLst>
              <a:path w="885825" h="857250">
                <a:moveTo>
                  <a:pt x="0" y="0"/>
                </a:moveTo>
                <a:lnTo>
                  <a:pt x="885825" y="0"/>
                </a:lnTo>
                <a:lnTo>
                  <a:pt x="885825" y="857250"/>
                </a:lnTo>
                <a:lnTo>
                  <a:pt x="0" y="857250"/>
                </a:lnTo>
                <a:lnTo>
                  <a:pt x="0" y="0"/>
                </a:lnTo>
                <a:close/>
              </a:path>
            </a:pathLst>
          </a:custGeom>
          <a:blipFill>
            <a:blip r:embed="rId21"/>
            <a:stretch>
              <a:fillRect/>
            </a:stretch>
          </a:blipFill>
        </p:spPr>
        <p:txBody>
          <a:bodyPr/>
          <a:lstStyle/>
          <a:p>
            <a:endParaRPr/>
          </a:p>
        </p:txBody>
      </p:sp>
      <p:sp>
        <p:nvSpPr>
          <p:cNvPr id="31" name="Freeform 31"/>
          <p:cNvSpPr/>
          <p:nvPr/>
        </p:nvSpPr>
        <p:spPr>
          <a:xfrm>
            <a:off x="1524000" y="7924800"/>
            <a:ext cx="2838450" cy="1504950"/>
          </a:xfrm>
          <a:custGeom>
            <a:avLst/>
            <a:gdLst/>
            <a:ahLst/>
            <a:cxnLst/>
            <a:rect l="l" t="t" r="r" b="b"/>
            <a:pathLst>
              <a:path w="2838450" h="1504950">
                <a:moveTo>
                  <a:pt x="0" y="0"/>
                </a:moveTo>
                <a:lnTo>
                  <a:pt x="2838450" y="0"/>
                </a:lnTo>
                <a:lnTo>
                  <a:pt x="2838450" y="1504950"/>
                </a:lnTo>
                <a:lnTo>
                  <a:pt x="0" y="1504950"/>
                </a:lnTo>
                <a:lnTo>
                  <a:pt x="0" y="0"/>
                </a:lnTo>
                <a:close/>
              </a:path>
            </a:pathLst>
          </a:custGeom>
          <a:blipFill>
            <a:blip r:embed="rId22"/>
            <a:stretch>
              <a:fillRect/>
            </a:stretch>
          </a:blipFill>
        </p:spPr>
        <p:txBody>
          <a:bodyPr/>
          <a:lstStyle/>
          <a:p>
            <a:endParaRPr/>
          </a:p>
        </p:txBody>
      </p:sp>
      <p:sp>
        <p:nvSpPr>
          <p:cNvPr id="32" name="Freeform 32"/>
          <p:cNvSpPr/>
          <p:nvPr/>
        </p:nvSpPr>
        <p:spPr>
          <a:xfrm>
            <a:off x="14144625" y="7067550"/>
            <a:ext cx="2619375" cy="1724025"/>
          </a:xfrm>
          <a:custGeom>
            <a:avLst/>
            <a:gdLst/>
            <a:ahLst/>
            <a:cxnLst/>
            <a:rect l="l" t="t" r="r" b="b"/>
            <a:pathLst>
              <a:path w="2619375" h="1724025">
                <a:moveTo>
                  <a:pt x="0" y="0"/>
                </a:moveTo>
                <a:lnTo>
                  <a:pt x="2619375" y="0"/>
                </a:lnTo>
                <a:lnTo>
                  <a:pt x="2619375" y="1724025"/>
                </a:lnTo>
                <a:lnTo>
                  <a:pt x="0" y="1724025"/>
                </a:lnTo>
                <a:lnTo>
                  <a:pt x="0" y="0"/>
                </a:lnTo>
                <a:close/>
              </a:path>
            </a:pathLst>
          </a:custGeom>
          <a:blipFill>
            <a:blip r:embed="rId23"/>
            <a:stretch>
              <a:fillRect/>
            </a:stretch>
          </a:blipFill>
        </p:spPr>
        <p:txBody>
          <a:bodyPr/>
          <a:lstStyle/>
          <a:p>
            <a:endParaRPr/>
          </a:p>
        </p:txBody>
      </p:sp>
    </p:spTree>
    <p:extLst>
      <p:ext uri="{BB962C8B-B14F-4D97-AF65-F5344CB8AC3E}">
        <p14:creationId xmlns:p14="http://schemas.microsoft.com/office/powerpoint/2010/main" val="493890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1847850"/>
            <a:ext cx="11430000" cy="1424940"/>
          </a:xfrm>
          <a:prstGeom prst="rect">
            <a:avLst/>
          </a:prstGeom>
        </p:spPr>
        <p:txBody>
          <a:bodyPr lIns="0" tIns="0" rIns="0" bIns="0" rtlCol="0" anchor="t">
            <a:spAutoFit/>
          </a:bodyPr>
          <a:lstStyle/>
          <a:p>
            <a:pPr algn="l">
              <a:lnSpc>
                <a:spcPts val="11760"/>
              </a:lnSpc>
            </a:pPr>
            <a:r>
              <a:rPr lang="en-US" sz="8400" b="1">
                <a:solidFill>
                  <a:srgbClr val="FFFFFF"/>
                </a:solidFill>
                <a:latin typeface="Be Vietnam Ultra-Bold"/>
                <a:ea typeface="Be Vietnam Ultra-Bold"/>
                <a:cs typeface="Be Vietnam Ultra-Bold"/>
                <a:sym typeface="Be Vietnam Ultra-Bold"/>
              </a:rPr>
              <a:t>XIN CẢM ƠN</a:t>
            </a:r>
          </a:p>
        </p:txBody>
      </p:sp>
      <p:sp>
        <p:nvSpPr>
          <p:cNvPr id="3" name="TextBox 3"/>
          <p:cNvSpPr txBox="1"/>
          <p:nvPr/>
        </p:nvSpPr>
        <p:spPr>
          <a:xfrm>
            <a:off x="1047750" y="3352800"/>
            <a:ext cx="7620000" cy="687705"/>
          </a:xfrm>
          <a:prstGeom prst="rect">
            <a:avLst/>
          </a:prstGeom>
        </p:spPr>
        <p:txBody>
          <a:bodyPr lIns="0" tIns="0" rIns="0" bIns="0" rtlCol="0" anchor="t">
            <a:spAutoFit/>
          </a:bodyPr>
          <a:lstStyle/>
          <a:p>
            <a:pPr algn="l">
              <a:lnSpc>
                <a:spcPts val="5670"/>
              </a:lnSpc>
            </a:pPr>
            <a:r>
              <a:rPr lang="en-US" sz="4050">
                <a:solidFill>
                  <a:srgbClr val="64E8FF"/>
                </a:solidFill>
                <a:latin typeface="Be Vietnam"/>
                <a:ea typeface="Be Vietnam"/>
                <a:cs typeface="Be Vietnam"/>
                <a:sym typeface="Be Vietnam"/>
              </a:rPr>
              <a:t>Mời hỏi đáp.</a:t>
            </a:r>
          </a:p>
        </p:txBody>
      </p:sp>
      <p:sp>
        <p:nvSpPr>
          <p:cNvPr id="4" name="TextBox 4"/>
          <p:cNvSpPr txBox="1"/>
          <p:nvPr/>
        </p:nvSpPr>
        <p:spPr>
          <a:xfrm>
            <a:off x="1047750" y="6143625"/>
            <a:ext cx="12858750" cy="1285875"/>
          </a:xfrm>
          <a:prstGeom prst="rect">
            <a:avLst/>
          </a:prstGeom>
        </p:spPr>
        <p:txBody>
          <a:bodyPr lIns="0" tIns="0" rIns="0" bIns="0" rtlCol="0" anchor="t">
            <a:spAutoFit/>
          </a:bodyPr>
          <a:lstStyle/>
          <a:p>
            <a:pPr algn="l">
              <a:lnSpc>
                <a:spcPts val="2610"/>
              </a:lnSpc>
            </a:pPr>
            <a:r>
              <a:rPr lang="en-US" sz="1800">
                <a:solidFill>
                  <a:srgbClr val="FFFFFF"/>
                </a:solidFill>
                <a:latin typeface="IBM Plex Sans"/>
                <a:ea typeface="IBM Plex Sans"/>
                <a:cs typeface="IBM Plex Sans"/>
                <a:sym typeface="IBM Plex Sans"/>
              </a:rPr>
              <a:t>Tài liệu chính</a:t>
            </a:r>
          </a:p>
          <a:p>
            <a:pPr algn="l">
              <a:lnSpc>
                <a:spcPts val="2610"/>
              </a:lnSpc>
            </a:pPr>
            <a:r>
              <a:rPr lang="en-US" sz="1800">
                <a:solidFill>
                  <a:srgbClr val="FFFFFF"/>
                </a:solidFill>
                <a:latin typeface="IBM Plex Sans"/>
                <a:ea typeface="IBM Plex Sans"/>
                <a:cs typeface="IBM Plex Sans"/>
                <a:sym typeface="IBM Plex Sans"/>
              </a:rPr>
              <a:t>Qu et al. (2026), TabICLv2, ICML.</a:t>
            </a:r>
          </a:p>
          <a:p>
            <a:pPr algn="l">
              <a:lnSpc>
                <a:spcPts val="2610"/>
              </a:lnSpc>
            </a:pPr>
            <a:r>
              <a:rPr lang="en-US" sz="1800">
                <a:solidFill>
                  <a:srgbClr val="FFFFFF"/>
                </a:solidFill>
                <a:latin typeface="IBM Plex Sans"/>
                <a:ea typeface="IBM Plex Sans"/>
                <a:cs typeface="IBM Plex Sans"/>
                <a:sym typeface="IBM Plex Sans"/>
              </a:rPr>
              <a:t>UCI Machine Learning Repository, Predict Students’ Dropout and Academic Success.</a:t>
            </a:r>
          </a:p>
          <a:p>
            <a:pPr algn="l">
              <a:lnSpc>
                <a:spcPts val="2610"/>
              </a:lnSpc>
            </a:pPr>
            <a:r>
              <a:rPr lang="en-US" sz="1800">
                <a:solidFill>
                  <a:srgbClr val="FFFFFF"/>
                </a:solidFill>
                <a:latin typeface="IBM Plex Sans"/>
                <a:ea typeface="IBM Plex Sans"/>
                <a:cs typeface="IBM Plex Sans"/>
                <a:sym typeface="IBM Plex Sans"/>
              </a:rPr>
              <a:t>Goodfellow, Bengio &amp; Courville (2016), Deep Learning.</a:t>
            </a:r>
          </a:p>
        </p:txBody>
      </p:sp>
      <p:sp>
        <p:nvSpPr>
          <p:cNvPr id="5" name="TextBox 5"/>
          <p:cNvSpPr txBox="1"/>
          <p:nvPr/>
        </p:nvSpPr>
        <p:spPr>
          <a:xfrm>
            <a:off x="10572750" y="3771900"/>
            <a:ext cx="6191250" cy="350520"/>
          </a:xfrm>
          <a:prstGeom prst="rect">
            <a:avLst/>
          </a:prstGeom>
        </p:spPr>
        <p:txBody>
          <a:bodyPr lIns="0" tIns="0" rIns="0" bIns="0" rtlCol="0" anchor="t">
            <a:spAutoFit/>
          </a:bodyPr>
          <a:lstStyle/>
          <a:p>
            <a:pPr algn="r">
              <a:lnSpc>
                <a:spcPts val="2835"/>
              </a:lnSpc>
            </a:pPr>
            <a:r>
              <a:rPr lang="en-US" sz="2100">
                <a:solidFill>
                  <a:srgbClr val="FFFFFF"/>
                </a:solidFill>
                <a:latin typeface="IBM Plex Sans"/>
                <a:ea typeface="IBM Plex Sans"/>
                <a:cs typeface="IBM Plex Sans"/>
                <a:sym typeface="IBM Plex Sans"/>
              </a:rPr>
              <a:t>Cảm ơn các thầy cô và toàn thể Nhóm 6.</a:t>
            </a:r>
          </a:p>
        </p:txBody>
      </p:sp>
      <p:grpSp>
        <p:nvGrpSpPr>
          <p:cNvPr id="6" name="Group 6"/>
          <p:cNvGrpSpPr/>
          <p:nvPr/>
        </p:nvGrpSpPr>
        <p:grpSpPr>
          <a:xfrm>
            <a:off x="13906500" y="762000"/>
            <a:ext cx="3143250" cy="3143250"/>
            <a:chOff x="0" y="0"/>
            <a:chExt cx="4191000" cy="4191000"/>
          </a:xfrm>
        </p:grpSpPr>
        <p:sp>
          <p:nvSpPr>
            <p:cNvPr id="7" name="Freeform 7"/>
            <p:cNvSpPr/>
            <p:nvPr/>
          </p:nvSpPr>
          <p:spPr>
            <a:xfrm>
              <a:off x="0" y="0"/>
              <a:ext cx="4191000" cy="4191000"/>
            </a:xfrm>
            <a:custGeom>
              <a:avLst/>
              <a:gdLst/>
              <a:ahLst/>
              <a:cxnLst/>
              <a:rect l="l" t="t" r="r" b="b"/>
              <a:pathLst>
                <a:path w="4191000" h="4191000">
                  <a:moveTo>
                    <a:pt x="2095500" y="0"/>
                  </a:moveTo>
                  <a:cubicBezTo>
                    <a:pt x="3252813" y="0"/>
                    <a:pt x="4191000" y="938187"/>
                    <a:pt x="4191000" y="2095500"/>
                  </a:cubicBezTo>
                  <a:cubicBezTo>
                    <a:pt x="4191000" y="3252813"/>
                    <a:pt x="3252813" y="4191000"/>
                    <a:pt x="2095500" y="4191000"/>
                  </a:cubicBezTo>
                  <a:cubicBezTo>
                    <a:pt x="938187" y="4191000"/>
                    <a:pt x="0" y="3252813"/>
                    <a:pt x="0" y="2095500"/>
                  </a:cubicBezTo>
                  <a:cubicBezTo>
                    <a:pt x="0" y="938187"/>
                    <a:pt x="938187" y="0"/>
                    <a:pt x="2095500" y="0"/>
                  </a:cubicBezTo>
                  <a:close/>
                </a:path>
              </a:pathLst>
            </a:custGeom>
            <a:solidFill>
              <a:srgbClr val="7C5CFF">
                <a:alpha val="89804"/>
              </a:srgbClr>
            </a:solidFill>
            <a:ln cap="sq">
              <a:noFill/>
              <a:prstDash val="solid"/>
              <a:miter/>
            </a:ln>
          </p:spPr>
          <p:txBody>
            <a:bodyPr/>
            <a:lstStyle/>
            <a:p>
              <a:endParaRPr lang="en-US"/>
            </a:p>
          </p:txBody>
        </p:sp>
        <p:sp>
          <p:nvSpPr>
            <p:cNvPr id="8" name="TextBox 8"/>
            <p:cNvSpPr txBox="1"/>
            <p:nvPr/>
          </p:nvSpPr>
          <p:spPr>
            <a:xfrm>
              <a:off x="0" y="-38100"/>
              <a:ext cx="4191000" cy="4229100"/>
            </a:xfrm>
            <a:prstGeom prst="rect">
              <a:avLst/>
            </a:prstGeom>
          </p:spPr>
          <p:txBody>
            <a:bodyPr lIns="50800" tIns="50800" rIns="50800" bIns="50800" rtlCol="0" anchor="ctr"/>
            <a:lstStyle/>
            <a:p>
              <a:pPr algn="l">
                <a:lnSpc>
                  <a:spcPts val="1679"/>
                </a:lnSpc>
              </a:pPr>
              <a:endParaRPr/>
            </a:p>
          </p:txBody>
        </p:sp>
      </p:grpSp>
    </p:spTree>
    <p:extLst>
      <p:ext uri="{BB962C8B-B14F-4D97-AF65-F5344CB8AC3E}">
        <p14:creationId xmlns:p14="http://schemas.microsoft.com/office/powerpoint/2010/main" val="996435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96"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70877C-6C84-4C80-A9BC-09608BB52BE3}">
  <we:reference id="wa200010001" version="1.0.0.1" store="en-US" storeType="OMEX"/>
  <we:alternateReferences>
    <we:reference id="WA200010001" version="1.0.0.1" store="" storeType="OMEX"/>
  </we:alternateReferences>
  <we:properties>
    <we:property name="claude.fileId" value="&quot;a1646aad-db0d-47b6-8d5f-63055162cd6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TotalTime>
  <Words>4587</Words>
  <Application>Microsoft Office PowerPoint</Application>
  <PresentationFormat>Custom</PresentationFormat>
  <Paragraphs>234</Paragraphs>
  <Slides>16</Slides>
  <Notes>16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16</vt:i4>
      </vt:variant>
    </vt:vector>
  </HeadingPairs>
  <TitlesOfParts>
    <vt:vector size="33" baseType="lpstr">
      <vt:lpstr>Be Vietnam</vt:lpstr>
      <vt:lpstr>IBM Plex Sans Bold</vt:lpstr>
      <vt:lpstr>IBM Plex Mono</vt:lpstr>
      <vt:lpstr>Calibri</vt:lpstr>
      <vt:lpstr>Arial</vt:lpstr>
      <vt:lpstr>IBM Plex Sans</vt:lpstr>
      <vt:lpstr>Aptos</vt:lpstr>
      <vt:lpstr>Be Vietnam Ultra-Bold</vt:lpstr>
      <vt:lpstr>Inter Bold</vt:lpstr>
      <vt:lpstr>Roboto</vt:lpstr>
      <vt:lpstr>IBM Plex Mono Bold</vt:lpstr>
      <vt:lpstr>Roboto Bold</vt:lpstr>
      <vt:lpstr>Inter Semi-Bold</vt:lpstr>
      <vt:lpstr>Inter Bold Italics</vt:lpstr>
      <vt:lpstr>Arimo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Thiết kế file trình bày</dc:title>
  <dc:creator>nhanle</dc:creator>
  <cp:lastModifiedBy>Nhan Le Dinh</cp:lastModifiedBy>
  <cp:revision>2</cp:revision>
  <dcterms:created xsi:type="dcterms:W3CDTF">2006-08-16T00:00:00Z</dcterms:created>
  <dcterms:modified xsi:type="dcterms:W3CDTF">2026-10-18T03:16:02Z</dcterms:modified>
  <dc:identifier>DAHYUqvAPFY</dc:identifier>
</cp:coreProperties>
</file>